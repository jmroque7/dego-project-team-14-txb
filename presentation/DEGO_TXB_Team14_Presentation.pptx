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sldIdLst>
    <p:sldId id="256" r:id="rId5"/>
    <p:sldId id="276" r:id="rId6"/>
    <p:sldId id="258" r:id="rId7"/>
    <p:sldId id="259" r:id="rId8"/>
    <p:sldId id="260" r:id="rId9"/>
    <p:sldId id="271" r:id="rId10"/>
    <p:sldId id="262" r:id="rId11"/>
    <p:sldId id="273" r:id="rId12"/>
    <p:sldId id="275" r:id="rId13"/>
    <p:sldId id="274" r:id="rId14"/>
    <p:sldId id="266" r:id="rId15"/>
    <p:sldId id="267" r:id="rId16"/>
    <p:sldId id="268" r:id="rId17"/>
    <p:sldId id="269"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A274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2A72ED-1D70-46E3-8239-D5C682B27D12}" v="333" dt="2026-03-09T16:20:14.715"/>
    <p1510:client id="{632B99F6-8139-4E78-A46C-8AAA456AAA2F}" v="231" dt="2026-03-09T19:28:42.996"/>
    <p1510:client id="{71B21FB4-B08E-6044-95C9-D72E00A59C0C}" v="740" dt="2026-03-09T21:28:29.474"/>
    <p1510:client id="{9BE6DFC4-E407-93D3-DFBA-F2EC7C2185FB}" v="10" dt="2026-03-09T10:17:48.882"/>
    <p1510:client id="{B1DCF05D-2834-EC40-80EA-A1FBE9517ABE}" v="126" dt="2026-03-09T10:42:13.3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7"/>
    <p:restoredTop sz="94660"/>
  </p:normalViewPr>
  <p:slideViewPr>
    <p:cSldViewPr snapToGrid="0">
      <p:cViewPr varScale="1">
        <p:scale>
          <a:sx n="158" d="100"/>
          <a:sy n="158" d="100"/>
        </p:scale>
        <p:origin x="34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c:style val="2"/>
  <c:chart>
    <c:title>
      <c:tx>
        <c:rich>
          <a:bodyPr/>
          <a:lstStyle/>
          <a:p>
            <a:pPr>
              <a:defRPr sz="1000" b="0" i="0" u="none" strike="noStrike">
                <a:solidFill>
                  <a:srgbClr val="1A2744"/>
                </a:solidFill>
                <a:latin typeface="Arial"/>
              </a:defRPr>
            </a:pPr>
            <a:r>
              <a:rPr lang="en-GB" sz="1000" b="0" i="0" u="none" strike="noStrike">
                <a:solidFill>
                  <a:srgbClr val="1A2744"/>
                </a:solidFill>
                <a:latin typeface="Arial"/>
              </a:rPr>
              <a:t>Approval Rate by Gender (%)  —  Four-Fifths Rule</a:t>
            </a:r>
          </a:p>
        </c:rich>
      </c:tx>
      <c:overlay val="0"/>
    </c:title>
    <c:autoTitleDeleted val="0"/>
    <c:plotArea>
      <c:layout/>
      <c:barChart>
        <c:barDir val="col"/>
        <c:grouping val="clustered"/>
        <c:varyColors val="0"/>
        <c:ser>
          <c:idx val="0"/>
          <c:order val="0"/>
          <c:tx>
            <c:strRef>
              <c:f>Sheet1!$B$1</c:f>
              <c:strCache>
                <c:ptCount val="1"/>
                <c:pt idx="0">
                  <c:v>Approval Rate %</c:v>
                </c:pt>
              </c:strCache>
            </c:strRef>
          </c:tx>
          <c:spPr>
            <a:solidFill>
              <a:srgbClr val="C0392B"/>
            </a:solidFill>
            <a:effectLst/>
          </c:spPr>
          <c:invertIfNegative val="0"/>
          <c:dPt>
            <c:idx val="0"/>
            <c:invertIfNegative val="0"/>
            <c:bubble3D val="0"/>
            <c:extLst>
              <c:ext xmlns:c16="http://schemas.microsoft.com/office/drawing/2014/chart" uri="{C3380CC4-5D6E-409C-BE32-E72D297353CC}">
                <c16:uniqueId val="{00000001-1DD2-C44A-B4BE-890DE4AE111E}"/>
              </c:ext>
            </c:extLst>
          </c:dPt>
          <c:dPt>
            <c:idx val="1"/>
            <c:invertIfNegative val="0"/>
            <c:bubble3D val="0"/>
            <c:spPr>
              <a:solidFill>
                <a:srgbClr val="243660"/>
              </a:solidFill>
              <a:effectLst/>
            </c:spPr>
            <c:extLst>
              <c:ext xmlns:c16="http://schemas.microsoft.com/office/drawing/2014/chart" uri="{C3380CC4-5D6E-409C-BE32-E72D297353CC}">
                <c16:uniqueId val="{00000003-1DD2-C44A-B4BE-890DE4AE111E}"/>
              </c:ext>
            </c:extLst>
          </c:dPt>
          <c:dLbls>
            <c:numFmt formatCode="#,##0" sourceLinked="0"/>
            <c:spPr>
              <a:noFill/>
              <a:ln>
                <a:noFill/>
              </a:ln>
              <a:effectLst/>
            </c:spPr>
            <c:txPr>
              <a:bodyPr/>
              <a:lstStyle/>
              <a:p>
                <a:pPr>
                  <a:defRPr sz="1400" b="0" i="0" u="none" strike="noStrike">
                    <a:solidFill>
                      <a:srgbClr val="1A2744"/>
                    </a:solidFill>
                    <a:latin typeface="Arial"/>
                  </a:defRPr>
                </a:pPr>
                <a:endParaRPr lang="en-P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Female
(n=251)</c:v>
                </c:pt>
                <c:pt idx="1">
                  <c:v>Male
(n=248)</c:v>
                </c:pt>
              </c:strCache>
            </c:strRef>
          </c:cat>
          <c:val>
            <c:numRef>
              <c:f>Sheet1!$B$2:$B$3</c:f>
              <c:numCache>
                <c:formatCode>General</c:formatCode>
                <c:ptCount val="2"/>
                <c:pt idx="0">
                  <c:v>50.6</c:v>
                </c:pt>
                <c:pt idx="1">
                  <c:v>65.7</c:v>
                </c:pt>
              </c:numCache>
            </c:numRef>
          </c:val>
          <c:extLst>
            <c:ext xmlns:c16="http://schemas.microsoft.com/office/drawing/2014/chart" uri="{C3380CC4-5D6E-409C-BE32-E72D297353CC}">
              <c16:uniqueId val="{00000004-1DD2-C44A-B4BE-890DE4AE111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5568"/>
                </a:solidFill>
                <a:latin typeface="Arial"/>
              </a:defRPr>
            </a:pPr>
            <a:endParaRPr lang="en-US"/>
          </a:p>
        </c:txPr>
        <c:crossAx val="2094734552"/>
        <c:crosses val="autoZero"/>
        <c:auto val="1"/>
        <c:lblAlgn val="ctr"/>
        <c:lblOffset val="100"/>
        <c:noMultiLvlLbl val="1"/>
      </c:catAx>
      <c:valAx>
        <c:axId val="2094734552"/>
        <c:scaling>
          <c:orientation val="minMax"/>
          <c:max val="75"/>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568"/>
                </a:solidFill>
                <a:latin typeface="Arial"/>
              </a:defRPr>
            </a:pPr>
            <a:endParaRPr lang="en-US"/>
          </a:p>
        </c:txPr>
        <c:crossAx val="2094734554"/>
        <c:crosses val="autoZero"/>
        <c:crossBetween val="between"/>
        <c:majorUnit val="15"/>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c:style val="2"/>
  <c:chart>
    <c:title>
      <c:tx>
        <c:rich>
          <a:bodyPr/>
          <a:lstStyle/>
          <a:p>
            <a:pPr>
              <a:defRPr sz="1000" b="0" i="0" u="none" strike="noStrike">
                <a:solidFill>
                  <a:srgbClr val="1A2744"/>
                </a:solidFill>
                <a:latin typeface="Arial"/>
              </a:defRPr>
            </a:pPr>
            <a:r>
              <a:rPr lang="en-GB" sz="1000" b="0" i="0" u="none" strike="noStrike">
                <a:solidFill>
                  <a:srgbClr val="1A2744"/>
                </a:solidFill>
                <a:latin typeface="Arial"/>
              </a:rPr>
              <a:t>Approval Rate by Age Group (%)</a:t>
            </a:r>
          </a:p>
        </c:rich>
      </c:tx>
      <c:overlay val="0"/>
    </c:title>
    <c:autoTitleDeleted val="0"/>
    <c:plotArea>
      <c:layout/>
      <c:barChart>
        <c:barDir val="col"/>
        <c:grouping val="clustered"/>
        <c:varyColors val="0"/>
        <c:ser>
          <c:idx val="0"/>
          <c:order val="0"/>
          <c:tx>
            <c:strRef>
              <c:f>Sheet1!$B$1</c:f>
              <c:strCache>
                <c:ptCount val="1"/>
                <c:pt idx="0">
                  <c:v>Approval Rate %</c:v>
                </c:pt>
              </c:strCache>
            </c:strRef>
          </c:tx>
          <c:spPr>
            <a:solidFill>
              <a:srgbClr val="C0392B"/>
            </a:solidFill>
            <a:effectLst/>
          </c:spPr>
          <c:invertIfNegative val="0"/>
          <c:dPt>
            <c:idx val="0"/>
            <c:invertIfNegative val="0"/>
            <c:bubble3D val="0"/>
            <c:extLst>
              <c:ext xmlns:c16="http://schemas.microsoft.com/office/drawing/2014/chart" uri="{C3380CC4-5D6E-409C-BE32-E72D297353CC}">
                <c16:uniqueId val="{00000001-B0F2-AA42-981D-B6D2D2819534}"/>
              </c:ext>
            </c:extLst>
          </c:dPt>
          <c:dPt>
            <c:idx val="1"/>
            <c:invertIfNegative val="0"/>
            <c:bubble3D val="0"/>
            <c:extLst>
              <c:ext xmlns:c16="http://schemas.microsoft.com/office/drawing/2014/chart" uri="{C3380CC4-5D6E-409C-BE32-E72D297353CC}">
                <c16:uniqueId val="{00000003-B0F2-AA42-981D-B6D2D2819534}"/>
              </c:ext>
            </c:extLst>
          </c:dPt>
          <c:dPt>
            <c:idx val="2"/>
            <c:invertIfNegative val="0"/>
            <c:bubble3D val="0"/>
            <c:spPr>
              <a:solidFill>
                <a:schemeClr val="accent6"/>
              </a:solidFill>
              <a:effectLst/>
            </c:spPr>
            <c:extLst>
              <c:ext xmlns:c16="http://schemas.microsoft.com/office/drawing/2014/chart" uri="{C3380CC4-5D6E-409C-BE32-E72D297353CC}">
                <c16:uniqueId val="{00000005-B0F2-AA42-981D-B6D2D2819534}"/>
              </c:ext>
            </c:extLst>
          </c:dPt>
          <c:dPt>
            <c:idx val="3"/>
            <c:invertIfNegative val="0"/>
            <c:bubble3D val="0"/>
            <c:spPr>
              <a:solidFill>
                <a:schemeClr val="accent6"/>
              </a:solidFill>
              <a:effectLst/>
            </c:spPr>
            <c:extLst>
              <c:ext xmlns:c16="http://schemas.microsoft.com/office/drawing/2014/chart" uri="{C3380CC4-5D6E-409C-BE32-E72D297353CC}">
                <c16:uniqueId val="{00000007-B0F2-AA42-981D-B6D2D2819534}"/>
              </c:ext>
            </c:extLst>
          </c:dPt>
          <c:dPt>
            <c:idx val="4"/>
            <c:invertIfNegative val="0"/>
            <c:bubble3D val="0"/>
            <c:spPr>
              <a:solidFill>
                <a:schemeClr val="accent6"/>
              </a:solidFill>
              <a:effectLst/>
            </c:spPr>
            <c:extLst>
              <c:ext xmlns:c16="http://schemas.microsoft.com/office/drawing/2014/chart" uri="{C3380CC4-5D6E-409C-BE32-E72D297353CC}">
                <c16:uniqueId val="{00000009-B0F2-AA42-981D-B6D2D2819534}"/>
              </c:ext>
            </c:extLst>
          </c:dPt>
          <c:dPt>
            <c:idx val="5"/>
            <c:invertIfNegative val="0"/>
            <c:bubble3D val="0"/>
            <c:spPr>
              <a:solidFill>
                <a:srgbClr val="8492A6"/>
              </a:solidFill>
              <a:effectLst/>
            </c:spPr>
            <c:extLst>
              <c:ext xmlns:c16="http://schemas.microsoft.com/office/drawing/2014/chart" uri="{C3380CC4-5D6E-409C-BE32-E72D297353CC}">
                <c16:uniqueId val="{0000000B-B0F2-AA42-981D-B6D2D2819534}"/>
              </c:ext>
            </c:extLst>
          </c:dPt>
          <c:dLbls>
            <c:numFmt formatCode="#,##0" sourceLinked="0"/>
            <c:spPr>
              <a:noFill/>
              <a:ln>
                <a:noFill/>
              </a:ln>
              <a:effectLst/>
            </c:spPr>
            <c:txPr>
              <a:bodyPr/>
              <a:lstStyle/>
              <a:p>
                <a:pPr>
                  <a:defRPr sz="1200" b="0" i="0" u="none" strike="noStrike">
                    <a:solidFill>
                      <a:srgbClr val="1A2744"/>
                    </a:solidFill>
                    <a:latin typeface="Arial"/>
                  </a:defRPr>
                </a:pPr>
                <a:endParaRPr lang="en-P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18–25</c:v>
                </c:pt>
                <c:pt idx="1">
                  <c:v>26–35</c:v>
                </c:pt>
                <c:pt idx="2">
                  <c:v>36–45</c:v>
                </c:pt>
                <c:pt idx="3">
                  <c:v>46–55</c:v>
                </c:pt>
                <c:pt idx="4">
                  <c:v>56–65</c:v>
                </c:pt>
                <c:pt idx="5">
                  <c:v>65+</c:v>
                </c:pt>
              </c:strCache>
            </c:strRef>
          </c:cat>
          <c:val>
            <c:numRef>
              <c:f>Sheet1!$B$2:$B$7</c:f>
              <c:numCache>
                <c:formatCode>General</c:formatCode>
                <c:ptCount val="6"/>
                <c:pt idx="0">
                  <c:v>45.83</c:v>
                </c:pt>
                <c:pt idx="1">
                  <c:v>48.15</c:v>
                </c:pt>
                <c:pt idx="2">
                  <c:v>65.849999999999994</c:v>
                </c:pt>
                <c:pt idx="3">
                  <c:v>63.53</c:v>
                </c:pt>
                <c:pt idx="4">
                  <c:v>62.5</c:v>
                </c:pt>
                <c:pt idx="5">
                  <c:v>50</c:v>
                </c:pt>
              </c:numCache>
            </c:numRef>
          </c:val>
          <c:extLst>
            <c:ext xmlns:c16="http://schemas.microsoft.com/office/drawing/2014/chart" uri="{C3380CC4-5D6E-409C-BE32-E72D297353CC}">
              <c16:uniqueId val="{0000000C-B0F2-AA42-981D-B6D2D281953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5568"/>
                </a:solidFill>
                <a:latin typeface="Arial"/>
              </a:defRPr>
            </a:pPr>
            <a:endParaRPr lang="en-US"/>
          </a:p>
        </c:txPr>
        <c:crossAx val="2094734552"/>
        <c:crosses val="autoZero"/>
        <c:auto val="1"/>
        <c:lblAlgn val="ctr"/>
        <c:lblOffset val="100"/>
        <c:noMultiLvlLbl val="1"/>
      </c:catAx>
      <c:valAx>
        <c:axId val="2094734552"/>
        <c:scaling>
          <c:orientation val="minMax"/>
          <c:max val="80"/>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4985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T" sz="1200" kern="1200">
                <a:solidFill>
                  <a:schemeClr val="tx1"/>
                </a:solidFill>
                <a:effectLst/>
                <a:latin typeface="+mn-lt"/>
                <a:ea typeface="+mn-ea"/>
                <a:cs typeface="+mn-cs"/>
              </a:rPr>
              <a:t>Good morning. We are Team 14,  TXB. This is our governance audit of NovaCred — a fintech company under regulatory scrutiny for potential discrimination in its credit scoring system</a:t>
            </a:r>
            <a:r>
              <a:rPr lang="en-PT">
                <a:effectLst/>
              </a:rPr>
              <a:t> </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T" sz="1200" kern="1200">
                <a:solidFill>
                  <a:schemeClr val="tx1"/>
                </a:solidFill>
                <a:effectLst/>
                <a:latin typeface="+mn-lt"/>
                <a:ea typeface="+mn-ea"/>
                <a:cs typeface="+mn-cs"/>
              </a:rPr>
              <a:t>Our team had four roles: I worked as Product Lead, João focused on data quality, Maddalena led the bias and fairness analysis, and Lucas covered governance and compliance.</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T" sz="1200" kern="1200">
                <a:solidFill>
                  <a:schemeClr val="tx1"/>
                </a:solidFill>
                <a:effectLst/>
                <a:latin typeface="+mn-lt"/>
                <a:ea typeface="+mn-ea"/>
                <a:cs typeface="+mn-cs"/>
              </a:rPr>
              <a:t>Since NovaCred is under regulatory scrutiny, our task was to audit the data, detect bias, and identify compliance gaps.</a:t>
            </a:r>
          </a:p>
          <a:p>
            <a:r>
              <a:rPr lang="en-PT" sz="1200" kern="1200">
                <a:solidFill>
                  <a:schemeClr val="tx1"/>
                </a:solidFill>
                <a:effectLst/>
                <a:latin typeface="+mn-lt"/>
                <a:ea typeface="+mn-ea"/>
                <a:cs typeface="+mn-cs"/>
              </a:rPr>
              <a:t>I will hand over to João, who begins with the data quality findings.</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conduct this analysis, we assessed the dataset across four data quality dimensions: </a:t>
            </a:r>
            <a:r>
              <a:rPr lang="en-US" b="1"/>
              <a:t>completeness, consistency, validity, and plausibility</a:t>
            </a:r>
            <a:r>
              <a:rPr lang="en-US"/>
              <a:t>.</a:t>
            </a:r>
            <a:br>
              <a:rPr lang="en-US"/>
            </a:br>
            <a:r>
              <a:rPr lang="en-US"/>
              <a:t>We addressed missing data and merged the redundant </a:t>
            </a:r>
            <a:r>
              <a:rPr lang="en-US" i="1" err="1"/>
              <a:t>annual_salary</a:t>
            </a:r>
            <a:r>
              <a:rPr lang="en-US"/>
              <a:t> field into </a:t>
            </a:r>
            <a:r>
              <a:rPr lang="en-US" i="1" err="1"/>
              <a:t>annual_income</a:t>
            </a:r>
            <a:r>
              <a:rPr lang="en-US"/>
              <a:t>. Duplicate application IDs were resolved by keeping the most complete record. We also standardized gender and date formats, flagged invalid values, and confirmed there were </a:t>
            </a:r>
            <a:r>
              <a:rPr lang="en-US" b="1"/>
              <a:t>no cross-field inconsistencies</a:t>
            </a:r>
            <a:r>
              <a:rPr lang="en-US"/>
              <a: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“Three variables had extremely high missingness—above 90%—and were dropped after consolidating useful information into </a:t>
            </a:r>
            <a:r>
              <a:rPr lang="en-US" b="1" err="1"/>
              <a:t>annual_income</a:t>
            </a:r>
            <a:r>
              <a:rPr lang="en-US"/>
              <a:t>. However, </a:t>
            </a:r>
            <a:r>
              <a:rPr lang="en-US" b="1" err="1"/>
              <a:t>processing_timestamp</a:t>
            </a:r>
            <a:r>
              <a:rPr lang="en-US"/>
              <a:t> was retained because it is critical for auditability and GDPR compliance. Over half of rejected applications lacked a documented reason. Finally, IQR analysis showed only a few outliers, mainly in savings balance.”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 this slide, we </a:t>
            </a:r>
            <a:r>
              <a:rPr lang="en-US" err="1"/>
              <a:t>summarise</a:t>
            </a:r>
            <a:r>
              <a:rPr lang="en-US"/>
              <a:t> the </a:t>
            </a:r>
            <a:r>
              <a:rPr lang="en-US" b="1"/>
              <a:t>eight data quality issues</a:t>
            </a:r>
            <a:r>
              <a:rPr lang="en-US"/>
              <a:t> identified and the remediation actions applied.</a:t>
            </a:r>
          </a:p>
          <a:p>
            <a:r>
              <a:rPr lang="en-US"/>
              <a:t>The most severe problems relate to </a:t>
            </a:r>
            <a:r>
              <a:rPr lang="en-US" b="1"/>
              <a:t>completeness and</a:t>
            </a:r>
            <a:r>
              <a:rPr lang="en-US"/>
              <a:t> D</a:t>
            </a:r>
            <a:r>
              <a:rPr lang="en-US" b="1"/>
              <a:t>uplicate application IDs</a:t>
            </a:r>
            <a:r>
              <a:rPr lang="en-US"/>
              <a:t> were resolved by keeping the most complete record per ID.</a:t>
            </a:r>
          </a:p>
          <a:p>
            <a:r>
              <a:rPr lang="en-US"/>
              <a:t>Consistency issues included </a:t>
            </a:r>
            <a:r>
              <a:rPr lang="en-US" b="1"/>
              <a:t>five different gender encodings</a:t>
            </a:r>
            <a:r>
              <a:rPr lang="en-US"/>
              <a:t> and </a:t>
            </a:r>
            <a:r>
              <a:rPr lang="en-US" b="1"/>
              <a:t>multiple date-of-birth formats</a:t>
            </a:r>
            <a:r>
              <a:rPr lang="en-US"/>
              <a:t>, which were standardized.</a:t>
            </a:r>
          </a:p>
          <a:p>
            <a:r>
              <a:rPr lang="en-US"/>
              <a:t>Finally, small validity issues—such as invalid emails and negative financial values—were flagged and set to missing, while </a:t>
            </a:r>
            <a:r>
              <a:rPr lang="en-US" b="1"/>
              <a:t>governance-sensitive fields were intentionally not imputed</a:t>
            </a:r>
            <a:r>
              <a:rPr lang="en-US"/>
              <a: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a:t>
            </a:r>
            <a:r>
              <a:rPr lang="en-GB" dirty="0" err="1"/>
              <a:t>analyzed</a:t>
            </a:r>
            <a:r>
              <a:rPr lang="en-GB" dirty="0"/>
              <a:t> gender disparities in loan approvals. The results show a gap of </a:t>
            </a:r>
            <a:r>
              <a:rPr lang="en-GB" b="1" dirty="0"/>
              <a:t>15 percentage points</a:t>
            </a:r>
            <a:r>
              <a:rPr lang="en-GB" dirty="0"/>
              <a:t> between women and men. Through the </a:t>
            </a:r>
            <a:r>
              <a:rPr lang="en-GB" b="1" dirty="0"/>
              <a:t>disparate impact ratio of 0.77</a:t>
            </a:r>
            <a:r>
              <a:rPr lang="en-GB" dirty="0"/>
              <a:t>, we assess the presence of potential discrimination</a:t>
            </a:r>
            <a:r>
              <a:rPr lang="en-GB"/>
              <a:t>, which was later confirmed by the chi-square test</a:t>
            </a:r>
            <a:endParaRPr lang="en-GB" dirty="0"/>
          </a:p>
          <a:p>
            <a:br>
              <a:rPr lang="en-GB" dirty="0"/>
            </a:br>
            <a:r>
              <a:rPr lang="en-GB" dirty="0"/>
              <a:t>To assess whether this represents potential discrimination, we applied the </a:t>
            </a:r>
            <a:r>
              <a:rPr lang="en-US" sz="1200" b="1" kern="1200" dirty="0">
                <a:solidFill>
                  <a:schemeClr val="tx1"/>
                </a:solidFill>
                <a:effectLst/>
                <a:latin typeface="+mn-lt"/>
                <a:ea typeface="+mn-ea"/>
                <a:cs typeface="+mn-cs"/>
              </a:rPr>
              <a:t>Disparate Impact (DI) ratio, that showed a value of </a:t>
            </a:r>
            <a:r>
              <a:rPr lang="en-GB" b="1" dirty="0"/>
              <a:t>0.77</a:t>
            </a:r>
            <a:r>
              <a:rPr lang="en-GB" dirty="0"/>
              <a:t>, since it falls below the </a:t>
            </a:r>
            <a:r>
              <a:rPr lang="en-GB" b="1" dirty="0"/>
              <a:t>0.80 threshold</a:t>
            </a:r>
            <a:r>
              <a:rPr lang="en-GB" dirty="0"/>
              <a:t>, this </a:t>
            </a:r>
            <a:r>
              <a:rPr lang="en-GB" dirty="0" err="1"/>
              <a:t>indicat</a:t>
            </a:r>
            <a:r>
              <a:rPr lang="en-GB" dirty="0"/>
              <a:t> a potential gender </a:t>
            </a:r>
            <a:r>
              <a:rPr lang="en-GB" dirty="0" err="1"/>
              <a:t>bais</a:t>
            </a:r>
            <a:r>
              <a:rPr lang="en-GB" dirty="0"/>
              <a:t>. To test the statistical significance we used a </a:t>
            </a:r>
            <a:r>
              <a:rPr lang="en-GB" b="1" dirty="0"/>
              <a:t>chi-square test</a:t>
            </a:r>
            <a:r>
              <a:rPr lang="en-GB" dirty="0"/>
              <a:t>, the results indicated a statistically robust gender disparity in approval outcomes.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a:t>
            </a:r>
            <a:r>
              <a:rPr lang="en-GB" dirty="0" err="1"/>
              <a:t>analyzed</a:t>
            </a:r>
            <a:r>
              <a:rPr lang="en-GB" dirty="0"/>
              <a:t> approval patterns across </a:t>
            </a:r>
            <a:r>
              <a:rPr lang="en-GB" b="1" dirty="0"/>
              <a:t>age groups</a:t>
            </a:r>
            <a:r>
              <a:rPr lang="en-GB" dirty="0"/>
              <a:t>.</a:t>
            </a:r>
            <a:br>
              <a:rPr lang="en-GB" dirty="0"/>
            </a:br>
            <a:r>
              <a:rPr lang="en-GB" dirty="0"/>
              <a:t>The results show that </a:t>
            </a:r>
            <a:r>
              <a:rPr lang="en-GB" b="1" dirty="0"/>
              <a:t>younger applicants those from 12-35 have the lowest approval rates</a:t>
            </a:r>
            <a:r>
              <a:rPr lang="en-GB" dirty="0"/>
              <a:t>, around </a:t>
            </a:r>
            <a:r>
              <a:rPr lang="en-GB" b="1" dirty="0"/>
              <a:t>46% </a:t>
            </a:r>
            <a:r>
              <a:rPr lang="en-GB" dirty="0"/>
              <a:t>and </a:t>
            </a:r>
            <a:r>
              <a:rPr lang="en-GB" b="1" dirty="0"/>
              <a:t>48%</a:t>
            </a:r>
            <a:r>
              <a:rPr lang="en-GB" dirty="0"/>
              <a:t>.</a:t>
            </a:r>
          </a:p>
          <a:p>
            <a:r>
              <a:rPr lang="en-GB" dirty="0"/>
              <a:t>In contrast, applicants between </a:t>
            </a:r>
            <a:r>
              <a:rPr lang="en-GB" b="1" dirty="0"/>
              <a:t>36 and 65 years old</a:t>
            </a:r>
            <a:r>
              <a:rPr lang="en-GB" dirty="0"/>
              <a:t> have approval rates above </a:t>
            </a:r>
            <a:r>
              <a:rPr lang="en-GB" b="1" dirty="0"/>
              <a:t>60%</a:t>
            </a:r>
            <a:r>
              <a:rPr lang="en-GB" dirty="0"/>
              <a:t>.</a:t>
            </a:r>
          </a:p>
          <a:p>
            <a:r>
              <a:rPr lang="en-GB" dirty="0"/>
              <a:t>The difference between the young and middle-age groups is </a:t>
            </a:r>
            <a:r>
              <a:rPr lang="en-GB" b="1" dirty="0"/>
              <a:t>statistically significant</a:t>
            </a:r>
            <a:r>
              <a:rPr lang="en-GB" dirty="0"/>
              <a:t>, suggesting that age plays an important role in the approval process.”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also examined the intersection between gender and age. The results show that among younger applicants, the gender gap is about 20 percentage points. This difference is statistically significant, as indicated by the p-value. In the 36–65 age group, the gap decreases to 10.6 percentage points and is no longer statistically significant. Overall, this shows that aggregate metrics can hide disparities, which makes subgroup analysis essential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Finally, Two potential proxies were </a:t>
            </a:r>
            <a:r>
              <a:rPr lang="en-GB" dirty="0" err="1"/>
              <a:t>tested.The</a:t>
            </a:r>
            <a:r>
              <a:rPr lang="en-GB" dirty="0"/>
              <a:t> first is zip code combined with loan approval. This suggests that geographic information may act as a proxy for </a:t>
            </a:r>
            <a:r>
              <a:rPr lang="en-GB" dirty="0" err="1"/>
              <a:t>gender.The</a:t>
            </a:r>
            <a:r>
              <a:rPr lang="en-GB" dirty="0"/>
              <a:t> second test examines spending </a:t>
            </a:r>
            <a:r>
              <a:rPr lang="en-GB" dirty="0" err="1"/>
              <a:t>behavior</a:t>
            </a:r>
            <a:r>
              <a:rPr lang="en-GB" dirty="0"/>
              <a:t> and income, which does not show any significant association with </a:t>
            </a:r>
            <a:r>
              <a:rPr lang="en-GB" dirty="0" err="1"/>
              <a:t>gender.Therefore</a:t>
            </a:r>
            <a:r>
              <a:rPr lang="en-GB" dirty="0"/>
              <a:t>, the main risk comes from zip code, which should either be removed or transformed before using the model to avoid unintended bias.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lets jump into the </a:t>
            </a:r>
            <a:r>
              <a:rPr lang="en-US" err="1"/>
              <a:t>NovaCred</a:t>
            </a:r>
            <a:r>
              <a:rPr lang="en-US"/>
              <a:t> credit application dataset from a governance perspective. The dataset contains several types of personal data, including direct identifiers like names, emails, and Social Security Numbers, as well as quasi-identifiers such as date of birth and ZIP codes.</a:t>
            </a:r>
          </a:p>
          <a:p>
            <a:r>
              <a:rPr lang="en-US"/>
              <a:t>These elements create GDPR risks related to data minimization, confidentiality, and automated decision-making under Article 22. Since the system is used for credit approval decisions, it also qualifies as a High-Risk AI system under the EU AI Act.</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the second step, I evaluated the governance and regulatory compliance of the system.</a:t>
            </a:r>
            <a:br>
              <a:rPr lang="en-US"/>
            </a:br>
            <a:r>
              <a:rPr lang="en-US"/>
              <a:t>Several important gaps emerged. For example, personal identifiers are stored in plaintext without encryption, there is no clear data retention policy, and automated loan rejections occur without evidence of human oversight.</a:t>
            </a:r>
          </a:p>
          <a:p>
            <a:r>
              <a:rPr lang="en-US"/>
              <a:t>Additionally, the system lacks transparency mechanisms, such as explanations or appeal processes for applicants, which are required under GDPR Article 22 and the EU AI Act.</a:t>
            </a:r>
          </a:p>
          <a:p>
            <a:r>
              <a:rPr lang="en-US"/>
              <a:t>Since credit scoring systems are classified as </a:t>
            </a:r>
            <a:r>
              <a:rPr lang="en-US" b="1"/>
              <a:t>high-risk AI systems</a:t>
            </a:r>
            <a:r>
              <a:rPr lang="en-US"/>
              <a:t>, the platform must implement stronger governance controls, including audit logging, human review mechanisms, data minimization, and proper risk management procedures.</a:t>
            </a:r>
          </a:p>
          <a:p>
            <a:r>
              <a:rPr lang="en-US"/>
              <a:t>Overall, the analysis shows that while the dataset can support credit decision modeling, significant improvements in </a:t>
            </a:r>
            <a:r>
              <a:rPr lang="en-US" b="1"/>
              <a:t>privacy protection, transparency, and AI governance</a:t>
            </a:r>
            <a:r>
              <a:rPr lang="en-US"/>
              <a:t> are required to meet GDPR and EU AI Act standards.</a:t>
            </a:r>
          </a:p>
          <a:p>
            <a:r>
              <a:rPr lang="en-US"/>
              <a:t>Now lets jump into key findings and conclusions </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T" sz="1200" kern="1200">
                <a:solidFill>
                  <a:schemeClr val="tx1"/>
                </a:solidFill>
                <a:effectLst/>
                <a:latin typeface="+mn-lt"/>
                <a:ea typeface="+mn-ea"/>
                <a:cs typeface="+mn-cs"/>
              </a:rPr>
              <a:t>To conclude: the results across all three analyses point in the same direction. NovaCred's system combines data quality weaknesses, statistically significant bias like the gender Disparate Impact ratio of 0.77 — and serious governance gaps.</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T" sz="1200" kern="1200">
                <a:solidFill>
                  <a:schemeClr val="tx1"/>
                </a:solidFill>
                <a:effectLst/>
                <a:latin typeface="+mn-lt"/>
                <a:ea typeface="+mn-ea"/>
                <a:cs typeface="+mn-cs"/>
              </a:rPr>
              <a:t>Our roadmap translates these findings into 15 actions across three time horizons. Overall, NovaCred can move toward a defensible and compliant system — but only if governance is treated as a core design requirement. Thank you.</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384048" cy="5143500"/>
          </a:xfrm>
          <a:prstGeom prst="rect">
            <a:avLst/>
          </a:prstGeom>
          <a:solidFill>
            <a:srgbClr val="C0392B"/>
          </a:solidFill>
          <a:ln w="12700">
            <a:solidFill>
              <a:srgbClr val="C0392B"/>
            </a:solidFill>
            <a:prstDash val="solid"/>
          </a:ln>
        </p:spPr>
        <p:txBody>
          <a:bodyPr/>
          <a:lstStyle/>
          <a:p>
            <a:endParaRPr lang="en-PT"/>
          </a:p>
        </p:txBody>
      </p:sp>
      <p:sp>
        <p:nvSpPr>
          <p:cNvPr id="3" name="Text 1"/>
          <p:cNvSpPr/>
          <p:nvPr/>
        </p:nvSpPr>
        <p:spPr>
          <a:xfrm>
            <a:off x="594360" y="292608"/>
            <a:ext cx="8229600" cy="256032"/>
          </a:xfrm>
          <a:prstGeom prst="rect">
            <a:avLst/>
          </a:prstGeom>
          <a:noFill/>
          <a:ln/>
        </p:spPr>
        <p:txBody>
          <a:bodyPr wrap="square" rtlCol="0" anchor="ctr"/>
          <a:lstStyle/>
          <a:p>
            <a:pPr marL="0" indent="0">
              <a:buNone/>
            </a:pPr>
            <a:r>
              <a:rPr lang="en-US" sz="900" kern="0" spc="150">
                <a:solidFill>
                  <a:srgbClr val="7A91B0"/>
                </a:solidFill>
                <a:latin typeface="Calibri" pitchFamily="34" charset="0"/>
                <a:ea typeface="Calibri" pitchFamily="34" charset="-122"/>
                <a:cs typeface="Calibri" pitchFamily="34" charset="-120"/>
              </a:rPr>
              <a:t>NOVA SBE  ·  DEGO 2606  ·  MSc Business Analytics</a:t>
            </a:r>
            <a:endParaRPr lang="en-US" sz="900"/>
          </a:p>
        </p:txBody>
      </p:sp>
      <p:sp>
        <p:nvSpPr>
          <p:cNvPr id="4" name="Shape 2"/>
          <p:cNvSpPr/>
          <p:nvPr/>
        </p:nvSpPr>
        <p:spPr>
          <a:xfrm>
            <a:off x="594360" y="621792"/>
            <a:ext cx="1143000" cy="274320"/>
          </a:xfrm>
          <a:prstGeom prst="rect">
            <a:avLst/>
          </a:prstGeom>
          <a:solidFill>
            <a:srgbClr val="C0392B"/>
          </a:solidFill>
          <a:ln w="12700">
            <a:solidFill>
              <a:srgbClr val="C0392B"/>
            </a:solidFill>
            <a:prstDash val="solid"/>
          </a:ln>
        </p:spPr>
        <p:txBody>
          <a:bodyPr/>
          <a:lstStyle/>
          <a:p>
            <a:endParaRPr lang="en-PT"/>
          </a:p>
        </p:txBody>
      </p:sp>
      <p:sp>
        <p:nvSpPr>
          <p:cNvPr id="5" name="Text 3"/>
          <p:cNvSpPr/>
          <p:nvPr/>
        </p:nvSpPr>
        <p:spPr>
          <a:xfrm>
            <a:off x="594360" y="630936"/>
            <a:ext cx="1143000" cy="256032"/>
          </a:xfrm>
          <a:prstGeom prst="rect">
            <a:avLst/>
          </a:prstGeom>
          <a:noFill/>
          <a:ln/>
        </p:spPr>
        <p:txBody>
          <a:bodyPr wrap="square"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Group TXB  ·  14</a:t>
            </a:r>
            <a:endParaRPr lang="en-US" sz="900"/>
          </a:p>
        </p:txBody>
      </p:sp>
      <p:sp>
        <p:nvSpPr>
          <p:cNvPr id="6" name="Text 4"/>
          <p:cNvSpPr/>
          <p:nvPr/>
        </p:nvSpPr>
        <p:spPr>
          <a:xfrm>
            <a:off x="594360" y="1024128"/>
            <a:ext cx="8229600" cy="777240"/>
          </a:xfrm>
          <a:prstGeom prst="rect">
            <a:avLst/>
          </a:prstGeom>
          <a:noFill/>
          <a:ln/>
        </p:spPr>
        <p:txBody>
          <a:bodyPr wrap="square" rtlCol="0" anchor="ctr"/>
          <a:lstStyle/>
          <a:p>
            <a:pPr marL="0" indent="0">
              <a:buNone/>
            </a:pPr>
            <a:r>
              <a:rPr lang="en-US" sz="6000" b="1">
                <a:solidFill>
                  <a:srgbClr val="FFFFFF"/>
                </a:solidFill>
                <a:latin typeface="Georgia" pitchFamily="34" charset="0"/>
                <a:ea typeface="Georgia" pitchFamily="34" charset="-122"/>
                <a:cs typeface="Georgia" pitchFamily="34" charset="-120"/>
              </a:rPr>
              <a:t>NovaCred</a:t>
            </a:r>
            <a:endParaRPr lang="en-US" sz="6000"/>
          </a:p>
        </p:txBody>
      </p:sp>
      <p:sp>
        <p:nvSpPr>
          <p:cNvPr id="7" name="Text 5"/>
          <p:cNvSpPr/>
          <p:nvPr/>
        </p:nvSpPr>
        <p:spPr>
          <a:xfrm>
            <a:off x="594360" y="1755648"/>
            <a:ext cx="8229600" cy="594360"/>
          </a:xfrm>
          <a:prstGeom prst="rect">
            <a:avLst/>
          </a:prstGeom>
          <a:noFill/>
          <a:ln/>
        </p:spPr>
        <p:txBody>
          <a:bodyPr wrap="square" rtlCol="0" anchor="ctr"/>
          <a:lstStyle/>
          <a:p>
            <a:pPr marL="0" indent="0">
              <a:buNone/>
            </a:pPr>
            <a:r>
              <a:rPr lang="en-US" sz="3800">
                <a:solidFill>
                  <a:srgbClr val="C8D5E8"/>
                </a:solidFill>
                <a:latin typeface="Georgia" pitchFamily="34" charset="0"/>
                <a:ea typeface="Georgia" pitchFamily="34" charset="-122"/>
                <a:cs typeface="Georgia" pitchFamily="34" charset="-120"/>
              </a:rPr>
              <a:t>Credit Application</a:t>
            </a:r>
            <a:endParaRPr lang="en-US" sz="3800"/>
          </a:p>
        </p:txBody>
      </p:sp>
      <p:sp>
        <p:nvSpPr>
          <p:cNvPr id="8" name="Text 6"/>
          <p:cNvSpPr/>
          <p:nvPr/>
        </p:nvSpPr>
        <p:spPr>
          <a:xfrm>
            <a:off x="594360" y="2304288"/>
            <a:ext cx="8229600" cy="594360"/>
          </a:xfrm>
          <a:prstGeom prst="rect">
            <a:avLst/>
          </a:prstGeom>
          <a:noFill/>
          <a:ln/>
        </p:spPr>
        <p:txBody>
          <a:bodyPr wrap="square" rtlCol="0" anchor="ctr"/>
          <a:lstStyle/>
          <a:p>
            <a:pPr marL="0" indent="0">
              <a:buNone/>
            </a:pPr>
            <a:r>
              <a:rPr lang="en-US" sz="3800" b="1">
                <a:solidFill>
                  <a:srgbClr val="C0392B"/>
                </a:solidFill>
                <a:latin typeface="Georgia" pitchFamily="34" charset="0"/>
                <a:ea typeface="Georgia" pitchFamily="34" charset="-122"/>
                <a:cs typeface="Georgia" pitchFamily="34" charset="-120"/>
              </a:rPr>
              <a:t>Governance Analysis</a:t>
            </a:r>
            <a:endParaRPr lang="en-US" sz="3800"/>
          </a:p>
        </p:txBody>
      </p:sp>
      <p:sp>
        <p:nvSpPr>
          <p:cNvPr id="9" name="Shape 7"/>
          <p:cNvSpPr/>
          <p:nvPr/>
        </p:nvSpPr>
        <p:spPr>
          <a:xfrm>
            <a:off x="594360" y="3090672"/>
            <a:ext cx="2011680" cy="292608"/>
          </a:xfrm>
          <a:prstGeom prst="rect">
            <a:avLst/>
          </a:prstGeom>
          <a:solidFill>
            <a:srgbClr val="27AE60"/>
          </a:solidFill>
          <a:ln w="12700">
            <a:solidFill>
              <a:srgbClr val="27AE60"/>
            </a:solidFill>
            <a:prstDash val="solid"/>
          </a:ln>
        </p:spPr>
        <p:txBody>
          <a:bodyPr/>
          <a:lstStyle/>
          <a:p>
            <a:endParaRPr lang="en-PT"/>
          </a:p>
        </p:txBody>
      </p:sp>
      <p:sp>
        <p:nvSpPr>
          <p:cNvPr id="10" name="Text 8"/>
          <p:cNvSpPr/>
          <p:nvPr/>
        </p:nvSpPr>
        <p:spPr>
          <a:xfrm>
            <a:off x="594360" y="3099816"/>
            <a:ext cx="2011680" cy="274320"/>
          </a:xfrm>
          <a:prstGeom prst="rect">
            <a:avLst/>
          </a:prstGeom>
          <a:noFill/>
          <a:ln/>
        </p:spPr>
        <p:txBody>
          <a:bodyPr wrap="square"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Data Quality</a:t>
            </a:r>
            <a:endParaRPr lang="en-US" sz="1000"/>
          </a:p>
        </p:txBody>
      </p:sp>
      <p:sp>
        <p:nvSpPr>
          <p:cNvPr id="11" name="Shape 9"/>
          <p:cNvSpPr/>
          <p:nvPr/>
        </p:nvSpPr>
        <p:spPr>
          <a:xfrm>
            <a:off x="2880360" y="3090672"/>
            <a:ext cx="2011680" cy="292608"/>
          </a:xfrm>
          <a:prstGeom prst="rect">
            <a:avLst/>
          </a:prstGeom>
          <a:solidFill>
            <a:srgbClr val="E67E22"/>
          </a:solidFill>
          <a:ln w="12700">
            <a:solidFill>
              <a:srgbClr val="E67E22"/>
            </a:solidFill>
            <a:prstDash val="solid"/>
          </a:ln>
        </p:spPr>
        <p:txBody>
          <a:bodyPr/>
          <a:lstStyle/>
          <a:p>
            <a:endParaRPr lang="en-PT"/>
          </a:p>
        </p:txBody>
      </p:sp>
      <p:sp>
        <p:nvSpPr>
          <p:cNvPr id="12" name="Text 10"/>
          <p:cNvSpPr/>
          <p:nvPr/>
        </p:nvSpPr>
        <p:spPr>
          <a:xfrm>
            <a:off x="2880360" y="3099816"/>
            <a:ext cx="2011680" cy="274320"/>
          </a:xfrm>
          <a:prstGeom prst="rect">
            <a:avLst/>
          </a:prstGeom>
          <a:noFill/>
          <a:ln/>
        </p:spPr>
        <p:txBody>
          <a:bodyPr wrap="square"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Fairness &amp; Bias</a:t>
            </a:r>
            <a:endParaRPr lang="en-US" sz="1000"/>
          </a:p>
        </p:txBody>
      </p:sp>
      <p:sp>
        <p:nvSpPr>
          <p:cNvPr id="13" name="Shape 11"/>
          <p:cNvSpPr/>
          <p:nvPr/>
        </p:nvSpPr>
        <p:spPr>
          <a:xfrm>
            <a:off x="5166360" y="3090672"/>
            <a:ext cx="2011680" cy="292608"/>
          </a:xfrm>
          <a:prstGeom prst="rect">
            <a:avLst/>
          </a:prstGeom>
          <a:solidFill>
            <a:srgbClr val="7B3FA0"/>
          </a:solidFill>
          <a:ln w="12700">
            <a:solidFill>
              <a:srgbClr val="7B3FA0"/>
            </a:solidFill>
            <a:prstDash val="solid"/>
          </a:ln>
        </p:spPr>
        <p:txBody>
          <a:bodyPr/>
          <a:lstStyle/>
          <a:p>
            <a:endParaRPr lang="en-PT"/>
          </a:p>
        </p:txBody>
      </p:sp>
      <p:sp>
        <p:nvSpPr>
          <p:cNvPr id="14" name="Text 12"/>
          <p:cNvSpPr/>
          <p:nvPr/>
        </p:nvSpPr>
        <p:spPr>
          <a:xfrm>
            <a:off x="5166360" y="3099816"/>
            <a:ext cx="2011680" cy="274320"/>
          </a:xfrm>
          <a:prstGeom prst="rect">
            <a:avLst/>
          </a:prstGeom>
          <a:noFill/>
          <a:ln/>
        </p:spPr>
        <p:txBody>
          <a:bodyPr wrap="square"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Privacy &amp; Compliance</a:t>
            </a:r>
            <a:endParaRPr lang="en-US" sz="1000"/>
          </a:p>
        </p:txBody>
      </p:sp>
      <p:sp>
        <p:nvSpPr>
          <p:cNvPr id="15" name="Text 13"/>
          <p:cNvSpPr/>
          <p:nvPr/>
        </p:nvSpPr>
        <p:spPr>
          <a:xfrm>
            <a:off x="594360" y="4617720"/>
            <a:ext cx="8229600" cy="228600"/>
          </a:xfrm>
          <a:prstGeom prst="rect">
            <a:avLst/>
          </a:prstGeom>
          <a:noFill/>
          <a:ln/>
        </p:spPr>
        <p:txBody>
          <a:bodyPr wrap="square" rtlCol="0" anchor="ctr"/>
          <a:lstStyle/>
          <a:p>
            <a:pPr marL="0" indent="0">
              <a:buNone/>
            </a:pPr>
            <a:r>
              <a:rPr lang="en-US" sz="900">
                <a:solidFill>
                  <a:srgbClr val="7A91B0"/>
                </a:solidFill>
                <a:latin typeface="Calibri" pitchFamily="34" charset="0"/>
                <a:ea typeface="Calibri" pitchFamily="34" charset="-122"/>
                <a:cs typeface="Calibri" pitchFamily="34" charset="-120"/>
              </a:rPr>
              <a:t>Eda Pürsün (Product Lead)  ·  João Roque (Data Engineer)  ·  Maddalena Manfredi (Data Scientist)  ·  Lucas Galilei (Governance Officer)</a:t>
            </a:r>
            <a:endParaRPr lang="en-US" sz="900"/>
          </a:p>
        </p:txBody>
      </p:sp>
      <p:sp>
        <p:nvSpPr>
          <p:cNvPr id="16" name="Shape 14"/>
          <p:cNvSpPr/>
          <p:nvPr/>
        </p:nvSpPr>
        <p:spPr>
          <a:xfrm>
            <a:off x="0" y="4864608"/>
            <a:ext cx="9144000" cy="278892"/>
          </a:xfrm>
          <a:prstGeom prst="rect">
            <a:avLst/>
          </a:prstGeom>
          <a:solidFill>
            <a:srgbClr val="0D1B33"/>
          </a:solidFill>
          <a:ln w="12700">
            <a:solidFill>
              <a:srgbClr val="0D1B33"/>
            </a:solidFill>
            <a:prstDash val="solid"/>
          </a:ln>
        </p:spPr>
        <p:txBody>
          <a:bodyPr/>
          <a:lstStyle/>
          <a:p>
            <a:endParaRPr lang="en-PT"/>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A2744"/>
          </a:solidFill>
          <a:ln w="12700">
            <a:solidFill>
              <a:srgbClr val="1A2744"/>
            </a:solidFill>
            <a:prstDash val="solid"/>
          </a:ln>
        </p:spPr>
        <p:txBody>
          <a:bodyPr/>
          <a:lstStyle/>
          <a:p>
            <a:endParaRPr lang="en-PT"/>
          </a:p>
        </p:txBody>
      </p:sp>
      <p:sp>
        <p:nvSpPr>
          <p:cNvPr id="3" name="Shape 1"/>
          <p:cNvSpPr/>
          <p:nvPr/>
        </p:nvSpPr>
        <p:spPr>
          <a:xfrm>
            <a:off x="0" y="0"/>
            <a:ext cx="274320" cy="713232"/>
          </a:xfrm>
          <a:prstGeom prst="rect">
            <a:avLst/>
          </a:prstGeom>
          <a:solidFill>
            <a:srgbClr val="C0392B"/>
          </a:solidFill>
          <a:ln w="12700">
            <a:solidFill>
              <a:srgbClr val="C0392B"/>
            </a:solidFill>
            <a:prstDash val="solid"/>
          </a:ln>
        </p:spPr>
        <p:txBody>
          <a:bodyPr/>
          <a:lstStyle/>
          <a:p>
            <a:endParaRPr lang="en-PT"/>
          </a:p>
        </p:txBody>
      </p:sp>
      <p:sp>
        <p:nvSpPr>
          <p:cNvPr id="4" name="Text 2"/>
          <p:cNvSpPr/>
          <p:nvPr/>
        </p:nvSpPr>
        <p:spPr>
          <a:xfrm>
            <a:off x="411480" y="73152"/>
            <a:ext cx="8503920" cy="411480"/>
          </a:xfrm>
          <a:prstGeom prst="rect">
            <a:avLst/>
          </a:prstGeom>
          <a:noFill/>
          <a:ln/>
        </p:spPr>
        <p:txBody>
          <a:bodyPr wrap="square" rtlCol="0" anchor="ctr"/>
          <a:lstStyle/>
          <a:p>
            <a:pPr marL="0" indent="0">
              <a:buNone/>
            </a:pPr>
            <a:r>
              <a:rPr lang="en-US" sz="2200" b="1">
                <a:solidFill>
                  <a:srgbClr val="FFFFFF"/>
                </a:solidFill>
                <a:latin typeface="Georgia" pitchFamily="34" charset="0"/>
                <a:ea typeface="Georgia" pitchFamily="34" charset="-122"/>
                <a:cs typeface="Georgia" pitchFamily="34" charset="-120"/>
              </a:rPr>
              <a:t>Team</a:t>
            </a:r>
            <a:endParaRPr lang="en-US" sz="2200"/>
          </a:p>
        </p:txBody>
      </p:sp>
      <p:sp>
        <p:nvSpPr>
          <p:cNvPr id="5" name="Text 3"/>
          <p:cNvSpPr/>
          <p:nvPr/>
        </p:nvSpPr>
        <p:spPr>
          <a:xfrm>
            <a:off x="411480" y="475488"/>
            <a:ext cx="8503920" cy="201168"/>
          </a:xfrm>
          <a:prstGeom prst="rect">
            <a:avLst/>
          </a:prstGeom>
          <a:noFill/>
          <a:ln/>
        </p:spPr>
        <p:txBody>
          <a:bodyPr wrap="square" rtlCol="0" anchor="ctr"/>
          <a:lstStyle/>
          <a:p>
            <a:pPr marL="0" indent="0">
              <a:buNone/>
            </a:pPr>
            <a:r>
              <a:rPr lang="en-US" sz="1100" i="1">
                <a:solidFill>
                  <a:srgbClr val="AABBD0"/>
                </a:solidFill>
                <a:latin typeface="Calibri" pitchFamily="34" charset="0"/>
                <a:ea typeface="Calibri" pitchFamily="34" charset="-122"/>
                <a:cs typeface="Calibri" pitchFamily="34" charset="-120"/>
              </a:rPr>
              <a:t>Group TXB  ·  Team 14  ·  DEGO 2606, Nova SBE</a:t>
            </a:r>
            <a:endParaRPr lang="en-US" sz="1100"/>
          </a:p>
        </p:txBody>
      </p:sp>
      <p:sp>
        <p:nvSpPr>
          <p:cNvPr id="6" name="Shape 4"/>
          <p:cNvSpPr/>
          <p:nvPr/>
        </p:nvSpPr>
        <p:spPr>
          <a:xfrm>
            <a:off x="256032" y="868680"/>
            <a:ext cx="2011680" cy="3840480"/>
          </a:xfrm>
          <a:prstGeom prst="rect">
            <a:avLst/>
          </a:prstGeom>
          <a:solidFill>
            <a:srgbClr val="FFFFFF"/>
          </a:solidFill>
          <a:ln w="12700">
            <a:solidFill>
              <a:srgbClr val="D0D7E0"/>
            </a:solidFill>
            <a:prstDash val="solid"/>
          </a:ln>
          <a:effectLst>
            <a:outerShdw blurRad="76200" dist="25400" dir="8100000" algn="bl" rotWithShape="0">
              <a:srgbClr val="000000">
                <a:alpha val="10000"/>
              </a:srgbClr>
            </a:outerShdw>
          </a:effectLst>
        </p:spPr>
        <p:txBody>
          <a:bodyPr/>
          <a:lstStyle/>
          <a:p>
            <a:endParaRPr lang="en-PT"/>
          </a:p>
        </p:txBody>
      </p:sp>
      <p:sp>
        <p:nvSpPr>
          <p:cNvPr id="7" name="Shape 5"/>
          <p:cNvSpPr/>
          <p:nvPr/>
        </p:nvSpPr>
        <p:spPr>
          <a:xfrm>
            <a:off x="256032" y="868680"/>
            <a:ext cx="2011680" cy="347472"/>
          </a:xfrm>
          <a:prstGeom prst="rect">
            <a:avLst/>
          </a:prstGeom>
          <a:solidFill>
            <a:srgbClr val="C0392B"/>
          </a:solidFill>
          <a:ln w="12700">
            <a:solidFill>
              <a:srgbClr val="C0392B"/>
            </a:solidFill>
            <a:prstDash val="solid"/>
          </a:ln>
        </p:spPr>
        <p:txBody>
          <a:bodyPr/>
          <a:lstStyle/>
          <a:p>
            <a:endParaRPr lang="en-PT"/>
          </a:p>
        </p:txBody>
      </p:sp>
      <p:sp>
        <p:nvSpPr>
          <p:cNvPr id="8" name="Text 6"/>
          <p:cNvSpPr/>
          <p:nvPr/>
        </p:nvSpPr>
        <p:spPr>
          <a:xfrm>
            <a:off x="329184" y="886968"/>
            <a:ext cx="1901952" cy="301752"/>
          </a:xfrm>
          <a:prstGeom prst="rect">
            <a:avLst/>
          </a:prstGeom>
          <a:noFill/>
          <a:ln/>
        </p:spPr>
        <p:txBody>
          <a:bodyPr wrap="square"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Product Lead</a:t>
            </a:r>
            <a:endParaRPr lang="en-US" sz="1000"/>
          </a:p>
        </p:txBody>
      </p:sp>
      <p:sp>
        <p:nvSpPr>
          <p:cNvPr id="9" name="Shape 7"/>
          <p:cNvSpPr/>
          <p:nvPr/>
        </p:nvSpPr>
        <p:spPr>
          <a:xfrm>
            <a:off x="750275" y="1488974"/>
            <a:ext cx="942692" cy="884240"/>
          </a:xfrm>
          <a:prstGeom prst="ellipse">
            <a:avLst/>
          </a:prstGeom>
          <a:solidFill>
            <a:srgbClr val="C0392B"/>
          </a:solidFill>
          <a:ln w="12700">
            <a:solidFill>
              <a:srgbClr val="C0392B"/>
            </a:solidFill>
            <a:prstDash val="solid"/>
          </a:ln>
        </p:spPr>
        <p:txBody>
          <a:bodyPr/>
          <a:lstStyle/>
          <a:p>
            <a:endParaRPr lang="en-PT"/>
          </a:p>
        </p:txBody>
      </p:sp>
      <p:sp>
        <p:nvSpPr>
          <p:cNvPr id="10" name="Text 8"/>
          <p:cNvSpPr/>
          <p:nvPr/>
        </p:nvSpPr>
        <p:spPr>
          <a:xfrm>
            <a:off x="750275" y="1578708"/>
            <a:ext cx="942692" cy="721354"/>
          </a:xfrm>
          <a:prstGeom prst="rect">
            <a:avLst/>
          </a:prstGeom>
          <a:noFill/>
          <a:ln/>
        </p:spPr>
        <p:txBody>
          <a:bodyPr wrap="square" rtlCol="0" anchor="ctr"/>
          <a:lstStyle/>
          <a:p>
            <a:pPr marL="0" indent="0" algn="ctr">
              <a:buNone/>
            </a:pPr>
            <a:r>
              <a:rPr lang="en-US" sz="2000" b="1">
                <a:solidFill>
                  <a:srgbClr val="FFFFFF"/>
                </a:solidFill>
                <a:latin typeface="Georgia" pitchFamily="34" charset="0"/>
                <a:ea typeface="Georgia" pitchFamily="34" charset="-122"/>
                <a:cs typeface="Georgia" pitchFamily="34" charset="-120"/>
              </a:rPr>
              <a:t>P</a:t>
            </a:r>
            <a:endParaRPr lang="en-US" sz="2000"/>
          </a:p>
        </p:txBody>
      </p:sp>
      <p:sp>
        <p:nvSpPr>
          <p:cNvPr id="11" name="Text 9"/>
          <p:cNvSpPr/>
          <p:nvPr/>
        </p:nvSpPr>
        <p:spPr>
          <a:xfrm>
            <a:off x="347472" y="2378845"/>
            <a:ext cx="1847088" cy="420624"/>
          </a:xfrm>
          <a:prstGeom prst="rect">
            <a:avLst/>
          </a:prstGeom>
          <a:noFill/>
          <a:ln/>
        </p:spPr>
        <p:txBody>
          <a:bodyPr wrap="square" rtlCol="0" anchor="ctr"/>
          <a:lstStyle/>
          <a:p>
            <a:pPr marL="0" indent="0" algn="ctr">
              <a:buNone/>
            </a:pPr>
            <a:r>
              <a:rPr lang="en-US" sz="1050" b="1">
                <a:solidFill>
                  <a:srgbClr val="1A2744"/>
                </a:solidFill>
                <a:latin typeface="Calibri" pitchFamily="34" charset="0"/>
                <a:ea typeface="Calibri" pitchFamily="34" charset="-122"/>
                <a:cs typeface="Calibri" pitchFamily="34" charset="-120"/>
              </a:rPr>
              <a:t>Eda Jülide Pürsün</a:t>
            </a:r>
            <a:endParaRPr lang="en-US" sz="1050"/>
          </a:p>
        </p:txBody>
      </p:sp>
      <p:sp>
        <p:nvSpPr>
          <p:cNvPr id="12" name="Text 10"/>
          <p:cNvSpPr/>
          <p:nvPr/>
        </p:nvSpPr>
        <p:spPr>
          <a:xfrm>
            <a:off x="347472" y="2817757"/>
            <a:ext cx="1847088" cy="201168"/>
          </a:xfrm>
          <a:prstGeom prst="rect">
            <a:avLst/>
          </a:prstGeom>
          <a:noFill/>
          <a:ln/>
        </p:spPr>
        <p:txBody>
          <a:bodyPr wrap="square" rtlCol="0" anchor="ctr"/>
          <a:lstStyle/>
          <a:p>
            <a:pPr marL="0" indent="0" algn="ctr">
              <a:buNone/>
            </a:pPr>
            <a:r>
              <a:rPr lang="en-US" sz="900">
                <a:solidFill>
                  <a:srgbClr val="8492A6"/>
                </a:solidFill>
                <a:latin typeface="Calibri" pitchFamily="34" charset="0"/>
                <a:ea typeface="Calibri" pitchFamily="34" charset="-122"/>
                <a:cs typeface="Calibri" pitchFamily="34" charset="-120"/>
              </a:rPr>
              <a:t>ID: 74935</a:t>
            </a:r>
            <a:endParaRPr lang="en-US" sz="900"/>
          </a:p>
        </p:txBody>
      </p:sp>
      <p:sp>
        <p:nvSpPr>
          <p:cNvPr id="13" name="Shape 11"/>
          <p:cNvSpPr/>
          <p:nvPr/>
        </p:nvSpPr>
        <p:spPr>
          <a:xfrm>
            <a:off x="438912" y="3073789"/>
            <a:ext cx="1664208" cy="0"/>
          </a:xfrm>
          <a:prstGeom prst="line">
            <a:avLst/>
          </a:prstGeom>
          <a:noFill/>
          <a:ln w="12700">
            <a:solidFill>
              <a:srgbClr val="D0D7E0"/>
            </a:solidFill>
            <a:prstDash val="solid"/>
          </a:ln>
        </p:spPr>
        <p:txBody>
          <a:bodyPr/>
          <a:lstStyle/>
          <a:p>
            <a:endParaRPr lang="en-PT"/>
          </a:p>
        </p:txBody>
      </p:sp>
      <p:sp>
        <p:nvSpPr>
          <p:cNvPr id="14" name="Text 12"/>
          <p:cNvSpPr/>
          <p:nvPr/>
        </p:nvSpPr>
        <p:spPr>
          <a:xfrm>
            <a:off x="365760" y="3146941"/>
            <a:ext cx="1810512" cy="1883664"/>
          </a:xfrm>
          <a:prstGeom prst="rect">
            <a:avLst/>
          </a:prstGeom>
          <a:noFill/>
          <a:ln/>
        </p:spPr>
        <p:txBody>
          <a:bodyPr wrap="square" rtlCol="0" anchor="t"/>
          <a:lstStyle/>
          <a:p>
            <a:pPr marL="0" indent="0">
              <a:buNone/>
            </a:pPr>
            <a:r>
              <a:rPr lang="en-US" sz="900">
                <a:solidFill>
                  <a:srgbClr val="3D4A5C"/>
                </a:solidFill>
                <a:latin typeface="Calibri" pitchFamily="34" charset="0"/>
                <a:ea typeface="Calibri" pitchFamily="34" charset="-122"/>
                <a:cs typeface="Calibri" pitchFamily="34" charset="-120"/>
              </a:rPr>
              <a:t>Project coordination, presentation, README, final integration</a:t>
            </a:r>
            <a:endParaRPr lang="en-US" sz="900"/>
          </a:p>
        </p:txBody>
      </p:sp>
      <p:sp>
        <p:nvSpPr>
          <p:cNvPr id="15" name="Shape 13"/>
          <p:cNvSpPr/>
          <p:nvPr/>
        </p:nvSpPr>
        <p:spPr>
          <a:xfrm>
            <a:off x="2432304" y="868680"/>
            <a:ext cx="2011680" cy="3840480"/>
          </a:xfrm>
          <a:prstGeom prst="rect">
            <a:avLst/>
          </a:prstGeom>
          <a:solidFill>
            <a:srgbClr val="FFFFFF"/>
          </a:solidFill>
          <a:ln w="12700">
            <a:solidFill>
              <a:srgbClr val="D0D7E0"/>
            </a:solidFill>
            <a:prstDash val="solid"/>
          </a:ln>
          <a:effectLst>
            <a:outerShdw blurRad="76200" dist="25400" dir="8100000" algn="bl" rotWithShape="0">
              <a:srgbClr val="000000">
                <a:alpha val="10000"/>
              </a:srgbClr>
            </a:outerShdw>
          </a:effectLst>
        </p:spPr>
        <p:txBody>
          <a:bodyPr/>
          <a:lstStyle/>
          <a:p>
            <a:endParaRPr lang="en-PT"/>
          </a:p>
        </p:txBody>
      </p:sp>
      <p:sp>
        <p:nvSpPr>
          <p:cNvPr id="16" name="Shape 14"/>
          <p:cNvSpPr/>
          <p:nvPr/>
        </p:nvSpPr>
        <p:spPr>
          <a:xfrm>
            <a:off x="2432304" y="868680"/>
            <a:ext cx="2011680" cy="347472"/>
          </a:xfrm>
          <a:prstGeom prst="rect">
            <a:avLst/>
          </a:prstGeom>
          <a:solidFill>
            <a:srgbClr val="27AE60"/>
          </a:solidFill>
          <a:ln w="12700">
            <a:solidFill>
              <a:srgbClr val="27AE60"/>
            </a:solidFill>
            <a:prstDash val="solid"/>
          </a:ln>
        </p:spPr>
        <p:txBody>
          <a:bodyPr/>
          <a:lstStyle/>
          <a:p>
            <a:endParaRPr lang="en-PT"/>
          </a:p>
        </p:txBody>
      </p:sp>
      <p:sp>
        <p:nvSpPr>
          <p:cNvPr id="17" name="Text 15"/>
          <p:cNvSpPr/>
          <p:nvPr/>
        </p:nvSpPr>
        <p:spPr>
          <a:xfrm>
            <a:off x="2505456" y="886968"/>
            <a:ext cx="1901952" cy="301752"/>
          </a:xfrm>
          <a:prstGeom prst="rect">
            <a:avLst/>
          </a:prstGeom>
          <a:noFill/>
          <a:ln/>
        </p:spPr>
        <p:txBody>
          <a:bodyPr wrap="square"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Data Engineer</a:t>
            </a:r>
            <a:endParaRPr lang="en-US" sz="1000"/>
          </a:p>
        </p:txBody>
      </p:sp>
      <p:sp>
        <p:nvSpPr>
          <p:cNvPr id="18" name="Shape 16"/>
          <p:cNvSpPr/>
          <p:nvPr/>
        </p:nvSpPr>
        <p:spPr>
          <a:xfrm>
            <a:off x="2926547" y="1488974"/>
            <a:ext cx="942692" cy="884240"/>
          </a:xfrm>
          <a:prstGeom prst="ellipse">
            <a:avLst/>
          </a:prstGeom>
          <a:solidFill>
            <a:srgbClr val="27AE60"/>
          </a:solidFill>
          <a:ln w="12700">
            <a:solidFill>
              <a:srgbClr val="27AE60"/>
            </a:solidFill>
            <a:prstDash val="solid"/>
          </a:ln>
        </p:spPr>
        <p:txBody>
          <a:bodyPr/>
          <a:lstStyle/>
          <a:p>
            <a:endParaRPr lang="en-PT"/>
          </a:p>
        </p:txBody>
      </p:sp>
      <p:sp>
        <p:nvSpPr>
          <p:cNvPr id="19" name="Text 17"/>
          <p:cNvSpPr/>
          <p:nvPr/>
        </p:nvSpPr>
        <p:spPr>
          <a:xfrm>
            <a:off x="2926547" y="1578708"/>
            <a:ext cx="942692" cy="721354"/>
          </a:xfrm>
          <a:prstGeom prst="rect">
            <a:avLst/>
          </a:prstGeom>
          <a:noFill/>
          <a:ln/>
        </p:spPr>
        <p:txBody>
          <a:bodyPr wrap="square" rtlCol="0" anchor="ctr"/>
          <a:lstStyle/>
          <a:p>
            <a:pPr marL="0" indent="0" algn="ctr">
              <a:buNone/>
            </a:pPr>
            <a:r>
              <a:rPr lang="en-US" sz="2000" b="1">
                <a:solidFill>
                  <a:srgbClr val="FFFFFF"/>
                </a:solidFill>
                <a:latin typeface="Georgia" pitchFamily="34" charset="0"/>
                <a:ea typeface="Georgia" pitchFamily="34" charset="-122"/>
                <a:cs typeface="Georgia" pitchFamily="34" charset="-120"/>
              </a:rPr>
              <a:t>D</a:t>
            </a:r>
            <a:endParaRPr lang="en-US" sz="2000"/>
          </a:p>
        </p:txBody>
      </p:sp>
      <p:sp>
        <p:nvSpPr>
          <p:cNvPr id="20" name="Text 18"/>
          <p:cNvSpPr/>
          <p:nvPr/>
        </p:nvSpPr>
        <p:spPr>
          <a:xfrm>
            <a:off x="2523744" y="2378845"/>
            <a:ext cx="1847088" cy="420624"/>
          </a:xfrm>
          <a:prstGeom prst="rect">
            <a:avLst/>
          </a:prstGeom>
          <a:noFill/>
          <a:ln/>
        </p:spPr>
        <p:txBody>
          <a:bodyPr wrap="square" rtlCol="0" anchor="ctr"/>
          <a:lstStyle/>
          <a:p>
            <a:pPr marL="0" indent="0" algn="ctr">
              <a:buNone/>
            </a:pPr>
            <a:r>
              <a:rPr lang="en-US" sz="1050" b="1">
                <a:solidFill>
                  <a:srgbClr val="1A2744"/>
                </a:solidFill>
                <a:latin typeface="Calibri" pitchFamily="34" charset="0"/>
                <a:ea typeface="Calibri" pitchFamily="34" charset="-122"/>
                <a:cs typeface="Calibri" pitchFamily="34" charset="-120"/>
              </a:rPr>
              <a:t>João Marques Roque</a:t>
            </a:r>
            <a:endParaRPr lang="en-US" sz="1050"/>
          </a:p>
        </p:txBody>
      </p:sp>
      <p:sp>
        <p:nvSpPr>
          <p:cNvPr id="21" name="Text 19"/>
          <p:cNvSpPr/>
          <p:nvPr/>
        </p:nvSpPr>
        <p:spPr>
          <a:xfrm>
            <a:off x="2523744" y="2817757"/>
            <a:ext cx="1847088" cy="201168"/>
          </a:xfrm>
          <a:prstGeom prst="rect">
            <a:avLst/>
          </a:prstGeom>
          <a:noFill/>
          <a:ln/>
        </p:spPr>
        <p:txBody>
          <a:bodyPr wrap="square" rtlCol="0" anchor="ctr"/>
          <a:lstStyle/>
          <a:p>
            <a:pPr marL="0" indent="0" algn="ctr">
              <a:buNone/>
            </a:pPr>
            <a:r>
              <a:rPr lang="en-US" sz="900">
                <a:solidFill>
                  <a:srgbClr val="8492A6"/>
                </a:solidFill>
                <a:latin typeface="Calibri" pitchFamily="34" charset="0"/>
                <a:ea typeface="Calibri" pitchFamily="34" charset="-122"/>
                <a:cs typeface="Calibri" pitchFamily="34" charset="-120"/>
              </a:rPr>
              <a:t>ID: 73047</a:t>
            </a:r>
            <a:endParaRPr lang="en-US" sz="900"/>
          </a:p>
        </p:txBody>
      </p:sp>
      <p:sp>
        <p:nvSpPr>
          <p:cNvPr id="22" name="Shape 20"/>
          <p:cNvSpPr/>
          <p:nvPr/>
        </p:nvSpPr>
        <p:spPr>
          <a:xfrm>
            <a:off x="2615184" y="3073789"/>
            <a:ext cx="1664208" cy="0"/>
          </a:xfrm>
          <a:prstGeom prst="line">
            <a:avLst/>
          </a:prstGeom>
          <a:noFill/>
          <a:ln w="12700">
            <a:solidFill>
              <a:srgbClr val="D0D7E0"/>
            </a:solidFill>
            <a:prstDash val="solid"/>
          </a:ln>
        </p:spPr>
        <p:txBody>
          <a:bodyPr/>
          <a:lstStyle/>
          <a:p>
            <a:endParaRPr lang="en-PT"/>
          </a:p>
        </p:txBody>
      </p:sp>
      <p:sp>
        <p:nvSpPr>
          <p:cNvPr id="23" name="Text 21"/>
          <p:cNvSpPr/>
          <p:nvPr/>
        </p:nvSpPr>
        <p:spPr>
          <a:xfrm>
            <a:off x="2542032" y="3146941"/>
            <a:ext cx="1810512" cy="1883664"/>
          </a:xfrm>
          <a:prstGeom prst="rect">
            <a:avLst/>
          </a:prstGeom>
          <a:noFill/>
          <a:ln/>
        </p:spPr>
        <p:txBody>
          <a:bodyPr wrap="square" rtlCol="0" anchor="t"/>
          <a:lstStyle/>
          <a:p>
            <a:pPr marL="0" indent="0">
              <a:buNone/>
            </a:pPr>
            <a:r>
              <a:rPr lang="en-US" sz="900">
                <a:solidFill>
                  <a:srgbClr val="3D4A5C"/>
                </a:solidFill>
                <a:latin typeface="Calibri" pitchFamily="34" charset="0"/>
                <a:ea typeface="Calibri" pitchFamily="34" charset="-122"/>
                <a:cs typeface="Calibri" pitchFamily="34" charset="-120"/>
              </a:rPr>
              <a:t>Data loading, JSON flattening, cleaning pipeline, repository structure</a:t>
            </a:r>
            <a:endParaRPr lang="en-US" sz="900"/>
          </a:p>
        </p:txBody>
      </p:sp>
      <p:sp>
        <p:nvSpPr>
          <p:cNvPr id="24" name="Shape 22"/>
          <p:cNvSpPr/>
          <p:nvPr/>
        </p:nvSpPr>
        <p:spPr>
          <a:xfrm>
            <a:off x="4608576" y="868680"/>
            <a:ext cx="2011680" cy="3840480"/>
          </a:xfrm>
          <a:prstGeom prst="rect">
            <a:avLst/>
          </a:prstGeom>
          <a:solidFill>
            <a:srgbClr val="FFFFFF"/>
          </a:solidFill>
          <a:ln w="12700">
            <a:solidFill>
              <a:srgbClr val="D0D7E0"/>
            </a:solidFill>
            <a:prstDash val="solid"/>
          </a:ln>
          <a:effectLst>
            <a:outerShdw blurRad="76200" dist="25400" dir="8100000" algn="bl" rotWithShape="0">
              <a:srgbClr val="000000">
                <a:alpha val="10000"/>
              </a:srgbClr>
            </a:outerShdw>
          </a:effectLst>
        </p:spPr>
        <p:txBody>
          <a:bodyPr/>
          <a:lstStyle/>
          <a:p>
            <a:endParaRPr lang="en-PT"/>
          </a:p>
        </p:txBody>
      </p:sp>
      <p:sp>
        <p:nvSpPr>
          <p:cNvPr id="25" name="Shape 23"/>
          <p:cNvSpPr/>
          <p:nvPr/>
        </p:nvSpPr>
        <p:spPr>
          <a:xfrm>
            <a:off x="4608576" y="868680"/>
            <a:ext cx="2011680" cy="347472"/>
          </a:xfrm>
          <a:prstGeom prst="rect">
            <a:avLst/>
          </a:prstGeom>
          <a:solidFill>
            <a:srgbClr val="E67E22"/>
          </a:solidFill>
          <a:ln w="12700">
            <a:solidFill>
              <a:srgbClr val="E67E22"/>
            </a:solidFill>
            <a:prstDash val="solid"/>
          </a:ln>
        </p:spPr>
        <p:txBody>
          <a:bodyPr/>
          <a:lstStyle/>
          <a:p>
            <a:endParaRPr lang="en-PT"/>
          </a:p>
        </p:txBody>
      </p:sp>
      <p:sp>
        <p:nvSpPr>
          <p:cNvPr id="26" name="Text 24"/>
          <p:cNvSpPr/>
          <p:nvPr/>
        </p:nvSpPr>
        <p:spPr>
          <a:xfrm>
            <a:off x="4681728" y="886968"/>
            <a:ext cx="1901952" cy="301752"/>
          </a:xfrm>
          <a:prstGeom prst="rect">
            <a:avLst/>
          </a:prstGeom>
          <a:noFill/>
          <a:ln/>
        </p:spPr>
        <p:txBody>
          <a:bodyPr wrap="square"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Data Scientist</a:t>
            </a:r>
            <a:endParaRPr lang="en-US" sz="1000"/>
          </a:p>
        </p:txBody>
      </p:sp>
      <p:sp>
        <p:nvSpPr>
          <p:cNvPr id="27" name="Shape 25"/>
          <p:cNvSpPr/>
          <p:nvPr/>
        </p:nvSpPr>
        <p:spPr>
          <a:xfrm>
            <a:off x="5102819" y="1488974"/>
            <a:ext cx="942692" cy="884240"/>
          </a:xfrm>
          <a:prstGeom prst="ellipse">
            <a:avLst/>
          </a:prstGeom>
          <a:solidFill>
            <a:srgbClr val="E67E22"/>
          </a:solidFill>
          <a:ln w="12700">
            <a:solidFill>
              <a:srgbClr val="E67E22"/>
            </a:solidFill>
            <a:prstDash val="solid"/>
          </a:ln>
        </p:spPr>
        <p:txBody>
          <a:bodyPr/>
          <a:lstStyle/>
          <a:p>
            <a:endParaRPr lang="en-PT"/>
          </a:p>
        </p:txBody>
      </p:sp>
      <p:sp>
        <p:nvSpPr>
          <p:cNvPr id="28" name="Text 26"/>
          <p:cNvSpPr/>
          <p:nvPr/>
        </p:nvSpPr>
        <p:spPr>
          <a:xfrm>
            <a:off x="5102819" y="1578708"/>
            <a:ext cx="942692" cy="721354"/>
          </a:xfrm>
          <a:prstGeom prst="rect">
            <a:avLst/>
          </a:prstGeom>
          <a:noFill/>
          <a:ln/>
        </p:spPr>
        <p:txBody>
          <a:bodyPr wrap="square" rtlCol="0" anchor="ctr"/>
          <a:lstStyle/>
          <a:p>
            <a:pPr marL="0" indent="0" algn="ctr">
              <a:buNone/>
            </a:pPr>
            <a:r>
              <a:rPr lang="en-US" sz="2000" b="1">
                <a:solidFill>
                  <a:srgbClr val="FFFFFF"/>
                </a:solidFill>
                <a:latin typeface="Georgia" pitchFamily="34" charset="0"/>
                <a:ea typeface="Georgia" pitchFamily="34" charset="-122"/>
                <a:cs typeface="Georgia" pitchFamily="34" charset="-120"/>
              </a:rPr>
              <a:t>D</a:t>
            </a:r>
            <a:endParaRPr lang="en-US" sz="2000"/>
          </a:p>
        </p:txBody>
      </p:sp>
      <p:sp>
        <p:nvSpPr>
          <p:cNvPr id="29" name="Text 27"/>
          <p:cNvSpPr/>
          <p:nvPr/>
        </p:nvSpPr>
        <p:spPr>
          <a:xfrm>
            <a:off x="4700016" y="2378845"/>
            <a:ext cx="1847088" cy="420624"/>
          </a:xfrm>
          <a:prstGeom prst="rect">
            <a:avLst/>
          </a:prstGeom>
          <a:noFill/>
          <a:ln/>
        </p:spPr>
        <p:txBody>
          <a:bodyPr wrap="square" rtlCol="0" anchor="ctr"/>
          <a:lstStyle/>
          <a:p>
            <a:pPr marL="0" indent="0" algn="ctr">
              <a:buNone/>
            </a:pPr>
            <a:r>
              <a:rPr lang="en-US" sz="1050" b="1">
                <a:solidFill>
                  <a:srgbClr val="1A2744"/>
                </a:solidFill>
                <a:latin typeface="Calibri" pitchFamily="34" charset="0"/>
                <a:ea typeface="Calibri" pitchFamily="34" charset="-122"/>
                <a:cs typeface="Calibri" pitchFamily="34" charset="-120"/>
              </a:rPr>
              <a:t>Maddalena Manfredi</a:t>
            </a:r>
            <a:endParaRPr lang="en-US" sz="1050"/>
          </a:p>
        </p:txBody>
      </p:sp>
      <p:sp>
        <p:nvSpPr>
          <p:cNvPr id="30" name="Text 28"/>
          <p:cNvSpPr/>
          <p:nvPr/>
        </p:nvSpPr>
        <p:spPr>
          <a:xfrm>
            <a:off x="4700016" y="2817757"/>
            <a:ext cx="1847088" cy="201168"/>
          </a:xfrm>
          <a:prstGeom prst="rect">
            <a:avLst/>
          </a:prstGeom>
          <a:noFill/>
          <a:ln/>
        </p:spPr>
        <p:txBody>
          <a:bodyPr wrap="square" rtlCol="0" anchor="ctr"/>
          <a:lstStyle/>
          <a:p>
            <a:pPr marL="0" indent="0" algn="ctr">
              <a:buNone/>
            </a:pPr>
            <a:r>
              <a:rPr lang="en-US" sz="900">
                <a:solidFill>
                  <a:srgbClr val="8492A6"/>
                </a:solidFill>
                <a:latin typeface="Calibri" pitchFamily="34" charset="0"/>
                <a:ea typeface="Calibri" pitchFamily="34" charset="-122"/>
                <a:cs typeface="Calibri" pitchFamily="34" charset="-120"/>
              </a:rPr>
              <a:t>ID: 71946</a:t>
            </a:r>
            <a:endParaRPr lang="en-US" sz="900"/>
          </a:p>
        </p:txBody>
      </p:sp>
      <p:sp>
        <p:nvSpPr>
          <p:cNvPr id="31" name="Shape 29"/>
          <p:cNvSpPr/>
          <p:nvPr/>
        </p:nvSpPr>
        <p:spPr>
          <a:xfrm>
            <a:off x="4791456" y="3073789"/>
            <a:ext cx="1664208" cy="0"/>
          </a:xfrm>
          <a:prstGeom prst="line">
            <a:avLst/>
          </a:prstGeom>
          <a:noFill/>
          <a:ln w="12700">
            <a:solidFill>
              <a:srgbClr val="D0D7E0"/>
            </a:solidFill>
            <a:prstDash val="solid"/>
          </a:ln>
        </p:spPr>
        <p:txBody>
          <a:bodyPr/>
          <a:lstStyle/>
          <a:p>
            <a:endParaRPr lang="en-PT"/>
          </a:p>
        </p:txBody>
      </p:sp>
      <p:sp>
        <p:nvSpPr>
          <p:cNvPr id="32" name="Text 30"/>
          <p:cNvSpPr/>
          <p:nvPr/>
        </p:nvSpPr>
        <p:spPr>
          <a:xfrm>
            <a:off x="4718304" y="3146941"/>
            <a:ext cx="1810512" cy="1883664"/>
          </a:xfrm>
          <a:prstGeom prst="rect">
            <a:avLst/>
          </a:prstGeom>
          <a:noFill/>
          <a:ln/>
        </p:spPr>
        <p:txBody>
          <a:bodyPr wrap="square" rtlCol="0" anchor="t"/>
          <a:lstStyle/>
          <a:p>
            <a:pPr marL="0" indent="0">
              <a:buNone/>
            </a:pPr>
            <a:r>
              <a:rPr lang="en-US" sz="900">
                <a:solidFill>
                  <a:srgbClr val="3D4A5C"/>
                </a:solidFill>
                <a:latin typeface="Calibri" pitchFamily="34" charset="0"/>
                <a:ea typeface="Calibri" pitchFamily="34" charset="-122"/>
                <a:cs typeface="Calibri" pitchFamily="34" charset="-120"/>
              </a:rPr>
              <a:t>Bias metrics, statistical testing, proxy analysis, subgroup analysis</a:t>
            </a:r>
            <a:endParaRPr lang="en-US" sz="900"/>
          </a:p>
        </p:txBody>
      </p:sp>
      <p:sp>
        <p:nvSpPr>
          <p:cNvPr id="33" name="Shape 31"/>
          <p:cNvSpPr/>
          <p:nvPr/>
        </p:nvSpPr>
        <p:spPr>
          <a:xfrm>
            <a:off x="6784848" y="868680"/>
            <a:ext cx="2011680" cy="3840480"/>
          </a:xfrm>
          <a:prstGeom prst="rect">
            <a:avLst/>
          </a:prstGeom>
          <a:solidFill>
            <a:srgbClr val="FFFFFF"/>
          </a:solidFill>
          <a:ln w="12700">
            <a:solidFill>
              <a:srgbClr val="D0D7E0"/>
            </a:solidFill>
            <a:prstDash val="solid"/>
          </a:ln>
          <a:effectLst>
            <a:outerShdw blurRad="76200" dist="25400" dir="8100000" algn="bl" rotWithShape="0">
              <a:srgbClr val="000000">
                <a:alpha val="10000"/>
              </a:srgbClr>
            </a:outerShdw>
          </a:effectLst>
        </p:spPr>
        <p:txBody>
          <a:bodyPr/>
          <a:lstStyle/>
          <a:p>
            <a:endParaRPr lang="en-PT"/>
          </a:p>
        </p:txBody>
      </p:sp>
      <p:sp>
        <p:nvSpPr>
          <p:cNvPr id="34" name="Shape 32"/>
          <p:cNvSpPr/>
          <p:nvPr/>
        </p:nvSpPr>
        <p:spPr>
          <a:xfrm>
            <a:off x="6784848" y="868680"/>
            <a:ext cx="2011680" cy="347472"/>
          </a:xfrm>
          <a:prstGeom prst="rect">
            <a:avLst/>
          </a:prstGeom>
          <a:solidFill>
            <a:srgbClr val="5B8EC4"/>
          </a:solidFill>
          <a:ln w="12700">
            <a:solidFill>
              <a:srgbClr val="5B8EC4"/>
            </a:solidFill>
            <a:prstDash val="solid"/>
          </a:ln>
        </p:spPr>
        <p:txBody>
          <a:bodyPr/>
          <a:lstStyle/>
          <a:p>
            <a:endParaRPr lang="en-PT"/>
          </a:p>
        </p:txBody>
      </p:sp>
      <p:sp>
        <p:nvSpPr>
          <p:cNvPr id="35" name="Text 33"/>
          <p:cNvSpPr/>
          <p:nvPr/>
        </p:nvSpPr>
        <p:spPr>
          <a:xfrm>
            <a:off x="6858000" y="886968"/>
            <a:ext cx="1901952" cy="301752"/>
          </a:xfrm>
          <a:prstGeom prst="rect">
            <a:avLst/>
          </a:prstGeom>
          <a:noFill/>
          <a:ln/>
        </p:spPr>
        <p:txBody>
          <a:bodyPr wrap="square"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Governance Officer</a:t>
            </a:r>
            <a:endParaRPr lang="en-US" sz="1000"/>
          </a:p>
        </p:txBody>
      </p:sp>
      <p:sp>
        <p:nvSpPr>
          <p:cNvPr id="36" name="Shape 34"/>
          <p:cNvSpPr/>
          <p:nvPr/>
        </p:nvSpPr>
        <p:spPr>
          <a:xfrm>
            <a:off x="7279091" y="1488974"/>
            <a:ext cx="942692" cy="884240"/>
          </a:xfrm>
          <a:prstGeom prst="ellipse">
            <a:avLst/>
          </a:prstGeom>
          <a:solidFill>
            <a:srgbClr val="5B8EC4"/>
          </a:solidFill>
          <a:ln w="12700">
            <a:solidFill>
              <a:srgbClr val="5B8EC4"/>
            </a:solidFill>
            <a:prstDash val="solid"/>
          </a:ln>
        </p:spPr>
        <p:txBody>
          <a:bodyPr/>
          <a:lstStyle/>
          <a:p>
            <a:endParaRPr lang="en-PT"/>
          </a:p>
        </p:txBody>
      </p:sp>
      <p:sp>
        <p:nvSpPr>
          <p:cNvPr id="37" name="Text 35"/>
          <p:cNvSpPr/>
          <p:nvPr/>
        </p:nvSpPr>
        <p:spPr>
          <a:xfrm>
            <a:off x="7279091" y="1578708"/>
            <a:ext cx="942692" cy="721354"/>
          </a:xfrm>
          <a:prstGeom prst="rect">
            <a:avLst/>
          </a:prstGeom>
          <a:noFill/>
          <a:ln/>
        </p:spPr>
        <p:txBody>
          <a:bodyPr wrap="square" rtlCol="0" anchor="ctr"/>
          <a:lstStyle/>
          <a:p>
            <a:pPr marL="0" indent="0" algn="ctr">
              <a:buNone/>
            </a:pPr>
            <a:r>
              <a:rPr lang="en-US" sz="2000" b="1">
                <a:solidFill>
                  <a:srgbClr val="FFFFFF"/>
                </a:solidFill>
                <a:latin typeface="Georgia" pitchFamily="34" charset="0"/>
                <a:ea typeface="Georgia" pitchFamily="34" charset="-122"/>
                <a:cs typeface="Georgia" pitchFamily="34" charset="-120"/>
              </a:rPr>
              <a:t>G</a:t>
            </a:r>
            <a:endParaRPr lang="en-US" sz="2000"/>
          </a:p>
        </p:txBody>
      </p:sp>
      <p:sp>
        <p:nvSpPr>
          <p:cNvPr id="38" name="Text 36"/>
          <p:cNvSpPr/>
          <p:nvPr/>
        </p:nvSpPr>
        <p:spPr>
          <a:xfrm>
            <a:off x="6876288" y="2378845"/>
            <a:ext cx="1847088" cy="420624"/>
          </a:xfrm>
          <a:prstGeom prst="rect">
            <a:avLst/>
          </a:prstGeom>
          <a:noFill/>
          <a:ln/>
        </p:spPr>
        <p:txBody>
          <a:bodyPr wrap="square" rtlCol="0" anchor="ctr"/>
          <a:lstStyle/>
          <a:p>
            <a:pPr marL="0" indent="0" algn="ctr">
              <a:buNone/>
            </a:pPr>
            <a:r>
              <a:rPr lang="en-US" sz="1050" b="1">
                <a:solidFill>
                  <a:srgbClr val="1A2744"/>
                </a:solidFill>
                <a:latin typeface="Calibri" pitchFamily="34" charset="0"/>
                <a:ea typeface="Calibri" pitchFamily="34" charset="-122"/>
                <a:cs typeface="Calibri" pitchFamily="34" charset="-120"/>
              </a:rPr>
              <a:t>Lucas Galilei</a:t>
            </a:r>
            <a:endParaRPr lang="en-US" sz="1050"/>
          </a:p>
        </p:txBody>
      </p:sp>
      <p:sp>
        <p:nvSpPr>
          <p:cNvPr id="39" name="Text 37"/>
          <p:cNvSpPr/>
          <p:nvPr/>
        </p:nvSpPr>
        <p:spPr>
          <a:xfrm>
            <a:off x="6876288" y="2817757"/>
            <a:ext cx="1847088" cy="201168"/>
          </a:xfrm>
          <a:prstGeom prst="rect">
            <a:avLst/>
          </a:prstGeom>
          <a:noFill/>
          <a:ln/>
        </p:spPr>
        <p:txBody>
          <a:bodyPr wrap="square" rtlCol="0" anchor="ctr"/>
          <a:lstStyle/>
          <a:p>
            <a:pPr marL="0" indent="0" algn="ctr">
              <a:buNone/>
            </a:pPr>
            <a:r>
              <a:rPr lang="en-US" sz="900">
                <a:solidFill>
                  <a:srgbClr val="8492A6"/>
                </a:solidFill>
                <a:latin typeface="Calibri" pitchFamily="34" charset="0"/>
                <a:ea typeface="Calibri" pitchFamily="34" charset="-122"/>
                <a:cs typeface="Calibri" pitchFamily="34" charset="-120"/>
              </a:rPr>
              <a:t>ID: 70270</a:t>
            </a:r>
            <a:endParaRPr lang="en-US" sz="900"/>
          </a:p>
        </p:txBody>
      </p:sp>
      <p:sp>
        <p:nvSpPr>
          <p:cNvPr id="40" name="Shape 38"/>
          <p:cNvSpPr/>
          <p:nvPr/>
        </p:nvSpPr>
        <p:spPr>
          <a:xfrm>
            <a:off x="6967728" y="3073789"/>
            <a:ext cx="1664208" cy="0"/>
          </a:xfrm>
          <a:prstGeom prst="line">
            <a:avLst/>
          </a:prstGeom>
          <a:noFill/>
          <a:ln w="12700">
            <a:solidFill>
              <a:srgbClr val="D0D7E0"/>
            </a:solidFill>
            <a:prstDash val="solid"/>
          </a:ln>
        </p:spPr>
        <p:txBody>
          <a:bodyPr/>
          <a:lstStyle/>
          <a:p>
            <a:endParaRPr lang="en-PT"/>
          </a:p>
        </p:txBody>
      </p:sp>
      <p:sp>
        <p:nvSpPr>
          <p:cNvPr id="41" name="Text 39"/>
          <p:cNvSpPr/>
          <p:nvPr/>
        </p:nvSpPr>
        <p:spPr>
          <a:xfrm>
            <a:off x="6894576" y="3146941"/>
            <a:ext cx="1810512" cy="1883664"/>
          </a:xfrm>
          <a:prstGeom prst="rect">
            <a:avLst/>
          </a:prstGeom>
          <a:noFill/>
          <a:ln/>
        </p:spPr>
        <p:txBody>
          <a:bodyPr wrap="square" rtlCol="0" anchor="t"/>
          <a:lstStyle/>
          <a:p>
            <a:pPr marL="0" indent="0">
              <a:buNone/>
            </a:pPr>
            <a:r>
              <a:rPr lang="en-US" sz="900">
                <a:solidFill>
                  <a:srgbClr val="3D4A5C"/>
                </a:solidFill>
                <a:latin typeface="Calibri" pitchFamily="34" charset="0"/>
                <a:ea typeface="Calibri" pitchFamily="34" charset="-122"/>
                <a:cs typeface="Calibri" pitchFamily="34" charset="-120"/>
              </a:rPr>
              <a:t>PII inventory, GDPR mapping, EU AI Act classification, pseudonymisation demo</a:t>
            </a:r>
            <a:endParaRPr lang="en-US" sz="900"/>
          </a:p>
        </p:txBody>
      </p:sp>
      <p:sp>
        <p:nvSpPr>
          <p:cNvPr id="42" name="Shape 40"/>
          <p:cNvSpPr/>
          <p:nvPr/>
        </p:nvSpPr>
        <p:spPr>
          <a:xfrm>
            <a:off x="0" y="4864608"/>
            <a:ext cx="9144000" cy="278892"/>
          </a:xfrm>
          <a:prstGeom prst="rect">
            <a:avLst/>
          </a:prstGeom>
          <a:solidFill>
            <a:srgbClr val="000000"/>
          </a:solidFill>
          <a:ln w="12700">
            <a:solidFill>
              <a:srgbClr val="000000"/>
            </a:solidFill>
            <a:prstDash val="solid"/>
          </a:ln>
        </p:spPr>
        <p:txBody>
          <a:bodyPr/>
          <a:lstStyle/>
          <a:p>
            <a:endParaRPr lang="en-PT"/>
          </a:p>
        </p:txBody>
      </p:sp>
      <p:sp>
        <p:nvSpPr>
          <p:cNvPr id="43" name="Text 41"/>
          <p:cNvSpPr/>
          <p:nvPr/>
        </p:nvSpPr>
        <p:spPr>
          <a:xfrm>
            <a:off x="274320" y="4873752"/>
            <a:ext cx="8046720" cy="246888"/>
          </a:xfrm>
          <a:prstGeom prst="rect">
            <a:avLst/>
          </a:prstGeom>
          <a:noFill/>
          <a:ln/>
        </p:spPr>
        <p:txBody>
          <a:bodyPr wrap="square" rtlCol="0" anchor="ctr"/>
          <a:lstStyle/>
          <a:p>
            <a:pPr marL="0" indent="0">
              <a:buNone/>
            </a:pPr>
            <a:r>
              <a:rPr lang="en-US" sz="800">
                <a:solidFill>
                  <a:srgbClr val="999999"/>
                </a:solidFill>
                <a:latin typeface="Calibri" pitchFamily="34" charset="0"/>
                <a:ea typeface="Calibri" pitchFamily="34" charset="-122"/>
                <a:cs typeface="Calibri" pitchFamily="34" charset="-120"/>
              </a:rPr>
              <a:t>Team 14 — TXB  |  NovaCred Credit Governance  |  DEGO 2606, Nova SBE</a:t>
            </a:r>
            <a:endParaRPr lang="en-US" sz="800"/>
          </a:p>
        </p:txBody>
      </p:sp>
      <p:sp>
        <p:nvSpPr>
          <p:cNvPr id="44" name="Text 42"/>
          <p:cNvSpPr/>
          <p:nvPr/>
        </p:nvSpPr>
        <p:spPr>
          <a:xfrm>
            <a:off x="8686800" y="4873752"/>
            <a:ext cx="365760" cy="246888"/>
          </a:xfrm>
          <a:prstGeom prst="rect">
            <a:avLst/>
          </a:prstGeom>
          <a:noFill/>
          <a:ln/>
        </p:spPr>
        <p:txBody>
          <a:bodyPr wrap="square" rtlCol="0" anchor="ctr"/>
          <a:lstStyle/>
          <a:p>
            <a:pPr marL="0" indent="0" algn="r">
              <a:buNone/>
            </a:pPr>
            <a:r>
              <a:rPr lang="en-US" sz="950">
                <a:solidFill>
                  <a:srgbClr val="999999"/>
                </a:solidFill>
                <a:latin typeface="Calibri" pitchFamily="34" charset="0"/>
                <a:ea typeface="Calibri" pitchFamily="34" charset="-122"/>
                <a:cs typeface="Calibri" pitchFamily="34" charset="-120"/>
              </a:rPr>
              <a:t>2</a:t>
            </a:r>
            <a:endParaRPr lang="en-US" sz="950"/>
          </a:p>
        </p:txBody>
      </p:sp>
      <p:pic>
        <p:nvPicPr>
          <p:cNvPr id="47" name="Picture 46" descr="A person smiling for a picture&#10;&#10;AI-generated content may be incorrect.">
            <a:extLst>
              <a:ext uri="{FF2B5EF4-FFF2-40B4-BE49-F238E27FC236}">
                <a16:creationId xmlns:a16="http://schemas.microsoft.com/office/drawing/2014/main" id="{81422722-B30F-A578-6DB6-7E1441C867F5}"/>
              </a:ext>
            </a:extLst>
          </p:cNvPr>
          <p:cNvPicPr>
            <a:picLocks noChangeAspect="1"/>
          </p:cNvPicPr>
          <p:nvPr/>
        </p:nvPicPr>
        <p:blipFill>
          <a:blip r:embed="rId3"/>
          <a:stretch>
            <a:fillRect/>
          </a:stretch>
        </p:blipFill>
        <p:spPr>
          <a:xfrm>
            <a:off x="841064" y="1568995"/>
            <a:ext cx="737095" cy="740780"/>
          </a:xfrm>
          <a:prstGeom prst="ellipse">
            <a:avLst/>
          </a:prstGeom>
          <a:ln>
            <a:noFill/>
          </a:ln>
          <a:effectLst>
            <a:softEdge rad="31750"/>
          </a:effectLst>
        </p:spPr>
      </p:pic>
      <p:pic>
        <p:nvPicPr>
          <p:cNvPr id="49" name="Picture 48" descr="A person in a black suit&#10;&#10;AI-generated content may be incorrect.">
            <a:extLst>
              <a:ext uri="{FF2B5EF4-FFF2-40B4-BE49-F238E27FC236}">
                <a16:creationId xmlns:a16="http://schemas.microsoft.com/office/drawing/2014/main" id="{60D02361-31AE-A474-BD4C-87FC6E04EA95}"/>
              </a:ext>
            </a:extLst>
          </p:cNvPr>
          <p:cNvPicPr>
            <a:picLocks noChangeAspect="1"/>
          </p:cNvPicPr>
          <p:nvPr/>
        </p:nvPicPr>
        <p:blipFill>
          <a:blip r:embed="rId4"/>
          <a:srcRect r="-1141" b="32561"/>
          <a:stretch>
            <a:fillRect/>
          </a:stretch>
        </p:blipFill>
        <p:spPr>
          <a:xfrm>
            <a:off x="7374115" y="1568686"/>
            <a:ext cx="740578" cy="741886"/>
          </a:xfrm>
          <a:prstGeom prst="ellipse">
            <a:avLst/>
          </a:prstGeom>
          <a:ln>
            <a:noFill/>
          </a:ln>
          <a:effectLst>
            <a:softEdge rad="31750"/>
          </a:effectLst>
        </p:spPr>
      </p:pic>
      <p:pic>
        <p:nvPicPr>
          <p:cNvPr id="51" name="Picture 50" descr="A person in a suit standing in front of a glass wall&#10;&#10;AI-generated content may be incorrect.">
            <a:extLst>
              <a:ext uri="{FF2B5EF4-FFF2-40B4-BE49-F238E27FC236}">
                <a16:creationId xmlns:a16="http://schemas.microsoft.com/office/drawing/2014/main" id="{B0F03E62-4152-BECC-0F7E-1256D35B2ED9}"/>
              </a:ext>
            </a:extLst>
          </p:cNvPr>
          <p:cNvPicPr>
            <a:picLocks noChangeAspect="1"/>
          </p:cNvPicPr>
          <p:nvPr/>
        </p:nvPicPr>
        <p:blipFill>
          <a:blip r:embed="rId5"/>
          <a:stretch>
            <a:fillRect/>
          </a:stretch>
        </p:blipFill>
        <p:spPr>
          <a:xfrm>
            <a:off x="3029345" y="1551715"/>
            <a:ext cx="737095" cy="737095"/>
          </a:xfrm>
          <a:prstGeom prst="ellipse">
            <a:avLst/>
          </a:prstGeom>
          <a:ln>
            <a:noFill/>
          </a:ln>
          <a:effectLst>
            <a:softEdge rad="31750"/>
          </a:effectLst>
        </p:spPr>
      </p:pic>
      <p:pic>
        <p:nvPicPr>
          <p:cNvPr id="1026" name="Picture 2">
            <a:extLst>
              <a:ext uri="{FF2B5EF4-FFF2-40B4-BE49-F238E27FC236}">
                <a16:creationId xmlns:a16="http://schemas.microsoft.com/office/drawing/2014/main" id="{4E817976-852A-8455-A9B6-5CC0CFDE874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20484" y="1571871"/>
            <a:ext cx="741600" cy="741600"/>
          </a:xfrm>
          <a:prstGeom prst="ellipse">
            <a:avLst/>
          </a:prstGeom>
          <a:ln>
            <a:noFill/>
          </a:ln>
          <a:effectLst>
            <a:softEdge rad="3175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A2744"/>
          </a:solidFill>
          <a:ln w="12700">
            <a:solidFill>
              <a:srgbClr val="1A2744"/>
            </a:solidFill>
            <a:prstDash val="solid"/>
          </a:ln>
        </p:spPr>
        <p:txBody>
          <a:bodyPr/>
          <a:lstStyle/>
          <a:p>
            <a:endParaRPr lang="en-PT"/>
          </a:p>
        </p:txBody>
      </p:sp>
      <p:sp>
        <p:nvSpPr>
          <p:cNvPr id="3" name="Shape 1"/>
          <p:cNvSpPr/>
          <p:nvPr/>
        </p:nvSpPr>
        <p:spPr>
          <a:xfrm>
            <a:off x="0" y="0"/>
            <a:ext cx="274320" cy="713232"/>
          </a:xfrm>
          <a:prstGeom prst="rect">
            <a:avLst/>
          </a:prstGeom>
          <a:solidFill>
            <a:srgbClr val="C0392B"/>
          </a:solidFill>
          <a:ln w="12700">
            <a:solidFill>
              <a:srgbClr val="C0392B"/>
            </a:solidFill>
            <a:prstDash val="solid"/>
          </a:ln>
        </p:spPr>
        <p:txBody>
          <a:bodyPr/>
          <a:lstStyle/>
          <a:p>
            <a:endParaRPr lang="en-PT"/>
          </a:p>
        </p:txBody>
      </p:sp>
      <p:sp>
        <p:nvSpPr>
          <p:cNvPr id="4" name="Text 2"/>
          <p:cNvSpPr/>
          <p:nvPr/>
        </p:nvSpPr>
        <p:spPr>
          <a:xfrm>
            <a:off x="411480" y="73152"/>
            <a:ext cx="8503920" cy="411480"/>
          </a:xfrm>
          <a:prstGeom prst="rect">
            <a:avLst/>
          </a:prstGeom>
          <a:noFill/>
          <a:ln/>
        </p:spPr>
        <p:txBody>
          <a:bodyPr wrap="square" rtlCol="0" anchor="ctr"/>
          <a:lstStyle/>
          <a:p>
            <a:pPr marL="0" indent="0">
              <a:buNone/>
            </a:pPr>
            <a:r>
              <a:rPr lang="en-US" sz="2200" b="1">
                <a:solidFill>
                  <a:srgbClr val="FFFFFF"/>
                </a:solidFill>
                <a:latin typeface="Georgia" pitchFamily="34" charset="0"/>
                <a:ea typeface="Georgia" pitchFamily="34" charset="-122"/>
                <a:cs typeface="Georgia" pitchFamily="34" charset="-120"/>
              </a:rPr>
              <a:t>Context &amp; Objective</a:t>
            </a:r>
            <a:endParaRPr lang="en-US" sz="2200"/>
          </a:p>
        </p:txBody>
      </p:sp>
      <p:sp>
        <p:nvSpPr>
          <p:cNvPr id="5" name="Text 3"/>
          <p:cNvSpPr/>
          <p:nvPr/>
        </p:nvSpPr>
        <p:spPr>
          <a:xfrm>
            <a:off x="411480" y="475488"/>
            <a:ext cx="8503920" cy="201168"/>
          </a:xfrm>
          <a:prstGeom prst="rect">
            <a:avLst/>
          </a:prstGeom>
          <a:noFill/>
          <a:ln/>
        </p:spPr>
        <p:txBody>
          <a:bodyPr wrap="square" rtlCol="0" anchor="ctr"/>
          <a:lstStyle/>
          <a:p>
            <a:pPr marL="0" indent="0">
              <a:buNone/>
            </a:pPr>
            <a:r>
              <a:rPr lang="en-US" sz="1100" i="1">
                <a:solidFill>
                  <a:srgbClr val="AABBD0"/>
                </a:solidFill>
                <a:latin typeface="Calibri" pitchFamily="34" charset="0"/>
                <a:ea typeface="Calibri" pitchFamily="34" charset="-122"/>
                <a:cs typeface="Calibri" pitchFamily="34" charset="-120"/>
              </a:rPr>
              <a:t>NovaCred is under regulatory inquiry for potential discrimination in lending — we act as the Data Governance Task Force</a:t>
            </a:r>
            <a:endParaRPr lang="en-US" sz="1100"/>
          </a:p>
        </p:txBody>
      </p:sp>
      <p:sp>
        <p:nvSpPr>
          <p:cNvPr id="6" name="Shape 4"/>
          <p:cNvSpPr/>
          <p:nvPr/>
        </p:nvSpPr>
        <p:spPr>
          <a:xfrm>
            <a:off x="365760" y="868680"/>
            <a:ext cx="2651760" cy="3840480"/>
          </a:xfrm>
          <a:prstGeom prst="rect">
            <a:avLst/>
          </a:prstGeom>
          <a:solidFill>
            <a:srgbClr val="FFFFFF"/>
          </a:solidFill>
          <a:ln w="12700">
            <a:solidFill>
              <a:srgbClr val="D8DDE6"/>
            </a:solidFill>
            <a:prstDash val="solid"/>
          </a:ln>
          <a:effectLst>
            <a:outerShdw blurRad="76200" dist="25400" dir="8100000" algn="bl" rotWithShape="0">
              <a:srgbClr val="000000">
                <a:alpha val="10000"/>
              </a:srgbClr>
            </a:outerShdw>
          </a:effectLst>
        </p:spPr>
        <p:txBody>
          <a:bodyPr/>
          <a:lstStyle/>
          <a:p>
            <a:endParaRPr lang="en-PT"/>
          </a:p>
        </p:txBody>
      </p:sp>
      <p:sp>
        <p:nvSpPr>
          <p:cNvPr id="7" name="Shape 5"/>
          <p:cNvSpPr/>
          <p:nvPr/>
        </p:nvSpPr>
        <p:spPr>
          <a:xfrm>
            <a:off x="365760" y="868680"/>
            <a:ext cx="2651760" cy="502920"/>
          </a:xfrm>
          <a:prstGeom prst="rect">
            <a:avLst/>
          </a:prstGeom>
          <a:solidFill>
            <a:srgbClr val="27AE60"/>
          </a:solidFill>
          <a:ln w="12700">
            <a:solidFill>
              <a:srgbClr val="27AE60"/>
            </a:solidFill>
            <a:prstDash val="solid"/>
          </a:ln>
        </p:spPr>
        <p:txBody>
          <a:bodyPr/>
          <a:lstStyle/>
          <a:p>
            <a:endParaRPr lang="en-PT"/>
          </a:p>
        </p:txBody>
      </p:sp>
      <p:sp>
        <p:nvSpPr>
          <p:cNvPr id="8" name="Text 6"/>
          <p:cNvSpPr/>
          <p:nvPr/>
        </p:nvSpPr>
        <p:spPr>
          <a:xfrm>
            <a:off x="365760" y="886968"/>
            <a:ext cx="2651760" cy="457200"/>
          </a:xfrm>
          <a:prstGeom prst="rect">
            <a:avLst/>
          </a:prstGeom>
          <a:noFill/>
          <a:ln/>
        </p:spPr>
        <p:txBody>
          <a:bodyPr wrap="square" rtlCol="0" anchor="ctr"/>
          <a:lstStyle/>
          <a:p>
            <a:pPr marL="0" indent="0" algn="ctr">
              <a:buNone/>
            </a:pPr>
            <a:r>
              <a:rPr lang="en-US" sz="2800" b="1">
                <a:solidFill>
                  <a:srgbClr val="FFFFFF"/>
                </a:solidFill>
                <a:latin typeface="Georgia" pitchFamily="34" charset="0"/>
                <a:ea typeface="Georgia" pitchFamily="34" charset="-122"/>
                <a:cs typeface="Georgia" pitchFamily="34" charset="-120"/>
              </a:rPr>
              <a:t>01</a:t>
            </a:r>
            <a:endParaRPr lang="en-US" sz="2800"/>
          </a:p>
        </p:txBody>
      </p:sp>
      <p:sp>
        <p:nvSpPr>
          <p:cNvPr id="9" name="Text 7"/>
          <p:cNvSpPr/>
          <p:nvPr/>
        </p:nvSpPr>
        <p:spPr>
          <a:xfrm>
            <a:off x="502920" y="1444752"/>
            <a:ext cx="2377440" cy="502920"/>
          </a:xfrm>
          <a:prstGeom prst="rect">
            <a:avLst/>
          </a:prstGeom>
          <a:noFill/>
          <a:ln/>
        </p:spPr>
        <p:txBody>
          <a:bodyPr wrap="square" rtlCol="0" anchor="ctr"/>
          <a:lstStyle/>
          <a:p>
            <a:pPr marL="0" indent="0" algn="ctr">
              <a:buNone/>
            </a:pPr>
            <a:r>
              <a:rPr lang="en-US" sz="1300" b="1">
                <a:solidFill>
                  <a:srgbClr val="27AE60"/>
                </a:solidFill>
                <a:latin typeface="Calibri" pitchFamily="34" charset="0"/>
                <a:ea typeface="Calibri" pitchFamily="34" charset="-122"/>
                <a:cs typeface="Calibri" pitchFamily="34" charset="-120"/>
              </a:rPr>
              <a:t>Audit Data Quality</a:t>
            </a:r>
            <a:endParaRPr lang="en-US" sz="1300"/>
          </a:p>
        </p:txBody>
      </p:sp>
      <p:sp>
        <p:nvSpPr>
          <p:cNvPr id="10" name="Shape 8"/>
          <p:cNvSpPr/>
          <p:nvPr/>
        </p:nvSpPr>
        <p:spPr>
          <a:xfrm>
            <a:off x="594360" y="1993392"/>
            <a:ext cx="2194560" cy="0"/>
          </a:xfrm>
          <a:prstGeom prst="line">
            <a:avLst/>
          </a:prstGeom>
          <a:noFill/>
          <a:ln w="12700">
            <a:solidFill>
              <a:srgbClr val="D8DDE6"/>
            </a:solidFill>
            <a:prstDash val="solid"/>
          </a:ln>
        </p:spPr>
        <p:txBody>
          <a:bodyPr/>
          <a:lstStyle/>
          <a:p>
            <a:endParaRPr lang="en-PT"/>
          </a:p>
        </p:txBody>
      </p:sp>
      <p:sp>
        <p:nvSpPr>
          <p:cNvPr id="11" name="Text 9"/>
          <p:cNvSpPr/>
          <p:nvPr/>
        </p:nvSpPr>
        <p:spPr>
          <a:xfrm>
            <a:off x="502920" y="2084832"/>
            <a:ext cx="2377440" cy="2514600"/>
          </a:xfrm>
          <a:prstGeom prst="rect">
            <a:avLst/>
          </a:prstGeom>
          <a:noFill/>
          <a:ln/>
        </p:spPr>
        <p:txBody>
          <a:bodyPr wrap="square" rtlCol="0" anchor="t"/>
          <a:lstStyle/>
          <a:p>
            <a:pPr marL="0" indent="0">
              <a:buNone/>
            </a:pPr>
            <a:r>
              <a:rPr lang="en-US" sz="1100">
                <a:solidFill>
                  <a:srgbClr val="3D4A5C"/>
                </a:solidFill>
                <a:latin typeface="Calibri" pitchFamily="34" charset="0"/>
                <a:ea typeface="Calibri" pitchFamily="34" charset="-122"/>
                <a:cs typeface="Calibri" pitchFamily="34" charset="-120"/>
              </a:rPr>
              <a:t>Assessed 502 raw records across four quality dimensions. Resolved duplicate IDs, five-variant gender encoding, four date formats, and an undocumented income field merge. Output: 500 records, 34 columns.</a:t>
            </a:r>
            <a:endParaRPr lang="en-US" sz="1100"/>
          </a:p>
        </p:txBody>
      </p:sp>
      <p:sp>
        <p:nvSpPr>
          <p:cNvPr id="12" name="Shape 10"/>
          <p:cNvSpPr/>
          <p:nvPr/>
        </p:nvSpPr>
        <p:spPr>
          <a:xfrm>
            <a:off x="3200400" y="868680"/>
            <a:ext cx="2651760" cy="3840480"/>
          </a:xfrm>
          <a:prstGeom prst="rect">
            <a:avLst/>
          </a:prstGeom>
          <a:solidFill>
            <a:srgbClr val="FFFFFF"/>
          </a:solidFill>
          <a:ln w="12700">
            <a:solidFill>
              <a:srgbClr val="D8DDE6"/>
            </a:solidFill>
            <a:prstDash val="solid"/>
          </a:ln>
          <a:effectLst>
            <a:outerShdw blurRad="76200" dist="25400" dir="8100000" algn="bl" rotWithShape="0">
              <a:srgbClr val="000000">
                <a:alpha val="10000"/>
              </a:srgbClr>
            </a:outerShdw>
          </a:effectLst>
        </p:spPr>
        <p:txBody>
          <a:bodyPr/>
          <a:lstStyle/>
          <a:p>
            <a:endParaRPr lang="en-PT"/>
          </a:p>
        </p:txBody>
      </p:sp>
      <p:sp>
        <p:nvSpPr>
          <p:cNvPr id="13" name="Shape 11"/>
          <p:cNvSpPr/>
          <p:nvPr/>
        </p:nvSpPr>
        <p:spPr>
          <a:xfrm>
            <a:off x="3200400" y="868680"/>
            <a:ext cx="2651760" cy="502920"/>
          </a:xfrm>
          <a:prstGeom prst="rect">
            <a:avLst/>
          </a:prstGeom>
          <a:solidFill>
            <a:srgbClr val="E67E22"/>
          </a:solidFill>
          <a:ln w="12700">
            <a:solidFill>
              <a:srgbClr val="E67E22"/>
            </a:solidFill>
            <a:prstDash val="solid"/>
          </a:ln>
        </p:spPr>
        <p:txBody>
          <a:bodyPr/>
          <a:lstStyle/>
          <a:p>
            <a:endParaRPr lang="en-PT"/>
          </a:p>
        </p:txBody>
      </p:sp>
      <p:sp>
        <p:nvSpPr>
          <p:cNvPr id="14" name="Text 12"/>
          <p:cNvSpPr/>
          <p:nvPr/>
        </p:nvSpPr>
        <p:spPr>
          <a:xfrm>
            <a:off x="3200400" y="886968"/>
            <a:ext cx="2651760" cy="457200"/>
          </a:xfrm>
          <a:prstGeom prst="rect">
            <a:avLst/>
          </a:prstGeom>
          <a:noFill/>
          <a:ln/>
        </p:spPr>
        <p:txBody>
          <a:bodyPr wrap="square" rtlCol="0" anchor="ctr"/>
          <a:lstStyle/>
          <a:p>
            <a:pPr marL="0" indent="0" algn="ctr">
              <a:buNone/>
            </a:pPr>
            <a:r>
              <a:rPr lang="en-US" sz="2800" b="1">
                <a:solidFill>
                  <a:srgbClr val="FFFFFF"/>
                </a:solidFill>
                <a:latin typeface="Georgia" pitchFamily="34" charset="0"/>
                <a:ea typeface="Georgia" pitchFamily="34" charset="-122"/>
                <a:cs typeface="Georgia" pitchFamily="34" charset="-120"/>
              </a:rPr>
              <a:t>02</a:t>
            </a:r>
            <a:endParaRPr lang="en-US" sz="2800"/>
          </a:p>
        </p:txBody>
      </p:sp>
      <p:sp>
        <p:nvSpPr>
          <p:cNvPr id="15" name="Text 13"/>
          <p:cNvSpPr/>
          <p:nvPr/>
        </p:nvSpPr>
        <p:spPr>
          <a:xfrm>
            <a:off x="3337560" y="1444752"/>
            <a:ext cx="2377440" cy="502920"/>
          </a:xfrm>
          <a:prstGeom prst="rect">
            <a:avLst/>
          </a:prstGeom>
          <a:noFill/>
          <a:ln/>
        </p:spPr>
        <p:txBody>
          <a:bodyPr wrap="square" rtlCol="0" anchor="ctr"/>
          <a:lstStyle/>
          <a:p>
            <a:pPr marL="0" indent="0" algn="ctr">
              <a:buNone/>
            </a:pPr>
            <a:r>
              <a:rPr lang="en-US" sz="1300" b="1">
                <a:solidFill>
                  <a:srgbClr val="E67E22"/>
                </a:solidFill>
                <a:latin typeface="Calibri" pitchFamily="34" charset="0"/>
                <a:ea typeface="Calibri" pitchFamily="34" charset="-122"/>
                <a:cs typeface="Calibri" pitchFamily="34" charset="-120"/>
              </a:rPr>
              <a:t>Bias &amp; Fairness Analysis</a:t>
            </a:r>
            <a:endParaRPr lang="en-US" sz="1300"/>
          </a:p>
        </p:txBody>
      </p:sp>
      <p:sp>
        <p:nvSpPr>
          <p:cNvPr id="16" name="Shape 14"/>
          <p:cNvSpPr/>
          <p:nvPr/>
        </p:nvSpPr>
        <p:spPr>
          <a:xfrm>
            <a:off x="3429000" y="1993392"/>
            <a:ext cx="2194560" cy="0"/>
          </a:xfrm>
          <a:prstGeom prst="line">
            <a:avLst/>
          </a:prstGeom>
          <a:noFill/>
          <a:ln w="12700">
            <a:solidFill>
              <a:srgbClr val="D8DDE6"/>
            </a:solidFill>
            <a:prstDash val="solid"/>
          </a:ln>
        </p:spPr>
        <p:txBody>
          <a:bodyPr/>
          <a:lstStyle/>
          <a:p>
            <a:endParaRPr lang="en-PT"/>
          </a:p>
        </p:txBody>
      </p:sp>
      <p:sp>
        <p:nvSpPr>
          <p:cNvPr id="17" name="Text 15"/>
          <p:cNvSpPr/>
          <p:nvPr/>
        </p:nvSpPr>
        <p:spPr>
          <a:xfrm>
            <a:off x="3337560" y="2084832"/>
            <a:ext cx="2377440" cy="2514600"/>
          </a:xfrm>
          <a:prstGeom prst="rect">
            <a:avLst/>
          </a:prstGeom>
          <a:noFill/>
          <a:ln/>
        </p:spPr>
        <p:txBody>
          <a:bodyPr wrap="square" rtlCol="0" anchor="t"/>
          <a:lstStyle/>
          <a:p>
            <a:pPr marL="0" indent="0">
              <a:buNone/>
            </a:pPr>
            <a:r>
              <a:rPr lang="en-US" sz="1100">
                <a:solidFill>
                  <a:srgbClr val="3D4A5C"/>
                </a:solidFill>
                <a:latin typeface="Calibri" pitchFamily="34" charset="0"/>
                <a:ea typeface="Calibri" pitchFamily="34" charset="-122"/>
                <a:cs typeface="Calibri" pitchFamily="34" charset="-120"/>
              </a:rPr>
              <a:t>Assessed lending decisions for discriminatory patterns. Gender DI = 0.77 breaches the 0.80 four-fifths threshold. ZIP code is a strong gender proxy (AUC = 0.864). Age and intersectional disparities confirmed.</a:t>
            </a:r>
            <a:endParaRPr lang="en-US" sz="1100"/>
          </a:p>
        </p:txBody>
      </p:sp>
      <p:sp>
        <p:nvSpPr>
          <p:cNvPr id="18" name="Shape 16"/>
          <p:cNvSpPr/>
          <p:nvPr/>
        </p:nvSpPr>
        <p:spPr>
          <a:xfrm>
            <a:off x="6035040" y="868680"/>
            <a:ext cx="2651760" cy="3840480"/>
          </a:xfrm>
          <a:prstGeom prst="rect">
            <a:avLst/>
          </a:prstGeom>
          <a:solidFill>
            <a:srgbClr val="FFFFFF"/>
          </a:solidFill>
          <a:ln w="12700">
            <a:solidFill>
              <a:srgbClr val="D8DDE6"/>
            </a:solidFill>
            <a:prstDash val="solid"/>
          </a:ln>
          <a:effectLst>
            <a:outerShdw blurRad="76200" dist="25400" dir="8100000" algn="bl" rotWithShape="0">
              <a:srgbClr val="000000">
                <a:alpha val="10000"/>
              </a:srgbClr>
            </a:outerShdw>
          </a:effectLst>
        </p:spPr>
        <p:txBody>
          <a:bodyPr/>
          <a:lstStyle/>
          <a:p>
            <a:endParaRPr lang="en-PT"/>
          </a:p>
        </p:txBody>
      </p:sp>
      <p:sp>
        <p:nvSpPr>
          <p:cNvPr id="19" name="Shape 17"/>
          <p:cNvSpPr/>
          <p:nvPr/>
        </p:nvSpPr>
        <p:spPr>
          <a:xfrm>
            <a:off x="6035040" y="868680"/>
            <a:ext cx="2651760" cy="502920"/>
          </a:xfrm>
          <a:prstGeom prst="rect">
            <a:avLst/>
          </a:prstGeom>
          <a:solidFill>
            <a:srgbClr val="C0392B"/>
          </a:solidFill>
          <a:ln w="12700">
            <a:solidFill>
              <a:srgbClr val="C0392B"/>
            </a:solidFill>
            <a:prstDash val="solid"/>
          </a:ln>
        </p:spPr>
        <p:txBody>
          <a:bodyPr/>
          <a:lstStyle/>
          <a:p>
            <a:endParaRPr lang="en-PT"/>
          </a:p>
        </p:txBody>
      </p:sp>
      <p:sp>
        <p:nvSpPr>
          <p:cNvPr id="20" name="Text 18"/>
          <p:cNvSpPr/>
          <p:nvPr/>
        </p:nvSpPr>
        <p:spPr>
          <a:xfrm>
            <a:off x="6035040" y="886968"/>
            <a:ext cx="2651760" cy="457200"/>
          </a:xfrm>
          <a:prstGeom prst="rect">
            <a:avLst/>
          </a:prstGeom>
          <a:noFill/>
          <a:ln/>
        </p:spPr>
        <p:txBody>
          <a:bodyPr wrap="square" rtlCol="0" anchor="ctr"/>
          <a:lstStyle/>
          <a:p>
            <a:pPr marL="0" indent="0" algn="ctr">
              <a:buNone/>
            </a:pPr>
            <a:r>
              <a:rPr lang="en-US" sz="2800" b="1">
                <a:solidFill>
                  <a:srgbClr val="FFFFFF"/>
                </a:solidFill>
                <a:latin typeface="Georgia" pitchFamily="34" charset="0"/>
                <a:ea typeface="Georgia" pitchFamily="34" charset="-122"/>
                <a:cs typeface="Georgia" pitchFamily="34" charset="-120"/>
              </a:rPr>
              <a:t>03</a:t>
            </a:r>
            <a:endParaRPr lang="en-US" sz="2800"/>
          </a:p>
        </p:txBody>
      </p:sp>
      <p:sp>
        <p:nvSpPr>
          <p:cNvPr id="21" name="Text 19"/>
          <p:cNvSpPr/>
          <p:nvPr/>
        </p:nvSpPr>
        <p:spPr>
          <a:xfrm>
            <a:off x="6172200" y="1444752"/>
            <a:ext cx="2377440" cy="502920"/>
          </a:xfrm>
          <a:prstGeom prst="rect">
            <a:avLst/>
          </a:prstGeom>
          <a:noFill/>
          <a:ln/>
        </p:spPr>
        <p:txBody>
          <a:bodyPr wrap="square" rtlCol="0" anchor="ctr"/>
          <a:lstStyle/>
          <a:p>
            <a:pPr marL="0" indent="0" algn="ctr">
              <a:buNone/>
            </a:pPr>
            <a:r>
              <a:rPr lang="en-US" sz="1300" b="1">
                <a:solidFill>
                  <a:srgbClr val="C0392B"/>
                </a:solidFill>
                <a:latin typeface="Calibri" pitchFamily="34" charset="0"/>
                <a:ea typeface="Calibri" pitchFamily="34" charset="-122"/>
                <a:cs typeface="Calibri" pitchFamily="34" charset="-120"/>
              </a:rPr>
              <a:t>Privacy &amp; Compliance</a:t>
            </a:r>
            <a:endParaRPr lang="en-US" sz="1300"/>
          </a:p>
        </p:txBody>
      </p:sp>
      <p:sp>
        <p:nvSpPr>
          <p:cNvPr id="22" name="Shape 20"/>
          <p:cNvSpPr/>
          <p:nvPr/>
        </p:nvSpPr>
        <p:spPr>
          <a:xfrm>
            <a:off x="6263640" y="1993392"/>
            <a:ext cx="2194560" cy="0"/>
          </a:xfrm>
          <a:prstGeom prst="line">
            <a:avLst/>
          </a:prstGeom>
          <a:noFill/>
          <a:ln w="12700">
            <a:solidFill>
              <a:srgbClr val="D8DDE6"/>
            </a:solidFill>
            <a:prstDash val="solid"/>
          </a:ln>
        </p:spPr>
        <p:txBody>
          <a:bodyPr/>
          <a:lstStyle/>
          <a:p>
            <a:endParaRPr lang="en-PT"/>
          </a:p>
        </p:txBody>
      </p:sp>
      <p:sp>
        <p:nvSpPr>
          <p:cNvPr id="23" name="Text 21"/>
          <p:cNvSpPr/>
          <p:nvPr/>
        </p:nvSpPr>
        <p:spPr>
          <a:xfrm>
            <a:off x="6172200" y="2084832"/>
            <a:ext cx="2377440" cy="2514600"/>
          </a:xfrm>
          <a:prstGeom prst="rect">
            <a:avLst/>
          </a:prstGeom>
          <a:noFill/>
          <a:ln/>
        </p:spPr>
        <p:txBody>
          <a:bodyPr wrap="square" rtlCol="0" anchor="t"/>
          <a:lstStyle/>
          <a:p>
            <a:pPr marL="0" indent="0">
              <a:buNone/>
            </a:pPr>
            <a:r>
              <a:rPr lang="en-US" sz="1100">
                <a:solidFill>
                  <a:srgbClr val="3D4A5C"/>
                </a:solidFill>
                <a:latin typeface="Calibri" pitchFamily="34" charset="0"/>
                <a:ea typeface="Calibri" pitchFamily="34" charset="-122"/>
                <a:cs typeface="Calibri" pitchFamily="34" charset="-120"/>
              </a:rPr>
              <a:t>Catalogued PII across four risk categories. Identified 8 GDPR and EU AI Act gaps. Confirmed Annex III High-Risk classification. Demonstrated SHA-256 pseudonymisation and right-to-erasure simulation.</a:t>
            </a:r>
            <a:endParaRPr lang="en-US" sz="1100"/>
          </a:p>
        </p:txBody>
      </p:sp>
      <p:sp>
        <p:nvSpPr>
          <p:cNvPr id="24" name="Shape 22"/>
          <p:cNvSpPr/>
          <p:nvPr/>
        </p:nvSpPr>
        <p:spPr>
          <a:xfrm>
            <a:off x="0" y="4864608"/>
            <a:ext cx="9144000" cy="278892"/>
          </a:xfrm>
          <a:prstGeom prst="rect">
            <a:avLst/>
          </a:prstGeom>
          <a:solidFill>
            <a:srgbClr val="000000"/>
          </a:solidFill>
          <a:ln w="12700">
            <a:solidFill>
              <a:srgbClr val="000000"/>
            </a:solidFill>
            <a:prstDash val="solid"/>
          </a:ln>
        </p:spPr>
        <p:txBody>
          <a:bodyPr/>
          <a:lstStyle/>
          <a:p>
            <a:endParaRPr lang="en-PT"/>
          </a:p>
        </p:txBody>
      </p:sp>
      <p:sp>
        <p:nvSpPr>
          <p:cNvPr id="25" name="Text 23"/>
          <p:cNvSpPr/>
          <p:nvPr/>
        </p:nvSpPr>
        <p:spPr>
          <a:xfrm>
            <a:off x="274320" y="4873752"/>
            <a:ext cx="8046720" cy="246888"/>
          </a:xfrm>
          <a:prstGeom prst="rect">
            <a:avLst/>
          </a:prstGeom>
          <a:noFill/>
          <a:ln/>
        </p:spPr>
        <p:txBody>
          <a:bodyPr wrap="square" rtlCol="0" anchor="ctr"/>
          <a:lstStyle/>
          <a:p>
            <a:pPr marL="0" indent="0">
              <a:buNone/>
            </a:pPr>
            <a:r>
              <a:rPr lang="en-US" sz="800">
                <a:solidFill>
                  <a:srgbClr val="999999"/>
                </a:solidFill>
                <a:latin typeface="Calibri" pitchFamily="34" charset="0"/>
                <a:ea typeface="Calibri" pitchFamily="34" charset="-122"/>
                <a:cs typeface="Calibri" pitchFamily="34" charset="-120"/>
              </a:rPr>
              <a:t>Team 14 — TXB  |  NovaCred Credit Governance  |  DEGO 2606, Nova SBE</a:t>
            </a:r>
            <a:endParaRPr lang="en-US" sz="800"/>
          </a:p>
        </p:txBody>
      </p:sp>
      <p:sp>
        <p:nvSpPr>
          <p:cNvPr id="26" name="Text 24"/>
          <p:cNvSpPr/>
          <p:nvPr/>
        </p:nvSpPr>
        <p:spPr>
          <a:xfrm>
            <a:off x="8686800" y="4873752"/>
            <a:ext cx="365760" cy="246888"/>
          </a:xfrm>
          <a:prstGeom prst="rect">
            <a:avLst/>
          </a:prstGeom>
          <a:noFill/>
          <a:ln/>
        </p:spPr>
        <p:txBody>
          <a:bodyPr wrap="square" rtlCol="0" anchor="ctr"/>
          <a:lstStyle/>
          <a:p>
            <a:pPr marL="0" indent="0" algn="r">
              <a:buNone/>
            </a:pPr>
            <a:r>
              <a:rPr lang="en-US" sz="950">
                <a:solidFill>
                  <a:srgbClr val="999999"/>
                </a:solidFill>
                <a:latin typeface="Calibri" pitchFamily="34" charset="0"/>
                <a:ea typeface="Calibri" pitchFamily="34" charset="-122"/>
                <a:cs typeface="Calibri" pitchFamily="34" charset="-120"/>
              </a:rPr>
              <a:t>3</a:t>
            </a:r>
            <a:endParaRPr lang="en-US" sz="95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A2744"/>
          </a:solidFill>
          <a:ln w="12700">
            <a:solidFill>
              <a:srgbClr val="1A2744"/>
            </a:solidFill>
            <a:prstDash val="solid"/>
          </a:ln>
        </p:spPr>
        <p:txBody>
          <a:bodyPr/>
          <a:lstStyle/>
          <a:p>
            <a:endParaRPr lang="en-PT"/>
          </a:p>
        </p:txBody>
      </p:sp>
      <p:sp>
        <p:nvSpPr>
          <p:cNvPr id="3" name="Shape 1"/>
          <p:cNvSpPr/>
          <p:nvPr/>
        </p:nvSpPr>
        <p:spPr>
          <a:xfrm>
            <a:off x="0" y="0"/>
            <a:ext cx="274320" cy="713232"/>
          </a:xfrm>
          <a:prstGeom prst="rect">
            <a:avLst/>
          </a:prstGeom>
          <a:solidFill>
            <a:srgbClr val="C0392B"/>
          </a:solidFill>
          <a:ln w="12700">
            <a:solidFill>
              <a:srgbClr val="C0392B"/>
            </a:solidFill>
            <a:prstDash val="solid"/>
          </a:ln>
        </p:spPr>
        <p:txBody>
          <a:bodyPr/>
          <a:lstStyle/>
          <a:p>
            <a:endParaRPr lang="en-PT"/>
          </a:p>
        </p:txBody>
      </p:sp>
      <p:sp>
        <p:nvSpPr>
          <p:cNvPr id="4" name="Text 2"/>
          <p:cNvSpPr/>
          <p:nvPr/>
        </p:nvSpPr>
        <p:spPr>
          <a:xfrm>
            <a:off x="411480" y="73152"/>
            <a:ext cx="8503920" cy="411480"/>
          </a:xfrm>
          <a:prstGeom prst="rect">
            <a:avLst/>
          </a:prstGeom>
          <a:noFill/>
          <a:ln/>
        </p:spPr>
        <p:txBody>
          <a:bodyPr wrap="square" rtlCol="0" anchor="ctr"/>
          <a:lstStyle/>
          <a:p>
            <a:pPr marL="0" indent="0">
              <a:buNone/>
            </a:pPr>
            <a:r>
              <a:rPr lang="en-US" sz="2200" b="1">
                <a:solidFill>
                  <a:srgbClr val="FFFFFF"/>
                </a:solidFill>
                <a:latin typeface="Georgia" pitchFamily="34" charset="0"/>
                <a:ea typeface="Georgia" pitchFamily="34" charset="-122"/>
                <a:cs typeface="Georgia" pitchFamily="34" charset="-120"/>
              </a:rPr>
              <a:t>Data Quality — Findings &amp; Remediation</a:t>
            </a:r>
            <a:endParaRPr lang="en-US" sz="2200"/>
          </a:p>
        </p:txBody>
      </p:sp>
      <p:sp>
        <p:nvSpPr>
          <p:cNvPr id="5" name="Text 3"/>
          <p:cNvSpPr/>
          <p:nvPr/>
        </p:nvSpPr>
        <p:spPr>
          <a:xfrm>
            <a:off x="411480" y="475488"/>
            <a:ext cx="8503920" cy="201168"/>
          </a:xfrm>
          <a:prstGeom prst="rect">
            <a:avLst/>
          </a:prstGeom>
          <a:noFill/>
          <a:ln/>
        </p:spPr>
        <p:txBody>
          <a:bodyPr wrap="square" rtlCol="0" anchor="ctr"/>
          <a:lstStyle/>
          <a:p>
            <a:pPr marL="0" indent="0">
              <a:buNone/>
            </a:pPr>
            <a:r>
              <a:rPr lang="en-US" sz="1100" i="1">
                <a:solidFill>
                  <a:srgbClr val="AABBD0"/>
                </a:solidFill>
                <a:latin typeface="Calibri" pitchFamily="34" charset="0"/>
                <a:ea typeface="Calibri" pitchFamily="34" charset="-122"/>
                <a:cs typeface="Calibri" pitchFamily="34" charset="-120"/>
              </a:rPr>
              <a:t>Notebook 01  |  João Marques Roque — Data Engineer</a:t>
            </a:r>
            <a:endParaRPr lang="en-US" sz="1100"/>
          </a:p>
        </p:txBody>
      </p:sp>
      <p:sp>
        <p:nvSpPr>
          <p:cNvPr id="6" name="Shape 4"/>
          <p:cNvSpPr/>
          <p:nvPr/>
        </p:nvSpPr>
        <p:spPr>
          <a:xfrm>
            <a:off x="274320" y="795528"/>
            <a:ext cx="4206240" cy="228600"/>
          </a:xfrm>
          <a:prstGeom prst="rect">
            <a:avLst/>
          </a:prstGeom>
          <a:solidFill>
            <a:srgbClr val="27AE60"/>
          </a:solidFill>
          <a:ln w="12700">
            <a:solidFill>
              <a:srgbClr val="27AE60"/>
            </a:solidFill>
            <a:prstDash val="solid"/>
          </a:ln>
        </p:spPr>
        <p:txBody>
          <a:bodyPr/>
          <a:lstStyle/>
          <a:p>
            <a:endParaRPr lang="en-PT"/>
          </a:p>
        </p:txBody>
      </p:sp>
      <p:sp>
        <p:nvSpPr>
          <p:cNvPr id="7" name="Text 5"/>
          <p:cNvSpPr/>
          <p:nvPr/>
        </p:nvSpPr>
        <p:spPr>
          <a:xfrm>
            <a:off x="320040" y="804672"/>
            <a:ext cx="4114800" cy="201168"/>
          </a:xfrm>
          <a:prstGeom prst="rect">
            <a:avLst/>
          </a:prstGeom>
          <a:noFill/>
          <a:ln/>
        </p:spPr>
        <p:txBody>
          <a:bodyPr wrap="square" rtlCol="0" anchor="ctr"/>
          <a:lstStyle/>
          <a:p>
            <a:pPr marL="0" indent="0">
              <a:buNone/>
            </a:pPr>
            <a:r>
              <a:rPr lang="en-US" sz="1000" b="1">
                <a:solidFill>
                  <a:srgbClr val="FFFFFF"/>
                </a:solidFill>
                <a:latin typeface="Calibri" pitchFamily="34" charset="0"/>
                <a:ea typeface="Calibri" pitchFamily="34" charset="-122"/>
                <a:cs typeface="Calibri" pitchFamily="34" charset="-120"/>
              </a:rPr>
              <a:t>1.1  COMPLETENESS</a:t>
            </a:r>
            <a:endParaRPr lang="en-US" sz="1000"/>
          </a:p>
        </p:txBody>
      </p:sp>
      <p:sp>
        <p:nvSpPr>
          <p:cNvPr id="8" name="Shape 6"/>
          <p:cNvSpPr/>
          <p:nvPr/>
        </p:nvSpPr>
        <p:spPr>
          <a:xfrm>
            <a:off x="274320" y="1060704"/>
            <a:ext cx="64008" cy="512064"/>
          </a:xfrm>
          <a:prstGeom prst="rect">
            <a:avLst/>
          </a:prstGeom>
          <a:solidFill>
            <a:srgbClr val="27AE60"/>
          </a:solidFill>
          <a:ln w="12700">
            <a:solidFill>
              <a:srgbClr val="27AE60"/>
            </a:solidFill>
            <a:prstDash val="solid"/>
          </a:ln>
        </p:spPr>
        <p:txBody>
          <a:bodyPr/>
          <a:lstStyle/>
          <a:p>
            <a:endParaRPr lang="en-PT"/>
          </a:p>
        </p:txBody>
      </p:sp>
      <p:sp>
        <p:nvSpPr>
          <p:cNvPr id="9" name="Text 7"/>
          <p:cNvSpPr/>
          <p:nvPr/>
        </p:nvSpPr>
        <p:spPr>
          <a:xfrm>
            <a:off x="402336" y="1060704"/>
            <a:ext cx="4005072" cy="201168"/>
          </a:xfrm>
          <a:prstGeom prst="rect">
            <a:avLst/>
          </a:prstGeom>
          <a:noFill/>
          <a:ln/>
        </p:spPr>
        <p:txBody>
          <a:bodyPr wrap="square" rtlCol="0" anchor="ctr"/>
          <a:lstStyle/>
          <a:p>
            <a:pPr marL="0" indent="0">
              <a:buNone/>
            </a:pPr>
            <a:r>
              <a:rPr lang="en-US" sz="900" b="1">
                <a:solidFill>
                  <a:srgbClr val="1A2744"/>
                </a:solidFill>
                <a:latin typeface="Calibri" pitchFamily="34" charset="0"/>
                <a:ea typeface="Calibri" pitchFamily="34" charset="-122"/>
                <a:cs typeface="Calibri" pitchFamily="34" charset="-120"/>
              </a:rPr>
              <a:t>Missing Values</a:t>
            </a:r>
            <a:endParaRPr lang="en-US" sz="900"/>
          </a:p>
        </p:txBody>
      </p:sp>
      <p:sp>
        <p:nvSpPr>
          <p:cNvPr id="10" name="Text 8"/>
          <p:cNvSpPr/>
          <p:nvPr/>
        </p:nvSpPr>
        <p:spPr>
          <a:xfrm>
            <a:off x="402336" y="1243584"/>
            <a:ext cx="4005072" cy="292608"/>
          </a:xfrm>
          <a:prstGeom prst="rect">
            <a:avLst/>
          </a:prstGeom>
          <a:noFill/>
          <a:ln/>
        </p:spPr>
        <p:txBody>
          <a:bodyPr wrap="square" rtlCol="0" anchor="ctr"/>
          <a:lstStyle/>
          <a:p>
            <a:pPr marL="0" indent="0">
              <a:buNone/>
            </a:pPr>
            <a:r>
              <a:rPr lang="en-US" sz="950">
                <a:solidFill>
                  <a:srgbClr val="3D4A5C"/>
                </a:solidFill>
                <a:latin typeface="Calibri" pitchFamily="34" charset="0"/>
                <a:ea typeface="Calibri" pitchFamily="34" charset="-122"/>
                <a:cs typeface="Calibri" pitchFamily="34" charset="-120"/>
              </a:rPr>
              <a:t>processing_timestamp 87.6% · loan_purpose 90.0% · rejection_reason 58.2% — structural gaps with GDPR audit trail implications</a:t>
            </a:r>
            <a:endParaRPr lang="en-US" sz="950"/>
          </a:p>
        </p:txBody>
      </p:sp>
      <p:sp>
        <p:nvSpPr>
          <p:cNvPr id="11" name="Shape 9"/>
          <p:cNvSpPr/>
          <p:nvPr/>
        </p:nvSpPr>
        <p:spPr>
          <a:xfrm>
            <a:off x="274320" y="1700784"/>
            <a:ext cx="64008" cy="512064"/>
          </a:xfrm>
          <a:prstGeom prst="rect">
            <a:avLst/>
          </a:prstGeom>
          <a:solidFill>
            <a:srgbClr val="27AE60"/>
          </a:solidFill>
          <a:ln w="12700">
            <a:solidFill>
              <a:srgbClr val="27AE60"/>
            </a:solidFill>
            <a:prstDash val="solid"/>
          </a:ln>
        </p:spPr>
        <p:txBody>
          <a:bodyPr/>
          <a:lstStyle/>
          <a:p>
            <a:endParaRPr lang="en-PT"/>
          </a:p>
        </p:txBody>
      </p:sp>
      <p:sp>
        <p:nvSpPr>
          <p:cNvPr id="12" name="Text 10"/>
          <p:cNvSpPr/>
          <p:nvPr/>
        </p:nvSpPr>
        <p:spPr>
          <a:xfrm>
            <a:off x="402336" y="1700784"/>
            <a:ext cx="4005072" cy="201168"/>
          </a:xfrm>
          <a:prstGeom prst="rect">
            <a:avLst/>
          </a:prstGeom>
          <a:noFill/>
          <a:ln/>
        </p:spPr>
        <p:txBody>
          <a:bodyPr wrap="square" rtlCol="0" anchor="ctr"/>
          <a:lstStyle/>
          <a:p>
            <a:pPr marL="0" indent="0">
              <a:buNone/>
            </a:pPr>
            <a:r>
              <a:rPr lang="en-US" sz="900" b="1">
                <a:solidFill>
                  <a:srgbClr val="1A2744"/>
                </a:solidFill>
                <a:latin typeface="Calibri" pitchFamily="34" charset="0"/>
                <a:ea typeface="Calibri" pitchFamily="34" charset="-122"/>
                <a:cs typeface="Calibri" pitchFamily="34" charset="-120"/>
              </a:rPr>
              <a:t>annual_salary → annual_income merge</a:t>
            </a:r>
            <a:endParaRPr lang="en-US" sz="900"/>
          </a:p>
        </p:txBody>
      </p:sp>
      <p:sp>
        <p:nvSpPr>
          <p:cNvPr id="13" name="Text 11"/>
          <p:cNvSpPr/>
          <p:nvPr/>
        </p:nvSpPr>
        <p:spPr>
          <a:xfrm>
            <a:off x="402336" y="1883664"/>
            <a:ext cx="4005072" cy="292608"/>
          </a:xfrm>
          <a:prstGeom prst="rect">
            <a:avLst/>
          </a:prstGeom>
          <a:noFill/>
          <a:ln/>
        </p:spPr>
        <p:txBody>
          <a:bodyPr wrap="square" rtlCol="0" anchor="ctr"/>
          <a:lstStyle/>
          <a:p>
            <a:pPr marL="0" indent="0">
              <a:buNone/>
            </a:pPr>
            <a:r>
              <a:rPr lang="en-US" sz="950">
                <a:solidFill>
                  <a:srgbClr val="3D4A5C"/>
                </a:solidFill>
                <a:latin typeface="Calibri" pitchFamily="34" charset="0"/>
                <a:ea typeface="Calibri" pitchFamily="34" charset="-122"/>
                <a:cs typeface="Calibri" pitchFamily="34" charset="-120"/>
              </a:rPr>
              <a:t>Duplicate income field — annual_salary merged into annual_income, original column dropped, dtype corrected.</a:t>
            </a:r>
            <a:endParaRPr lang="en-US" sz="950"/>
          </a:p>
        </p:txBody>
      </p:sp>
      <p:sp>
        <p:nvSpPr>
          <p:cNvPr id="14" name="Shape 12"/>
          <p:cNvSpPr/>
          <p:nvPr/>
        </p:nvSpPr>
        <p:spPr>
          <a:xfrm>
            <a:off x="274320" y="2377440"/>
            <a:ext cx="4206240" cy="228600"/>
          </a:xfrm>
          <a:prstGeom prst="rect">
            <a:avLst/>
          </a:prstGeom>
          <a:solidFill>
            <a:srgbClr val="27AE60"/>
          </a:solidFill>
          <a:ln w="12700">
            <a:solidFill>
              <a:srgbClr val="27AE60"/>
            </a:solidFill>
            <a:prstDash val="solid"/>
          </a:ln>
        </p:spPr>
        <p:txBody>
          <a:bodyPr/>
          <a:lstStyle/>
          <a:p>
            <a:endParaRPr lang="en-PT"/>
          </a:p>
        </p:txBody>
      </p:sp>
      <p:sp>
        <p:nvSpPr>
          <p:cNvPr id="15" name="Text 13"/>
          <p:cNvSpPr/>
          <p:nvPr/>
        </p:nvSpPr>
        <p:spPr>
          <a:xfrm>
            <a:off x="320040" y="2386584"/>
            <a:ext cx="4114800" cy="201168"/>
          </a:xfrm>
          <a:prstGeom prst="rect">
            <a:avLst/>
          </a:prstGeom>
          <a:noFill/>
          <a:ln/>
        </p:spPr>
        <p:txBody>
          <a:bodyPr wrap="square" rtlCol="0" anchor="ctr"/>
          <a:lstStyle/>
          <a:p>
            <a:pPr marL="0" indent="0">
              <a:buNone/>
            </a:pPr>
            <a:r>
              <a:rPr lang="en-US" sz="1000" b="1">
                <a:solidFill>
                  <a:srgbClr val="FFFFFF"/>
                </a:solidFill>
                <a:latin typeface="Calibri" pitchFamily="34" charset="0"/>
                <a:ea typeface="Calibri" pitchFamily="34" charset="-122"/>
                <a:cs typeface="Calibri" pitchFamily="34" charset="-120"/>
              </a:rPr>
              <a:t>1.2  CONSISTENCY</a:t>
            </a:r>
            <a:endParaRPr lang="en-US" sz="1000"/>
          </a:p>
        </p:txBody>
      </p:sp>
      <p:sp>
        <p:nvSpPr>
          <p:cNvPr id="16" name="Shape 14"/>
          <p:cNvSpPr/>
          <p:nvPr/>
        </p:nvSpPr>
        <p:spPr>
          <a:xfrm>
            <a:off x="274320" y="2651760"/>
            <a:ext cx="64008" cy="457200"/>
          </a:xfrm>
          <a:prstGeom prst="rect">
            <a:avLst/>
          </a:prstGeom>
          <a:solidFill>
            <a:srgbClr val="27AE60"/>
          </a:solidFill>
          <a:ln w="12700">
            <a:solidFill>
              <a:srgbClr val="27AE60"/>
            </a:solidFill>
            <a:prstDash val="solid"/>
          </a:ln>
        </p:spPr>
        <p:txBody>
          <a:bodyPr/>
          <a:lstStyle/>
          <a:p>
            <a:endParaRPr lang="en-PT"/>
          </a:p>
        </p:txBody>
      </p:sp>
      <p:sp>
        <p:nvSpPr>
          <p:cNvPr id="17" name="Text 15"/>
          <p:cNvSpPr/>
          <p:nvPr/>
        </p:nvSpPr>
        <p:spPr>
          <a:xfrm>
            <a:off x="402336" y="2651760"/>
            <a:ext cx="4005072" cy="182880"/>
          </a:xfrm>
          <a:prstGeom prst="rect">
            <a:avLst/>
          </a:prstGeom>
          <a:noFill/>
          <a:ln/>
        </p:spPr>
        <p:txBody>
          <a:bodyPr wrap="square" rtlCol="0" anchor="ctr"/>
          <a:lstStyle/>
          <a:p>
            <a:pPr marL="0" indent="0">
              <a:buNone/>
            </a:pPr>
            <a:r>
              <a:rPr lang="en-US" sz="900" b="1">
                <a:solidFill>
                  <a:srgbClr val="1A2744"/>
                </a:solidFill>
                <a:latin typeface="Calibri" pitchFamily="34" charset="0"/>
                <a:ea typeface="Calibri" pitchFamily="34" charset="-122"/>
                <a:cs typeface="Calibri" pitchFamily="34" charset="-120"/>
              </a:rPr>
              <a:t>Duplicate _id rows — 2 records (0.4%)</a:t>
            </a:r>
            <a:endParaRPr lang="en-US" sz="900"/>
          </a:p>
        </p:txBody>
      </p:sp>
      <p:sp>
        <p:nvSpPr>
          <p:cNvPr id="18" name="Text 16"/>
          <p:cNvSpPr/>
          <p:nvPr/>
        </p:nvSpPr>
        <p:spPr>
          <a:xfrm>
            <a:off x="402336" y="2825496"/>
            <a:ext cx="4005072" cy="256032"/>
          </a:xfrm>
          <a:prstGeom prst="rect">
            <a:avLst/>
          </a:prstGeom>
          <a:noFill/>
          <a:ln/>
        </p:spPr>
        <p:txBody>
          <a:bodyPr wrap="square" rtlCol="0" anchor="ctr"/>
          <a:lstStyle/>
          <a:p>
            <a:pPr marL="0" indent="0">
              <a:buNone/>
            </a:pPr>
            <a:r>
              <a:rPr lang="en-US" sz="950">
                <a:solidFill>
                  <a:srgbClr val="3D4A5C"/>
                </a:solidFill>
                <a:latin typeface="Calibri" pitchFamily="34" charset="0"/>
                <a:ea typeface="Calibri" pitchFamily="34" charset="-122"/>
                <a:cs typeface="Calibri" pitchFamily="34" charset="-120"/>
              </a:rPr>
              <a:t>app_001 and app_042 each appeared twice with conflicting field values. Most complete record retained per ID.</a:t>
            </a:r>
            <a:endParaRPr lang="en-US" sz="950"/>
          </a:p>
        </p:txBody>
      </p:sp>
      <p:sp>
        <p:nvSpPr>
          <p:cNvPr id="19" name="Shape 17"/>
          <p:cNvSpPr/>
          <p:nvPr/>
        </p:nvSpPr>
        <p:spPr>
          <a:xfrm>
            <a:off x="274320" y="3227832"/>
            <a:ext cx="64008" cy="457200"/>
          </a:xfrm>
          <a:prstGeom prst="rect">
            <a:avLst/>
          </a:prstGeom>
          <a:solidFill>
            <a:srgbClr val="27AE60"/>
          </a:solidFill>
          <a:ln w="12700">
            <a:solidFill>
              <a:srgbClr val="27AE60"/>
            </a:solidFill>
            <a:prstDash val="solid"/>
          </a:ln>
        </p:spPr>
        <p:txBody>
          <a:bodyPr/>
          <a:lstStyle/>
          <a:p>
            <a:endParaRPr lang="en-PT"/>
          </a:p>
        </p:txBody>
      </p:sp>
      <p:sp>
        <p:nvSpPr>
          <p:cNvPr id="20" name="Text 18"/>
          <p:cNvSpPr/>
          <p:nvPr/>
        </p:nvSpPr>
        <p:spPr>
          <a:xfrm>
            <a:off x="402336" y="3227832"/>
            <a:ext cx="4005072" cy="182880"/>
          </a:xfrm>
          <a:prstGeom prst="rect">
            <a:avLst/>
          </a:prstGeom>
          <a:noFill/>
          <a:ln/>
        </p:spPr>
        <p:txBody>
          <a:bodyPr wrap="square" rtlCol="0" anchor="ctr"/>
          <a:lstStyle/>
          <a:p>
            <a:pPr marL="0" indent="0">
              <a:buNone/>
            </a:pPr>
            <a:r>
              <a:rPr lang="en-US" sz="900" b="1">
                <a:solidFill>
                  <a:srgbClr val="1A2744"/>
                </a:solidFill>
                <a:latin typeface="Calibri" pitchFamily="34" charset="0"/>
                <a:ea typeface="Calibri" pitchFamily="34" charset="-122"/>
                <a:cs typeface="Calibri" pitchFamily="34" charset="-120"/>
              </a:rPr>
              <a:t>Gender — 5 distinct values</a:t>
            </a:r>
            <a:endParaRPr lang="en-US" sz="900"/>
          </a:p>
        </p:txBody>
      </p:sp>
      <p:sp>
        <p:nvSpPr>
          <p:cNvPr id="21" name="Text 19"/>
          <p:cNvSpPr/>
          <p:nvPr/>
        </p:nvSpPr>
        <p:spPr>
          <a:xfrm>
            <a:off x="402336" y="3401568"/>
            <a:ext cx="4005072" cy="256032"/>
          </a:xfrm>
          <a:prstGeom prst="rect">
            <a:avLst/>
          </a:prstGeom>
          <a:noFill/>
          <a:ln/>
        </p:spPr>
        <p:txBody>
          <a:bodyPr wrap="square" rtlCol="0" anchor="ctr"/>
          <a:lstStyle/>
          <a:p>
            <a:pPr marL="0" indent="0">
              <a:buNone/>
            </a:pPr>
            <a:r>
              <a:rPr lang="en-US" sz="950">
                <a:solidFill>
                  <a:srgbClr val="3D4A5C"/>
                </a:solidFill>
                <a:latin typeface="Calibri" pitchFamily="34" charset="0"/>
                <a:ea typeface="Calibri" pitchFamily="34" charset="-122"/>
                <a:cs typeface="Calibri" pitchFamily="34" charset="-120"/>
              </a:rPr>
              <a:t>Five variants across 113 records (M, F, Male, Female, blank). Standardised to Male/Female/Unknown — not imputed.</a:t>
            </a:r>
            <a:endParaRPr lang="en-US" sz="950"/>
          </a:p>
        </p:txBody>
      </p:sp>
      <p:sp>
        <p:nvSpPr>
          <p:cNvPr id="22" name="Shape 20"/>
          <p:cNvSpPr/>
          <p:nvPr/>
        </p:nvSpPr>
        <p:spPr>
          <a:xfrm>
            <a:off x="274320" y="3803904"/>
            <a:ext cx="64008" cy="457200"/>
          </a:xfrm>
          <a:prstGeom prst="rect">
            <a:avLst/>
          </a:prstGeom>
          <a:solidFill>
            <a:srgbClr val="27AE60"/>
          </a:solidFill>
          <a:ln w="12700">
            <a:solidFill>
              <a:srgbClr val="27AE60"/>
            </a:solidFill>
            <a:prstDash val="solid"/>
          </a:ln>
        </p:spPr>
        <p:txBody>
          <a:bodyPr/>
          <a:lstStyle/>
          <a:p>
            <a:endParaRPr lang="en-PT"/>
          </a:p>
        </p:txBody>
      </p:sp>
      <p:sp>
        <p:nvSpPr>
          <p:cNvPr id="23" name="Text 21"/>
          <p:cNvSpPr/>
          <p:nvPr/>
        </p:nvSpPr>
        <p:spPr>
          <a:xfrm>
            <a:off x="402336" y="3803904"/>
            <a:ext cx="4005072" cy="182880"/>
          </a:xfrm>
          <a:prstGeom prst="rect">
            <a:avLst/>
          </a:prstGeom>
          <a:noFill/>
          <a:ln/>
        </p:spPr>
        <p:txBody>
          <a:bodyPr wrap="square" rtlCol="0" anchor="ctr"/>
          <a:lstStyle/>
          <a:p>
            <a:pPr marL="0" indent="0">
              <a:buNone/>
            </a:pPr>
            <a:r>
              <a:rPr lang="en-US" sz="900" b="1">
                <a:solidFill>
                  <a:srgbClr val="1A2744"/>
                </a:solidFill>
                <a:latin typeface="Calibri" pitchFamily="34" charset="0"/>
                <a:ea typeface="Calibri" pitchFamily="34" charset="-122"/>
                <a:cs typeface="Calibri" pitchFamily="34" charset="-120"/>
              </a:rPr>
              <a:t>Date of Birth — 4 formats</a:t>
            </a:r>
            <a:endParaRPr lang="en-US" sz="900"/>
          </a:p>
        </p:txBody>
      </p:sp>
      <p:sp>
        <p:nvSpPr>
          <p:cNvPr id="24" name="Text 22"/>
          <p:cNvSpPr/>
          <p:nvPr/>
        </p:nvSpPr>
        <p:spPr>
          <a:xfrm>
            <a:off x="402336" y="3977640"/>
            <a:ext cx="4005072" cy="256032"/>
          </a:xfrm>
          <a:prstGeom prst="rect">
            <a:avLst/>
          </a:prstGeom>
          <a:noFill/>
          <a:ln/>
        </p:spPr>
        <p:txBody>
          <a:bodyPr wrap="square" rtlCol="0" anchor="ctr"/>
          <a:lstStyle/>
          <a:p>
            <a:pPr marL="0" indent="0">
              <a:buNone/>
            </a:pPr>
            <a:r>
              <a:rPr lang="en-US" sz="950">
                <a:solidFill>
                  <a:srgbClr val="3D4A5C"/>
                </a:solidFill>
                <a:latin typeface="Calibri" pitchFamily="34" charset="0"/>
                <a:ea typeface="Calibri" pitchFamily="34" charset="-122"/>
                <a:cs typeface="Calibri" pitchFamily="34" charset="-120"/>
              </a:rPr>
              <a:t>Four formats coexisted across all 500 records. Each parsed individually via regex and standardised to ISO 8601.</a:t>
            </a:r>
            <a:endParaRPr lang="en-US" sz="950"/>
          </a:p>
        </p:txBody>
      </p:sp>
      <p:sp>
        <p:nvSpPr>
          <p:cNvPr id="25" name="Shape 23"/>
          <p:cNvSpPr/>
          <p:nvPr/>
        </p:nvSpPr>
        <p:spPr>
          <a:xfrm>
            <a:off x="4663440" y="795528"/>
            <a:ext cx="4160520" cy="228600"/>
          </a:xfrm>
          <a:prstGeom prst="rect">
            <a:avLst/>
          </a:prstGeom>
          <a:solidFill>
            <a:srgbClr val="E67E22"/>
          </a:solidFill>
          <a:ln w="12700">
            <a:solidFill>
              <a:srgbClr val="E67E22"/>
            </a:solidFill>
            <a:prstDash val="solid"/>
          </a:ln>
        </p:spPr>
        <p:txBody>
          <a:bodyPr/>
          <a:lstStyle/>
          <a:p>
            <a:endParaRPr lang="en-PT"/>
          </a:p>
        </p:txBody>
      </p:sp>
      <p:sp>
        <p:nvSpPr>
          <p:cNvPr id="26" name="Text 24"/>
          <p:cNvSpPr/>
          <p:nvPr/>
        </p:nvSpPr>
        <p:spPr>
          <a:xfrm>
            <a:off x="4709160" y="804672"/>
            <a:ext cx="4069080" cy="201168"/>
          </a:xfrm>
          <a:prstGeom prst="rect">
            <a:avLst/>
          </a:prstGeom>
          <a:noFill/>
          <a:ln/>
        </p:spPr>
        <p:txBody>
          <a:bodyPr wrap="square" rtlCol="0" anchor="ctr"/>
          <a:lstStyle/>
          <a:p>
            <a:pPr marL="0" indent="0">
              <a:buNone/>
            </a:pPr>
            <a:r>
              <a:rPr lang="en-US" sz="1000" b="1">
                <a:solidFill>
                  <a:srgbClr val="FFFFFF"/>
                </a:solidFill>
                <a:latin typeface="Calibri" pitchFamily="34" charset="0"/>
                <a:ea typeface="Calibri" pitchFamily="34" charset="-122"/>
                <a:cs typeface="Calibri" pitchFamily="34" charset="-120"/>
              </a:rPr>
              <a:t>1.3  VALIDITY</a:t>
            </a:r>
            <a:endParaRPr lang="en-US" sz="1000"/>
          </a:p>
        </p:txBody>
      </p:sp>
      <p:sp>
        <p:nvSpPr>
          <p:cNvPr id="27" name="Shape 25"/>
          <p:cNvSpPr/>
          <p:nvPr/>
        </p:nvSpPr>
        <p:spPr>
          <a:xfrm>
            <a:off x="4663440" y="1060704"/>
            <a:ext cx="64008" cy="475488"/>
          </a:xfrm>
          <a:prstGeom prst="rect">
            <a:avLst/>
          </a:prstGeom>
          <a:solidFill>
            <a:srgbClr val="E67E22"/>
          </a:solidFill>
          <a:ln w="12700">
            <a:solidFill>
              <a:srgbClr val="E67E22"/>
            </a:solidFill>
            <a:prstDash val="solid"/>
          </a:ln>
        </p:spPr>
        <p:txBody>
          <a:bodyPr/>
          <a:lstStyle/>
          <a:p>
            <a:endParaRPr lang="en-PT"/>
          </a:p>
        </p:txBody>
      </p:sp>
      <p:sp>
        <p:nvSpPr>
          <p:cNvPr id="28" name="Text 26"/>
          <p:cNvSpPr/>
          <p:nvPr/>
        </p:nvSpPr>
        <p:spPr>
          <a:xfrm>
            <a:off x="4791456" y="1060704"/>
            <a:ext cx="3968496" cy="182880"/>
          </a:xfrm>
          <a:prstGeom prst="rect">
            <a:avLst/>
          </a:prstGeom>
          <a:noFill/>
          <a:ln/>
        </p:spPr>
        <p:txBody>
          <a:bodyPr wrap="square" rtlCol="0" anchor="ctr"/>
          <a:lstStyle/>
          <a:p>
            <a:pPr marL="0" indent="0">
              <a:buNone/>
            </a:pPr>
            <a:r>
              <a:rPr lang="en-US" sz="900" b="1">
                <a:solidFill>
                  <a:srgbClr val="1A2744"/>
                </a:solidFill>
                <a:latin typeface="Calibri" pitchFamily="34" charset="0"/>
                <a:ea typeface="Calibri" pitchFamily="34" charset="-122"/>
                <a:cs typeface="Calibri" pitchFamily="34" charset="-120"/>
              </a:rPr>
              <a:t>Invalid numeric values → NaN</a:t>
            </a:r>
            <a:endParaRPr lang="en-US" sz="900"/>
          </a:p>
        </p:txBody>
      </p:sp>
      <p:sp>
        <p:nvSpPr>
          <p:cNvPr id="29" name="Text 27"/>
          <p:cNvSpPr/>
          <p:nvPr/>
        </p:nvSpPr>
        <p:spPr>
          <a:xfrm>
            <a:off x="4791456" y="1289145"/>
            <a:ext cx="3968496" cy="274320"/>
          </a:xfrm>
          <a:prstGeom prst="rect">
            <a:avLst/>
          </a:prstGeom>
          <a:noFill/>
          <a:ln/>
        </p:spPr>
        <p:txBody>
          <a:bodyPr wrap="square" rtlCol="0" anchor="ctr"/>
          <a:lstStyle/>
          <a:p>
            <a:pPr marL="0" indent="0">
              <a:buNone/>
            </a:pPr>
            <a:r>
              <a:rPr lang="en-US" sz="950">
                <a:solidFill>
                  <a:srgbClr val="3D4A5C"/>
                </a:solidFill>
                <a:latin typeface="Calibri" pitchFamily="34" charset="0"/>
                <a:ea typeface="Calibri" pitchFamily="34" charset="-122"/>
                <a:cs typeface="Calibri" pitchFamily="34" charset="-120"/>
              </a:rPr>
              <a:t>Negative credit_history_months (2) and negative savings_balance (1) — domain impossibilities. Flagged and set to NaN; non-sensitive fields median-imputed.</a:t>
            </a:r>
            <a:endParaRPr lang="en-US" sz="950"/>
          </a:p>
        </p:txBody>
      </p:sp>
      <p:sp>
        <p:nvSpPr>
          <p:cNvPr id="30" name="Shape 28"/>
          <p:cNvSpPr/>
          <p:nvPr/>
        </p:nvSpPr>
        <p:spPr>
          <a:xfrm>
            <a:off x="4663440" y="1673352"/>
            <a:ext cx="64008" cy="475488"/>
          </a:xfrm>
          <a:prstGeom prst="rect">
            <a:avLst/>
          </a:prstGeom>
          <a:solidFill>
            <a:srgbClr val="E67E22"/>
          </a:solidFill>
          <a:ln w="12700">
            <a:solidFill>
              <a:srgbClr val="E67E22"/>
            </a:solidFill>
            <a:prstDash val="solid"/>
          </a:ln>
        </p:spPr>
        <p:txBody>
          <a:bodyPr/>
          <a:lstStyle/>
          <a:p>
            <a:endParaRPr lang="en-PT"/>
          </a:p>
        </p:txBody>
      </p:sp>
      <p:sp>
        <p:nvSpPr>
          <p:cNvPr id="31" name="Text 29"/>
          <p:cNvSpPr/>
          <p:nvPr/>
        </p:nvSpPr>
        <p:spPr>
          <a:xfrm>
            <a:off x="4791456" y="1673352"/>
            <a:ext cx="3968496" cy="182880"/>
          </a:xfrm>
          <a:prstGeom prst="rect">
            <a:avLst/>
          </a:prstGeom>
          <a:noFill/>
          <a:ln/>
        </p:spPr>
        <p:txBody>
          <a:bodyPr wrap="square" rtlCol="0" anchor="ctr"/>
          <a:lstStyle/>
          <a:p>
            <a:pPr marL="0" indent="0">
              <a:buNone/>
            </a:pPr>
            <a:r>
              <a:rPr lang="en-US" sz="900" b="1">
                <a:solidFill>
                  <a:srgbClr val="1A2744"/>
                </a:solidFill>
                <a:latin typeface="Calibri" pitchFamily="34" charset="0"/>
                <a:ea typeface="Calibri" pitchFamily="34" charset="-122"/>
                <a:cs typeface="Calibri" pitchFamily="34" charset="-120"/>
              </a:rPr>
              <a:t>Invalid email addresses → NaN (11, 2.2%)</a:t>
            </a:r>
            <a:endParaRPr lang="en-US" sz="900"/>
          </a:p>
        </p:txBody>
      </p:sp>
      <p:sp>
        <p:nvSpPr>
          <p:cNvPr id="32" name="Text 30"/>
          <p:cNvSpPr/>
          <p:nvPr/>
        </p:nvSpPr>
        <p:spPr>
          <a:xfrm>
            <a:off x="4791456" y="1847088"/>
            <a:ext cx="3968496" cy="274320"/>
          </a:xfrm>
          <a:prstGeom prst="rect">
            <a:avLst/>
          </a:prstGeom>
          <a:noFill/>
          <a:ln/>
        </p:spPr>
        <p:txBody>
          <a:bodyPr wrap="square" rtlCol="0" anchor="ctr"/>
          <a:lstStyle/>
          <a:p>
            <a:pPr marL="0" indent="0">
              <a:buNone/>
            </a:pPr>
            <a:r>
              <a:rPr lang="en-US" sz="950">
                <a:solidFill>
                  <a:srgbClr val="3D4A5C"/>
                </a:solidFill>
                <a:latin typeface="Calibri" pitchFamily="34" charset="0"/>
                <a:ea typeface="Calibri" pitchFamily="34" charset="-122"/>
                <a:cs typeface="Calibri" pitchFamily="34" charset="-120"/>
              </a:rPr>
              <a:t>Regex pattern applied (11 records flagged: missing @, invalid domain, blank). Coerced to NaN — PII not imputed.</a:t>
            </a:r>
            <a:endParaRPr lang="en-US" sz="950"/>
          </a:p>
        </p:txBody>
      </p:sp>
      <p:sp>
        <p:nvSpPr>
          <p:cNvPr id="33" name="Shape 31"/>
          <p:cNvSpPr/>
          <p:nvPr/>
        </p:nvSpPr>
        <p:spPr>
          <a:xfrm>
            <a:off x="4663440" y="2286000"/>
            <a:ext cx="64008" cy="475488"/>
          </a:xfrm>
          <a:prstGeom prst="rect">
            <a:avLst/>
          </a:prstGeom>
          <a:solidFill>
            <a:srgbClr val="E67E22"/>
          </a:solidFill>
          <a:ln w="12700">
            <a:solidFill>
              <a:srgbClr val="E67E22"/>
            </a:solidFill>
            <a:prstDash val="solid"/>
          </a:ln>
        </p:spPr>
        <p:txBody>
          <a:bodyPr/>
          <a:lstStyle/>
          <a:p>
            <a:endParaRPr lang="en-PT"/>
          </a:p>
        </p:txBody>
      </p:sp>
      <p:sp>
        <p:nvSpPr>
          <p:cNvPr id="34" name="Text 32"/>
          <p:cNvSpPr/>
          <p:nvPr/>
        </p:nvSpPr>
        <p:spPr>
          <a:xfrm>
            <a:off x="4791456" y="2286000"/>
            <a:ext cx="3968496" cy="182880"/>
          </a:xfrm>
          <a:prstGeom prst="rect">
            <a:avLst/>
          </a:prstGeom>
          <a:noFill/>
          <a:ln/>
        </p:spPr>
        <p:txBody>
          <a:bodyPr wrap="square" rtlCol="0" anchor="ctr"/>
          <a:lstStyle/>
          <a:p>
            <a:pPr marL="0" indent="0">
              <a:buNone/>
            </a:pPr>
            <a:r>
              <a:rPr lang="en-US" sz="900" b="1">
                <a:solidFill>
                  <a:srgbClr val="1A2744"/>
                </a:solidFill>
                <a:latin typeface="Calibri" pitchFamily="34" charset="0"/>
                <a:ea typeface="Calibri" pitchFamily="34" charset="-122"/>
                <a:cs typeface="Calibri" pitchFamily="34" charset="-120"/>
              </a:rPr>
              <a:t>ZIP code format violation (1 record, 0.2%)</a:t>
            </a:r>
            <a:endParaRPr lang="en-US" sz="900"/>
          </a:p>
        </p:txBody>
      </p:sp>
      <p:sp>
        <p:nvSpPr>
          <p:cNvPr id="35" name="Text 33"/>
          <p:cNvSpPr/>
          <p:nvPr/>
        </p:nvSpPr>
        <p:spPr>
          <a:xfrm>
            <a:off x="4791456" y="2459736"/>
            <a:ext cx="3968496" cy="274320"/>
          </a:xfrm>
          <a:prstGeom prst="rect">
            <a:avLst/>
          </a:prstGeom>
          <a:noFill/>
          <a:ln/>
        </p:spPr>
        <p:txBody>
          <a:bodyPr wrap="square" rtlCol="0" anchor="ctr"/>
          <a:lstStyle/>
          <a:p>
            <a:pPr marL="0" indent="0">
              <a:buNone/>
            </a:pPr>
            <a:r>
              <a:rPr lang="en-US" sz="950">
                <a:solidFill>
                  <a:srgbClr val="3D4A5C"/>
                </a:solidFill>
                <a:latin typeface="Calibri" pitchFamily="34" charset="0"/>
                <a:ea typeface="Calibri" pitchFamily="34" charset="-122"/>
                <a:cs typeface="Calibri" pitchFamily="34" charset="-120"/>
              </a:rPr>
              <a:t>One record with non-standard ZIP format — flagged for review, not silently overwritten.</a:t>
            </a:r>
            <a:endParaRPr lang="en-US" sz="950"/>
          </a:p>
        </p:txBody>
      </p:sp>
      <p:sp>
        <p:nvSpPr>
          <p:cNvPr id="36" name="Shape 34"/>
          <p:cNvSpPr/>
          <p:nvPr/>
        </p:nvSpPr>
        <p:spPr>
          <a:xfrm>
            <a:off x="4663440" y="2907792"/>
            <a:ext cx="4160520" cy="228600"/>
          </a:xfrm>
          <a:prstGeom prst="rect">
            <a:avLst/>
          </a:prstGeom>
          <a:solidFill>
            <a:srgbClr val="C0392B"/>
          </a:solidFill>
          <a:ln w="12700">
            <a:solidFill>
              <a:srgbClr val="C0392B"/>
            </a:solidFill>
            <a:prstDash val="solid"/>
          </a:ln>
        </p:spPr>
        <p:txBody>
          <a:bodyPr/>
          <a:lstStyle/>
          <a:p>
            <a:endParaRPr lang="en-PT"/>
          </a:p>
        </p:txBody>
      </p:sp>
      <p:sp>
        <p:nvSpPr>
          <p:cNvPr id="37" name="Text 35"/>
          <p:cNvSpPr/>
          <p:nvPr/>
        </p:nvSpPr>
        <p:spPr>
          <a:xfrm>
            <a:off x="4709160" y="2916936"/>
            <a:ext cx="4069080" cy="201168"/>
          </a:xfrm>
          <a:prstGeom prst="rect">
            <a:avLst/>
          </a:prstGeom>
          <a:noFill/>
          <a:ln/>
        </p:spPr>
        <p:txBody>
          <a:bodyPr wrap="square" rtlCol="0" anchor="ctr"/>
          <a:lstStyle/>
          <a:p>
            <a:pPr marL="0" indent="0">
              <a:buNone/>
            </a:pPr>
            <a:r>
              <a:rPr lang="en-US" sz="1000" b="1">
                <a:solidFill>
                  <a:srgbClr val="FFFFFF"/>
                </a:solidFill>
                <a:latin typeface="Calibri" pitchFamily="34" charset="0"/>
                <a:ea typeface="Calibri" pitchFamily="34" charset="-122"/>
                <a:cs typeface="Calibri" pitchFamily="34" charset="-120"/>
              </a:rPr>
              <a:t>1.4  ACCURACY &amp; PLAUSIBILITY</a:t>
            </a:r>
            <a:endParaRPr lang="en-US" sz="1000"/>
          </a:p>
        </p:txBody>
      </p:sp>
      <p:sp>
        <p:nvSpPr>
          <p:cNvPr id="38" name="Shape 36"/>
          <p:cNvSpPr/>
          <p:nvPr/>
        </p:nvSpPr>
        <p:spPr>
          <a:xfrm>
            <a:off x="4663440" y="3182112"/>
            <a:ext cx="64008" cy="402336"/>
          </a:xfrm>
          <a:prstGeom prst="rect">
            <a:avLst/>
          </a:prstGeom>
          <a:solidFill>
            <a:srgbClr val="C0392B"/>
          </a:solidFill>
          <a:ln w="12700">
            <a:solidFill>
              <a:srgbClr val="C0392B"/>
            </a:solidFill>
            <a:prstDash val="solid"/>
          </a:ln>
        </p:spPr>
        <p:txBody>
          <a:bodyPr/>
          <a:lstStyle/>
          <a:p>
            <a:endParaRPr lang="en-PT"/>
          </a:p>
        </p:txBody>
      </p:sp>
      <p:sp>
        <p:nvSpPr>
          <p:cNvPr id="39" name="Text 37"/>
          <p:cNvSpPr/>
          <p:nvPr/>
        </p:nvSpPr>
        <p:spPr>
          <a:xfrm>
            <a:off x="4791456" y="3182112"/>
            <a:ext cx="3968496" cy="173736"/>
          </a:xfrm>
          <a:prstGeom prst="rect">
            <a:avLst/>
          </a:prstGeom>
          <a:noFill/>
          <a:ln/>
        </p:spPr>
        <p:txBody>
          <a:bodyPr wrap="square" rtlCol="0" anchor="ctr"/>
          <a:lstStyle/>
          <a:p>
            <a:pPr marL="0" indent="0">
              <a:buNone/>
            </a:pPr>
            <a:r>
              <a:rPr lang="en-US" sz="900" b="1">
                <a:solidFill>
                  <a:srgbClr val="1A2744"/>
                </a:solidFill>
                <a:latin typeface="Calibri" pitchFamily="34" charset="0"/>
                <a:ea typeface="Calibri" pitchFamily="34" charset="-122"/>
                <a:cs typeface="Calibri" pitchFamily="34" charset="-120"/>
              </a:rPr>
              <a:t>Cross-field consistency — 0 violations</a:t>
            </a:r>
            <a:endParaRPr lang="en-US" sz="900"/>
          </a:p>
        </p:txBody>
      </p:sp>
      <p:sp>
        <p:nvSpPr>
          <p:cNvPr id="40" name="Text 38"/>
          <p:cNvSpPr/>
          <p:nvPr/>
        </p:nvSpPr>
        <p:spPr>
          <a:xfrm>
            <a:off x="4791456" y="3346704"/>
            <a:ext cx="3968496" cy="237744"/>
          </a:xfrm>
          <a:prstGeom prst="rect">
            <a:avLst/>
          </a:prstGeom>
          <a:noFill/>
          <a:ln/>
        </p:spPr>
        <p:txBody>
          <a:bodyPr wrap="square" rtlCol="0" anchor="ctr"/>
          <a:lstStyle/>
          <a:p>
            <a:pPr marL="0" indent="0">
              <a:buNone/>
            </a:pPr>
            <a:r>
              <a:rPr lang="en-US" sz="950">
                <a:solidFill>
                  <a:srgbClr val="3D4A5C"/>
                </a:solidFill>
                <a:latin typeface="Calibri" pitchFamily="34" charset="0"/>
                <a:ea typeface="Calibri" pitchFamily="34" charset="-122"/>
                <a:cs typeface="Calibri" pitchFamily="34" charset="-120"/>
              </a:rPr>
              <a:t>All approvals carry a positive approved_amount; all rejections carry a rejection_reason. No cross-field violations found.</a:t>
            </a:r>
            <a:endParaRPr lang="en-US" sz="950"/>
          </a:p>
        </p:txBody>
      </p:sp>
      <p:sp>
        <p:nvSpPr>
          <p:cNvPr id="41" name="Shape 39"/>
          <p:cNvSpPr/>
          <p:nvPr/>
        </p:nvSpPr>
        <p:spPr>
          <a:xfrm>
            <a:off x="4663440" y="3712464"/>
            <a:ext cx="64008" cy="402336"/>
          </a:xfrm>
          <a:prstGeom prst="rect">
            <a:avLst/>
          </a:prstGeom>
          <a:solidFill>
            <a:srgbClr val="C0392B"/>
          </a:solidFill>
          <a:ln w="12700">
            <a:solidFill>
              <a:srgbClr val="C0392B"/>
            </a:solidFill>
            <a:prstDash val="solid"/>
          </a:ln>
        </p:spPr>
        <p:txBody>
          <a:bodyPr/>
          <a:lstStyle/>
          <a:p>
            <a:endParaRPr lang="en-PT"/>
          </a:p>
        </p:txBody>
      </p:sp>
      <p:sp>
        <p:nvSpPr>
          <p:cNvPr id="42" name="Text 40"/>
          <p:cNvSpPr/>
          <p:nvPr/>
        </p:nvSpPr>
        <p:spPr>
          <a:xfrm>
            <a:off x="4791456" y="3712464"/>
            <a:ext cx="3968496" cy="173736"/>
          </a:xfrm>
          <a:prstGeom prst="rect">
            <a:avLst/>
          </a:prstGeom>
          <a:noFill/>
          <a:ln/>
        </p:spPr>
        <p:txBody>
          <a:bodyPr wrap="square" rtlCol="0" anchor="ctr"/>
          <a:lstStyle/>
          <a:p>
            <a:pPr marL="0" indent="0">
              <a:buNone/>
            </a:pPr>
            <a:r>
              <a:rPr lang="en-US" sz="900" b="1">
                <a:solidFill>
                  <a:srgbClr val="1A2744"/>
                </a:solidFill>
                <a:latin typeface="Calibri" pitchFamily="34" charset="0"/>
                <a:ea typeface="Calibri" pitchFamily="34" charset="-122"/>
                <a:cs typeface="Calibri" pitchFamily="34" charset="-120"/>
              </a:rPr>
              <a:t>Spending behaviour — strong integrity</a:t>
            </a:r>
            <a:endParaRPr lang="en-US" sz="900"/>
          </a:p>
        </p:txBody>
      </p:sp>
      <p:sp>
        <p:nvSpPr>
          <p:cNvPr id="43" name="Text 41"/>
          <p:cNvSpPr/>
          <p:nvPr/>
        </p:nvSpPr>
        <p:spPr>
          <a:xfrm>
            <a:off x="4791456" y="3877056"/>
            <a:ext cx="3968496" cy="237744"/>
          </a:xfrm>
          <a:prstGeom prst="rect">
            <a:avLst/>
          </a:prstGeom>
          <a:noFill/>
          <a:ln/>
        </p:spPr>
        <p:txBody>
          <a:bodyPr wrap="square" rtlCol="0" anchor="ctr"/>
          <a:lstStyle/>
          <a:p>
            <a:pPr marL="0" indent="0">
              <a:buNone/>
            </a:pPr>
            <a:r>
              <a:rPr lang="en-US" sz="950">
                <a:solidFill>
                  <a:srgbClr val="3D4A5C"/>
                </a:solidFill>
                <a:latin typeface="Calibri" pitchFamily="34" charset="0"/>
                <a:ea typeface="Calibri" pitchFamily="34" charset="-122"/>
                <a:cs typeface="Calibri" pitchFamily="34" charset="-120"/>
              </a:rPr>
              <a:t>No empty lists, missing categories, or negative amounts. All 15 spending categories present across all 500 records.</a:t>
            </a:r>
            <a:endParaRPr lang="en-US" sz="950"/>
          </a:p>
        </p:txBody>
      </p:sp>
      <p:sp>
        <p:nvSpPr>
          <p:cNvPr id="44" name="Shape 42"/>
          <p:cNvSpPr/>
          <p:nvPr/>
        </p:nvSpPr>
        <p:spPr>
          <a:xfrm>
            <a:off x="4663440" y="4242816"/>
            <a:ext cx="64008" cy="402336"/>
          </a:xfrm>
          <a:prstGeom prst="rect">
            <a:avLst/>
          </a:prstGeom>
          <a:solidFill>
            <a:srgbClr val="C0392B"/>
          </a:solidFill>
          <a:ln w="12700">
            <a:solidFill>
              <a:srgbClr val="C0392B"/>
            </a:solidFill>
            <a:prstDash val="solid"/>
          </a:ln>
        </p:spPr>
        <p:txBody>
          <a:bodyPr/>
          <a:lstStyle/>
          <a:p>
            <a:endParaRPr lang="en-PT"/>
          </a:p>
        </p:txBody>
      </p:sp>
      <p:sp>
        <p:nvSpPr>
          <p:cNvPr id="45" name="Text 43"/>
          <p:cNvSpPr/>
          <p:nvPr/>
        </p:nvSpPr>
        <p:spPr>
          <a:xfrm>
            <a:off x="4791456" y="4242816"/>
            <a:ext cx="3968496" cy="173736"/>
          </a:xfrm>
          <a:prstGeom prst="rect">
            <a:avLst/>
          </a:prstGeom>
          <a:noFill/>
          <a:ln/>
        </p:spPr>
        <p:txBody>
          <a:bodyPr wrap="square" rtlCol="0" anchor="ctr"/>
          <a:lstStyle/>
          <a:p>
            <a:pPr marL="0" indent="0">
              <a:buNone/>
            </a:pPr>
            <a:r>
              <a:rPr lang="en-US" sz="900" b="1">
                <a:solidFill>
                  <a:srgbClr val="1A2744"/>
                </a:solidFill>
                <a:latin typeface="Calibri" pitchFamily="34" charset="0"/>
                <a:ea typeface="Calibri" pitchFamily="34" charset="-122"/>
                <a:cs typeface="Calibri" pitchFamily="34" charset="-120"/>
              </a:rPr>
              <a:t>Governance-sensitive fields — NOT imputed</a:t>
            </a:r>
            <a:endParaRPr lang="en-US" sz="900"/>
          </a:p>
        </p:txBody>
      </p:sp>
      <p:sp>
        <p:nvSpPr>
          <p:cNvPr id="46" name="Text 44"/>
          <p:cNvSpPr/>
          <p:nvPr/>
        </p:nvSpPr>
        <p:spPr>
          <a:xfrm>
            <a:off x="4791456" y="4407408"/>
            <a:ext cx="3968496" cy="237744"/>
          </a:xfrm>
          <a:prstGeom prst="rect">
            <a:avLst/>
          </a:prstGeom>
          <a:noFill/>
          <a:ln/>
        </p:spPr>
        <p:txBody>
          <a:bodyPr wrap="square" rtlCol="0" anchor="ctr"/>
          <a:lstStyle/>
          <a:p>
            <a:pPr marL="0" indent="0">
              <a:buNone/>
            </a:pPr>
            <a:r>
              <a:rPr lang="en-US" sz="950">
                <a:solidFill>
                  <a:srgbClr val="3D4A5C"/>
                </a:solidFill>
                <a:latin typeface="Calibri" pitchFamily="34" charset="0"/>
                <a:ea typeface="Calibri" pitchFamily="34" charset="-122"/>
                <a:cs typeface="Calibri" pitchFamily="34" charset="-120"/>
              </a:rPr>
              <a:t>PII, decision outcomes, and rejection reasons were excluded from imputation</a:t>
            </a:r>
            <a:endParaRPr lang="en-US" sz="950"/>
          </a:p>
        </p:txBody>
      </p:sp>
      <p:sp>
        <p:nvSpPr>
          <p:cNvPr id="47" name="Shape 45"/>
          <p:cNvSpPr/>
          <p:nvPr/>
        </p:nvSpPr>
        <p:spPr>
          <a:xfrm>
            <a:off x="274320" y="4636008"/>
            <a:ext cx="8549640" cy="192024"/>
          </a:xfrm>
          <a:prstGeom prst="rect">
            <a:avLst/>
          </a:prstGeom>
          <a:solidFill>
            <a:srgbClr val="1A2744"/>
          </a:solidFill>
          <a:ln w="12700">
            <a:solidFill>
              <a:srgbClr val="1A2744"/>
            </a:solidFill>
            <a:prstDash val="solid"/>
          </a:ln>
        </p:spPr>
        <p:txBody>
          <a:bodyPr/>
          <a:lstStyle/>
          <a:p>
            <a:endParaRPr lang="en-PT"/>
          </a:p>
        </p:txBody>
      </p:sp>
      <p:sp>
        <p:nvSpPr>
          <p:cNvPr id="48" name="Text 46"/>
          <p:cNvSpPr/>
          <p:nvPr/>
        </p:nvSpPr>
        <p:spPr>
          <a:xfrm>
            <a:off x="347472" y="4645152"/>
            <a:ext cx="8412480" cy="173736"/>
          </a:xfrm>
          <a:prstGeom prst="rect">
            <a:avLst/>
          </a:prstGeom>
          <a:noFill/>
          <a:ln/>
        </p:spPr>
        <p:txBody>
          <a:bodyPr wrap="square" rtlCol="0" anchor="ctr"/>
          <a:lstStyle/>
          <a:p>
            <a:pPr marL="0" indent="0">
              <a:buNone/>
            </a:pPr>
            <a:r>
              <a:rPr lang="en-US" sz="850" b="1">
                <a:solidFill>
                  <a:srgbClr val="FFFFFF"/>
                </a:solidFill>
                <a:latin typeface="Calibri" pitchFamily="34" charset="0"/>
                <a:ea typeface="Calibri" pitchFamily="34" charset="-122"/>
                <a:cs typeface="Calibri" pitchFamily="34" charset="-120"/>
              </a:rPr>
              <a:t>✓  Clean dataset: 500 rows × 34 columns  |  502 → 500 after de-duplication  |  Primary key uniqueness restored  |  Governance-sensitive fields protected from imputation</a:t>
            </a:r>
            <a:endParaRPr lang="en-US" sz="850"/>
          </a:p>
        </p:txBody>
      </p:sp>
      <p:sp>
        <p:nvSpPr>
          <p:cNvPr id="49" name="Shape 47"/>
          <p:cNvSpPr/>
          <p:nvPr/>
        </p:nvSpPr>
        <p:spPr>
          <a:xfrm>
            <a:off x="0" y="4864608"/>
            <a:ext cx="9144000" cy="278892"/>
          </a:xfrm>
          <a:prstGeom prst="rect">
            <a:avLst/>
          </a:prstGeom>
          <a:solidFill>
            <a:srgbClr val="000000"/>
          </a:solidFill>
          <a:ln w="12700">
            <a:solidFill>
              <a:srgbClr val="000000"/>
            </a:solidFill>
            <a:prstDash val="solid"/>
          </a:ln>
        </p:spPr>
        <p:txBody>
          <a:bodyPr/>
          <a:lstStyle/>
          <a:p>
            <a:endParaRPr lang="en-PT"/>
          </a:p>
        </p:txBody>
      </p:sp>
      <p:sp>
        <p:nvSpPr>
          <p:cNvPr id="50" name="Text 48"/>
          <p:cNvSpPr/>
          <p:nvPr/>
        </p:nvSpPr>
        <p:spPr>
          <a:xfrm>
            <a:off x="274320" y="4873752"/>
            <a:ext cx="8046720" cy="246888"/>
          </a:xfrm>
          <a:prstGeom prst="rect">
            <a:avLst/>
          </a:prstGeom>
          <a:noFill/>
          <a:ln/>
        </p:spPr>
        <p:txBody>
          <a:bodyPr wrap="square" rtlCol="0" anchor="ctr"/>
          <a:lstStyle/>
          <a:p>
            <a:pPr marL="0" indent="0">
              <a:buNone/>
            </a:pPr>
            <a:r>
              <a:rPr lang="en-US" sz="800">
                <a:solidFill>
                  <a:srgbClr val="999999"/>
                </a:solidFill>
                <a:latin typeface="Calibri" pitchFamily="34" charset="0"/>
                <a:ea typeface="Calibri" pitchFamily="34" charset="-122"/>
                <a:cs typeface="Calibri" pitchFamily="34" charset="-120"/>
              </a:rPr>
              <a:t>Team 14 — TXB  |  NovaCred Credit Governance  |  DEGO 2606, Nova SBE</a:t>
            </a:r>
            <a:endParaRPr lang="en-US" sz="800"/>
          </a:p>
        </p:txBody>
      </p:sp>
      <p:sp>
        <p:nvSpPr>
          <p:cNvPr id="51" name="Text 49"/>
          <p:cNvSpPr/>
          <p:nvPr/>
        </p:nvSpPr>
        <p:spPr>
          <a:xfrm>
            <a:off x="8686800" y="4873752"/>
            <a:ext cx="365760" cy="246888"/>
          </a:xfrm>
          <a:prstGeom prst="rect">
            <a:avLst/>
          </a:prstGeom>
          <a:noFill/>
          <a:ln/>
        </p:spPr>
        <p:txBody>
          <a:bodyPr wrap="square" rtlCol="0" anchor="ctr"/>
          <a:lstStyle/>
          <a:p>
            <a:pPr marL="0" indent="0" algn="r">
              <a:buNone/>
            </a:pPr>
            <a:r>
              <a:rPr lang="en-US" sz="950">
                <a:solidFill>
                  <a:srgbClr val="999999"/>
                </a:solidFill>
                <a:latin typeface="Calibri" pitchFamily="34" charset="0"/>
                <a:ea typeface="Calibri" pitchFamily="34" charset="-122"/>
                <a:cs typeface="Calibri" pitchFamily="34" charset="-120"/>
              </a:rPr>
              <a:t>4</a:t>
            </a:r>
            <a:endParaRPr lang="en-US" sz="95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A2744"/>
          </a:solidFill>
          <a:ln w="12700">
            <a:solidFill>
              <a:srgbClr val="1A2744"/>
            </a:solidFill>
            <a:prstDash val="solid"/>
          </a:ln>
        </p:spPr>
        <p:txBody>
          <a:bodyPr/>
          <a:lstStyle/>
          <a:p>
            <a:endParaRPr lang="en-PT"/>
          </a:p>
        </p:txBody>
      </p:sp>
      <p:sp>
        <p:nvSpPr>
          <p:cNvPr id="3" name="Shape 1"/>
          <p:cNvSpPr/>
          <p:nvPr/>
        </p:nvSpPr>
        <p:spPr>
          <a:xfrm>
            <a:off x="0" y="0"/>
            <a:ext cx="274320" cy="713232"/>
          </a:xfrm>
          <a:prstGeom prst="rect">
            <a:avLst/>
          </a:prstGeom>
          <a:solidFill>
            <a:srgbClr val="C0392B"/>
          </a:solidFill>
          <a:ln w="12700">
            <a:solidFill>
              <a:srgbClr val="C0392B"/>
            </a:solidFill>
            <a:prstDash val="solid"/>
          </a:ln>
        </p:spPr>
        <p:txBody>
          <a:bodyPr/>
          <a:lstStyle/>
          <a:p>
            <a:endParaRPr lang="en-PT"/>
          </a:p>
        </p:txBody>
      </p:sp>
      <p:sp>
        <p:nvSpPr>
          <p:cNvPr id="4" name="Text 2"/>
          <p:cNvSpPr/>
          <p:nvPr/>
        </p:nvSpPr>
        <p:spPr>
          <a:xfrm>
            <a:off x="411480" y="73152"/>
            <a:ext cx="8503920" cy="411480"/>
          </a:xfrm>
          <a:prstGeom prst="rect">
            <a:avLst/>
          </a:prstGeom>
          <a:noFill/>
          <a:ln/>
        </p:spPr>
        <p:txBody>
          <a:bodyPr wrap="square" rtlCol="0" anchor="ctr"/>
          <a:lstStyle/>
          <a:p>
            <a:pPr marL="0" indent="0">
              <a:buNone/>
            </a:pPr>
            <a:r>
              <a:rPr lang="en-US" sz="2200" b="1">
                <a:solidFill>
                  <a:srgbClr val="FFFFFF"/>
                </a:solidFill>
                <a:latin typeface="Georgia" pitchFamily="34" charset="0"/>
                <a:ea typeface="Georgia" pitchFamily="34" charset="-122"/>
                <a:cs typeface="Georgia" pitchFamily="34" charset="-120"/>
              </a:rPr>
              <a:t>Data Quality — Missingness &amp; Outlier Analysis</a:t>
            </a:r>
            <a:endParaRPr lang="en-US" sz="2200"/>
          </a:p>
        </p:txBody>
      </p:sp>
      <p:sp>
        <p:nvSpPr>
          <p:cNvPr id="5" name="Text 3"/>
          <p:cNvSpPr/>
          <p:nvPr/>
        </p:nvSpPr>
        <p:spPr>
          <a:xfrm>
            <a:off x="411480" y="475488"/>
            <a:ext cx="8503920" cy="201168"/>
          </a:xfrm>
          <a:prstGeom prst="rect">
            <a:avLst/>
          </a:prstGeom>
          <a:noFill/>
          <a:ln/>
        </p:spPr>
        <p:txBody>
          <a:bodyPr wrap="square" rtlCol="0" anchor="ctr"/>
          <a:lstStyle/>
          <a:p>
            <a:pPr marL="0" indent="0">
              <a:buNone/>
            </a:pPr>
            <a:r>
              <a:rPr lang="en-US" sz="1100" i="1">
                <a:solidFill>
                  <a:srgbClr val="AABBD0"/>
                </a:solidFill>
                <a:latin typeface="Calibri" pitchFamily="34" charset="0"/>
                <a:ea typeface="Calibri" pitchFamily="34" charset="-122"/>
                <a:cs typeface="Calibri" pitchFamily="34" charset="-120"/>
              </a:rPr>
              <a:t>Notebook 01  |  João Marques Roque — Data Engineer</a:t>
            </a:r>
            <a:endParaRPr lang="en-US" sz="1100"/>
          </a:p>
        </p:txBody>
      </p:sp>
      <p:pic>
        <p:nvPicPr>
          <p:cNvPr id="6" name="Image 0" descr="/home/claude/charts/nb01_missingness.png"/>
          <p:cNvPicPr>
            <a:picLocks noChangeAspect="1"/>
          </p:cNvPicPr>
          <p:nvPr/>
        </p:nvPicPr>
        <p:blipFill>
          <a:blip r:embed="rId3"/>
          <a:stretch>
            <a:fillRect/>
          </a:stretch>
        </p:blipFill>
        <p:spPr>
          <a:xfrm>
            <a:off x="292608" y="841248"/>
            <a:ext cx="4663440" cy="2377440"/>
          </a:xfrm>
          <a:prstGeom prst="rect">
            <a:avLst/>
          </a:prstGeom>
        </p:spPr>
      </p:pic>
      <p:pic>
        <p:nvPicPr>
          <p:cNvPr id="7" name="Image 1" descr="/home/claude/charts/nb01_outliers.png"/>
          <p:cNvPicPr>
            <a:picLocks noChangeAspect="1"/>
          </p:cNvPicPr>
          <p:nvPr/>
        </p:nvPicPr>
        <p:blipFill>
          <a:blip r:embed="rId4"/>
          <a:stretch>
            <a:fillRect/>
          </a:stretch>
        </p:blipFill>
        <p:spPr>
          <a:xfrm>
            <a:off x="1445845" y="3255264"/>
            <a:ext cx="6033477" cy="1618488"/>
          </a:xfrm>
          <a:prstGeom prst="rect">
            <a:avLst/>
          </a:prstGeom>
        </p:spPr>
      </p:pic>
      <p:sp>
        <p:nvSpPr>
          <p:cNvPr id="8" name="Shape 4"/>
          <p:cNvSpPr/>
          <p:nvPr/>
        </p:nvSpPr>
        <p:spPr>
          <a:xfrm>
            <a:off x="5102352" y="841248"/>
            <a:ext cx="3721608" cy="694944"/>
          </a:xfrm>
          <a:prstGeom prst="rect">
            <a:avLst/>
          </a:prstGeom>
          <a:solidFill>
            <a:srgbClr val="FFFFFF"/>
          </a:solidFill>
          <a:ln w="12700">
            <a:solidFill>
              <a:srgbClr val="D0D7E0"/>
            </a:solidFill>
            <a:prstDash val="solid"/>
          </a:ln>
          <a:effectLst>
            <a:outerShdw blurRad="76200" dist="25400" dir="8100000" algn="bl" rotWithShape="0">
              <a:srgbClr val="000000">
                <a:alpha val="10000"/>
              </a:srgbClr>
            </a:outerShdw>
          </a:effectLst>
        </p:spPr>
        <p:txBody>
          <a:bodyPr/>
          <a:lstStyle/>
          <a:p>
            <a:endParaRPr lang="en-PT"/>
          </a:p>
        </p:txBody>
      </p:sp>
      <p:sp>
        <p:nvSpPr>
          <p:cNvPr id="9" name="Shape 5"/>
          <p:cNvSpPr/>
          <p:nvPr/>
        </p:nvSpPr>
        <p:spPr>
          <a:xfrm>
            <a:off x="5102352" y="841248"/>
            <a:ext cx="64008" cy="694944"/>
          </a:xfrm>
          <a:prstGeom prst="rect">
            <a:avLst/>
          </a:prstGeom>
          <a:solidFill>
            <a:srgbClr val="C0392B"/>
          </a:solidFill>
          <a:ln w="12700">
            <a:solidFill>
              <a:srgbClr val="C0392B"/>
            </a:solidFill>
            <a:prstDash val="solid"/>
          </a:ln>
        </p:spPr>
        <p:txBody>
          <a:bodyPr/>
          <a:lstStyle/>
          <a:p>
            <a:endParaRPr lang="en-PT"/>
          </a:p>
        </p:txBody>
      </p:sp>
      <p:sp>
        <p:nvSpPr>
          <p:cNvPr id="10" name="Text 6"/>
          <p:cNvSpPr/>
          <p:nvPr/>
        </p:nvSpPr>
        <p:spPr>
          <a:xfrm>
            <a:off x="5230368" y="877824"/>
            <a:ext cx="3529584" cy="186448"/>
          </a:xfrm>
          <a:prstGeom prst="rect">
            <a:avLst/>
          </a:prstGeom>
          <a:noFill/>
          <a:ln/>
        </p:spPr>
        <p:txBody>
          <a:bodyPr wrap="square" rtlCol="0" anchor="ctr"/>
          <a:lstStyle/>
          <a:p>
            <a:pPr marL="0" indent="0">
              <a:buNone/>
            </a:pPr>
            <a:r>
              <a:rPr lang="en-US" sz="900" b="1">
                <a:solidFill>
                  <a:srgbClr val="1A2744"/>
                </a:solidFill>
                <a:latin typeface="Calibri" pitchFamily="34" charset="0"/>
                <a:ea typeface="Calibri" pitchFamily="34" charset="-122"/>
                <a:cs typeface="Calibri" pitchFamily="34" charset="-120"/>
              </a:rPr>
              <a:t>loan_purpose — 90% missing</a:t>
            </a:r>
            <a:endParaRPr lang="en-US" sz="900"/>
          </a:p>
        </p:txBody>
      </p:sp>
      <p:sp>
        <p:nvSpPr>
          <p:cNvPr id="11" name="Text 7"/>
          <p:cNvSpPr/>
          <p:nvPr/>
        </p:nvSpPr>
        <p:spPr>
          <a:xfrm>
            <a:off x="5230368" y="1078992"/>
            <a:ext cx="3529584" cy="423746"/>
          </a:xfrm>
          <a:prstGeom prst="rect">
            <a:avLst/>
          </a:prstGeom>
          <a:noFill/>
          <a:ln/>
        </p:spPr>
        <p:txBody>
          <a:bodyPr wrap="square" rtlCol="0" anchor="t"/>
          <a:lstStyle/>
          <a:p>
            <a:pPr marL="0" indent="0">
              <a:buNone/>
            </a:pPr>
            <a:r>
              <a:rPr lang="en-US" sz="900">
                <a:solidFill>
                  <a:srgbClr val="3D4A5C"/>
                </a:solidFill>
                <a:latin typeface="Calibri" pitchFamily="34" charset="0"/>
                <a:ea typeface="Calibri" pitchFamily="34" charset="-122"/>
                <a:cs typeface="Calibri" pitchFamily="34" charset="-120"/>
              </a:rPr>
              <a:t>No record of why applicants applied. Cannot assess purpose-based risk. Governance gap: no collection policy documented.</a:t>
            </a:r>
            <a:endParaRPr lang="en-US" sz="900"/>
          </a:p>
        </p:txBody>
      </p:sp>
      <p:sp>
        <p:nvSpPr>
          <p:cNvPr id="12" name="Shape 8"/>
          <p:cNvSpPr/>
          <p:nvPr/>
        </p:nvSpPr>
        <p:spPr>
          <a:xfrm>
            <a:off x="5102352" y="1682496"/>
            <a:ext cx="3721608" cy="694944"/>
          </a:xfrm>
          <a:prstGeom prst="rect">
            <a:avLst/>
          </a:prstGeom>
          <a:solidFill>
            <a:srgbClr val="FFFFFF"/>
          </a:solidFill>
          <a:ln w="12700">
            <a:solidFill>
              <a:srgbClr val="D0D7E0"/>
            </a:solidFill>
            <a:prstDash val="solid"/>
          </a:ln>
          <a:effectLst>
            <a:outerShdw blurRad="76200" dist="25400" dir="8100000" algn="bl" rotWithShape="0">
              <a:srgbClr val="000000">
                <a:alpha val="10000"/>
              </a:srgbClr>
            </a:outerShdw>
          </a:effectLst>
        </p:spPr>
        <p:txBody>
          <a:bodyPr/>
          <a:lstStyle/>
          <a:p>
            <a:endParaRPr lang="en-PT"/>
          </a:p>
        </p:txBody>
      </p:sp>
      <p:sp>
        <p:nvSpPr>
          <p:cNvPr id="13" name="Shape 9"/>
          <p:cNvSpPr/>
          <p:nvPr/>
        </p:nvSpPr>
        <p:spPr>
          <a:xfrm>
            <a:off x="5102352" y="1682496"/>
            <a:ext cx="64008" cy="694944"/>
          </a:xfrm>
          <a:prstGeom prst="rect">
            <a:avLst/>
          </a:prstGeom>
          <a:solidFill>
            <a:srgbClr val="C0392B"/>
          </a:solidFill>
          <a:ln w="12700">
            <a:solidFill>
              <a:srgbClr val="C0392B"/>
            </a:solidFill>
            <a:prstDash val="solid"/>
          </a:ln>
        </p:spPr>
        <p:txBody>
          <a:bodyPr/>
          <a:lstStyle/>
          <a:p>
            <a:endParaRPr lang="en-PT"/>
          </a:p>
        </p:txBody>
      </p:sp>
      <p:sp>
        <p:nvSpPr>
          <p:cNvPr id="14" name="Text 10"/>
          <p:cNvSpPr/>
          <p:nvPr/>
        </p:nvSpPr>
        <p:spPr>
          <a:xfrm>
            <a:off x="5230368" y="1719072"/>
            <a:ext cx="3529584" cy="186448"/>
          </a:xfrm>
          <a:prstGeom prst="rect">
            <a:avLst/>
          </a:prstGeom>
          <a:noFill/>
          <a:ln/>
        </p:spPr>
        <p:txBody>
          <a:bodyPr wrap="square" rtlCol="0" anchor="ctr"/>
          <a:lstStyle/>
          <a:p>
            <a:pPr marL="0" indent="0">
              <a:buNone/>
            </a:pPr>
            <a:r>
              <a:rPr lang="en-US" sz="900" b="1">
                <a:solidFill>
                  <a:srgbClr val="1A2744"/>
                </a:solidFill>
                <a:latin typeface="Calibri" pitchFamily="34" charset="0"/>
                <a:ea typeface="Calibri" pitchFamily="34" charset="-122"/>
                <a:cs typeface="Calibri" pitchFamily="34" charset="-120"/>
              </a:rPr>
              <a:t>processing_timestamp — 87.6% missing</a:t>
            </a:r>
            <a:endParaRPr lang="en-US" sz="900"/>
          </a:p>
        </p:txBody>
      </p:sp>
      <p:sp>
        <p:nvSpPr>
          <p:cNvPr id="15" name="Text 11"/>
          <p:cNvSpPr/>
          <p:nvPr/>
        </p:nvSpPr>
        <p:spPr>
          <a:xfrm>
            <a:off x="5230368" y="1920240"/>
            <a:ext cx="3529584" cy="423746"/>
          </a:xfrm>
          <a:prstGeom prst="rect">
            <a:avLst/>
          </a:prstGeom>
          <a:noFill/>
          <a:ln/>
        </p:spPr>
        <p:txBody>
          <a:bodyPr wrap="square" rtlCol="0" anchor="t"/>
          <a:lstStyle/>
          <a:p>
            <a:pPr marL="0" indent="0">
              <a:buNone/>
            </a:pPr>
            <a:r>
              <a:rPr lang="en-US" sz="900">
                <a:solidFill>
                  <a:srgbClr val="3D4A5C"/>
                </a:solidFill>
                <a:latin typeface="Calibri" pitchFamily="34" charset="0"/>
                <a:ea typeface="Calibri" pitchFamily="34" charset="-122"/>
                <a:cs typeface="Calibri" pitchFamily="34" charset="-120"/>
              </a:rPr>
              <a:t>Cannot reconstruct the decision audit trail. GDPR Art. 5(1)(e) retention obligations cannot be verified.</a:t>
            </a:r>
            <a:endParaRPr lang="en-US" sz="900"/>
          </a:p>
        </p:txBody>
      </p:sp>
      <p:sp>
        <p:nvSpPr>
          <p:cNvPr id="16" name="Shape 12"/>
          <p:cNvSpPr/>
          <p:nvPr/>
        </p:nvSpPr>
        <p:spPr>
          <a:xfrm>
            <a:off x="5102352" y="2523744"/>
            <a:ext cx="3721608" cy="694944"/>
          </a:xfrm>
          <a:prstGeom prst="rect">
            <a:avLst/>
          </a:prstGeom>
          <a:solidFill>
            <a:srgbClr val="FFFFFF"/>
          </a:solidFill>
          <a:ln w="12700">
            <a:solidFill>
              <a:srgbClr val="D0D7E0"/>
            </a:solidFill>
            <a:prstDash val="solid"/>
          </a:ln>
          <a:effectLst>
            <a:outerShdw blurRad="76200" dist="25400" dir="8100000" algn="bl" rotWithShape="0">
              <a:srgbClr val="000000">
                <a:alpha val="10000"/>
              </a:srgbClr>
            </a:outerShdw>
          </a:effectLst>
        </p:spPr>
        <p:txBody>
          <a:bodyPr/>
          <a:lstStyle/>
          <a:p>
            <a:endParaRPr lang="en-PT"/>
          </a:p>
        </p:txBody>
      </p:sp>
      <p:sp>
        <p:nvSpPr>
          <p:cNvPr id="17" name="Shape 13"/>
          <p:cNvSpPr/>
          <p:nvPr/>
        </p:nvSpPr>
        <p:spPr>
          <a:xfrm>
            <a:off x="5102352" y="2523744"/>
            <a:ext cx="64008" cy="694944"/>
          </a:xfrm>
          <a:prstGeom prst="rect">
            <a:avLst/>
          </a:prstGeom>
          <a:solidFill>
            <a:srgbClr val="E67E22"/>
          </a:solidFill>
          <a:ln w="12700">
            <a:solidFill>
              <a:srgbClr val="E67E22"/>
            </a:solidFill>
            <a:prstDash val="solid"/>
          </a:ln>
        </p:spPr>
        <p:txBody>
          <a:bodyPr/>
          <a:lstStyle/>
          <a:p>
            <a:endParaRPr lang="en-PT"/>
          </a:p>
        </p:txBody>
      </p:sp>
      <p:sp>
        <p:nvSpPr>
          <p:cNvPr id="18" name="Text 14"/>
          <p:cNvSpPr/>
          <p:nvPr/>
        </p:nvSpPr>
        <p:spPr>
          <a:xfrm>
            <a:off x="5230368" y="2560320"/>
            <a:ext cx="3529584" cy="186448"/>
          </a:xfrm>
          <a:prstGeom prst="rect">
            <a:avLst/>
          </a:prstGeom>
          <a:noFill/>
          <a:ln/>
        </p:spPr>
        <p:txBody>
          <a:bodyPr wrap="square" rtlCol="0" anchor="ctr"/>
          <a:lstStyle/>
          <a:p>
            <a:pPr marL="0" indent="0">
              <a:buNone/>
            </a:pPr>
            <a:r>
              <a:rPr lang="en-US" sz="900" b="1">
                <a:solidFill>
                  <a:srgbClr val="1A2744"/>
                </a:solidFill>
                <a:latin typeface="Calibri" pitchFamily="34" charset="0"/>
                <a:ea typeface="Calibri" pitchFamily="34" charset="-122"/>
                <a:cs typeface="Calibri" pitchFamily="34" charset="-120"/>
              </a:rPr>
              <a:t>rejection_reason — 58.2% missing</a:t>
            </a:r>
            <a:endParaRPr lang="en-US" sz="900"/>
          </a:p>
        </p:txBody>
      </p:sp>
      <p:sp>
        <p:nvSpPr>
          <p:cNvPr id="19" name="Text 15"/>
          <p:cNvSpPr/>
          <p:nvPr/>
        </p:nvSpPr>
        <p:spPr>
          <a:xfrm>
            <a:off x="5230368" y="2761488"/>
            <a:ext cx="3529584" cy="423746"/>
          </a:xfrm>
          <a:prstGeom prst="rect">
            <a:avLst/>
          </a:prstGeom>
          <a:noFill/>
          <a:ln/>
        </p:spPr>
        <p:txBody>
          <a:bodyPr wrap="square" rtlCol="0" anchor="t"/>
          <a:lstStyle/>
          <a:p>
            <a:pPr marL="0" indent="0">
              <a:buNone/>
            </a:pPr>
            <a:r>
              <a:rPr lang="en-US" sz="900">
                <a:solidFill>
                  <a:srgbClr val="3D4A5C"/>
                </a:solidFill>
                <a:latin typeface="Calibri" pitchFamily="34" charset="0"/>
                <a:ea typeface="Calibri" pitchFamily="34" charset="-122"/>
                <a:cs typeface="Calibri" pitchFamily="34" charset="-120"/>
              </a:rPr>
              <a:t>Over half of all rejected applicants received no documented reason. Of those with a reason, 170 cite algorithm_risk_score only.</a:t>
            </a:r>
            <a:endParaRPr lang="en-US" sz="900"/>
          </a:p>
        </p:txBody>
      </p:sp>
      <p:sp>
        <p:nvSpPr>
          <p:cNvPr id="20" name="Shape 16"/>
          <p:cNvSpPr/>
          <p:nvPr/>
        </p:nvSpPr>
        <p:spPr>
          <a:xfrm>
            <a:off x="0" y="4864608"/>
            <a:ext cx="9144000" cy="278892"/>
          </a:xfrm>
          <a:prstGeom prst="rect">
            <a:avLst/>
          </a:prstGeom>
          <a:solidFill>
            <a:srgbClr val="000000"/>
          </a:solidFill>
          <a:ln w="12700">
            <a:solidFill>
              <a:srgbClr val="000000"/>
            </a:solidFill>
            <a:prstDash val="solid"/>
          </a:ln>
        </p:spPr>
        <p:txBody>
          <a:bodyPr/>
          <a:lstStyle/>
          <a:p>
            <a:endParaRPr lang="en-PT"/>
          </a:p>
        </p:txBody>
      </p:sp>
      <p:sp>
        <p:nvSpPr>
          <p:cNvPr id="21" name="Text 17"/>
          <p:cNvSpPr/>
          <p:nvPr/>
        </p:nvSpPr>
        <p:spPr>
          <a:xfrm>
            <a:off x="274320" y="4873752"/>
            <a:ext cx="8046720" cy="246888"/>
          </a:xfrm>
          <a:prstGeom prst="rect">
            <a:avLst/>
          </a:prstGeom>
          <a:noFill/>
          <a:ln/>
        </p:spPr>
        <p:txBody>
          <a:bodyPr wrap="square" rtlCol="0" anchor="ctr"/>
          <a:lstStyle/>
          <a:p>
            <a:pPr marL="0" indent="0">
              <a:buNone/>
            </a:pPr>
            <a:r>
              <a:rPr lang="en-US" sz="800">
                <a:solidFill>
                  <a:srgbClr val="999999"/>
                </a:solidFill>
                <a:latin typeface="Calibri" pitchFamily="34" charset="0"/>
                <a:ea typeface="Calibri" pitchFamily="34" charset="-122"/>
                <a:cs typeface="Calibri" pitchFamily="34" charset="-120"/>
              </a:rPr>
              <a:t>Team 14 — TXB  |  NovaCred Credit Governance  |  DEGO 2606, Nova SBE</a:t>
            </a:r>
            <a:endParaRPr lang="en-US" sz="800"/>
          </a:p>
        </p:txBody>
      </p:sp>
      <p:sp>
        <p:nvSpPr>
          <p:cNvPr id="22" name="Text 18"/>
          <p:cNvSpPr/>
          <p:nvPr/>
        </p:nvSpPr>
        <p:spPr>
          <a:xfrm>
            <a:off x="8686800" y="4873752"/>
            <a:ext cx="365760" cy="246888"/>
          </a:xfrm>
          <a:prstGeom prst="rect">
            <a:avLst/>
          </a:prstGeom>
          <a:noFill/>
          <a:ln/>
        </p:spPr>
        <p:txBody>
          <a:bodyPr wrap="square" rtlCol="0" anchor="ctr"/>
          <a:lstStyle/>
          <a:p>
            <a:pPr marL="0" indent="0" algn="r">
              <a:buNone/>
            </a:pPr>
            <a:r>
              <a:rPr lang="en-US" sz="950">
                <a:solidFill>
                  <a:srgbClr val="999999"/>
                </a:solidFill>
                <a:latin typeface="Calibri" pitchFamily="34" charset="0"/>
                <a:ea typeface="Calibri" pitchFamily="34" charset="-122"/>
                <a:cs typeface="Calibri" pitchFamily="34" charset="-120"/>
              </a:rPr>
              <a:t>4b</a:t>
            </a:r>
            <a:endParaRPr lang="en-US" sz="95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A2744"/>
          </a:solidFill>
          <a:ln w="12700">
            <a:solidFill>
              <a:srgbClr val="1A2744"/>
            </a:solidFill>
            <a:prstDash val="solid"/>
          </a:ln>
        </p:spPr>
        <p:txBody>
          <a:bodyPr/>
          <a:lstStyle/>
          <a:p>
            <a:endParaRPr lang="en-PT"/>
          </a:p>
        </p:txBody>
      </p:sp>
      <p:sp>
        <p:nvSpPr>
          <p:cNvPr id="3" name="Shape 1"/>
          <p:cNvSpPr/>
          <p:nvPr/>
        </p:nvSpPr>
        <p:spPr>
          <a:xfrm>
            <a:off x="0" y="0"/>
            <a:ext cx="274320" cy="713232"/>
          </a:xfrm>
          <a:prstGeom prst="rect">
            <a:avLst/>
          </a:prstGeom>
          <a:solidFill>
            <a:srgbClr val="C0392B"/>
          </a:solidFill>
          <a:ln w="12700">
            <a:solidFill>
              <a:srgbClr val="C0392B"/>
            </a:solidFill>
            <a:prstDash val="solid"/>
          </a:ln>
        </p:spPr>
        <p:txBody>
          <a:bodyPr/>
          <a:lstStyle/>
          <a:p>
            <a:endParaRPr lang="en-PT"/>
          </a:p>
        </p:txBody>
      </p:sp>
      <p:sp>
        <p:nvSpPr>
          <p:cNvPr id="4" name="Text 2"/>
          <p:cNvSpPr/>
          <p:nvPr/>
        </p:nvSpPr>
        <p:spPr>
          <a:xfrm>
            <a:off x="411480" y="73152"/>
            <a:ext cx="8503920" cy="411480"/>
          </a:xfrm>
          <a:prstGeom prst="rect">
            <a:avLst/>
          </a:prstGeom>
          <a:noFill/>
          <a:ln/>
        </p:spPr>
        <p:txBody>
          <a:bodyPr wrap="square" rtlCol="0" anchor="ctr"/>
          <a:lstStyle/>
          <a:p>
            <a:pPr marL="0" indent="0">
              <a:buNone/>
            </a:pPr>
            <a:r>
              <a:rPr lang="en-US" sz="2200" b="1">
                <a:solidFill>
                  <a:srgbClr val="FFFFFF"/>
                </a:solidFill>
                <a:latin typeface="Georgia" pitchFamily="34" charset="0"/>
                <a:ea typeface="Georgia" pitchFamily="34" charset="-122"/>
                <a:cs typeface="Georgia" pitchFamily="34" charset="-120"/>
              </a:rPr>
              <a:t>Data Quality — Issues Summary &amp; Remediation</a:t>
            </a:r>
            <a:endParaRPr lang="en-US" sz="2200"/>
          </a:p>
        </p:txBody>
      </p:sp>
      <p:sp>
        <p:nvSpPr>
          <p:cNvPr id="5" name="Text 3"/>
          <p:cNvSpPr/>
          <p:nvPr/>
        </p:nvSpPr>
        <p:spPr>
          <a:xfrm>
            <a:off x="411480" y="475488"/>
            <a:ext cx="8503920" cy="201168"/>
          </a:xfrm>
          <a:prstGeom prst="rect">
            <a:avLst/>
          </a:prstGeom>
          <a:noFill/>
          <a:ln/>
        </p:spPr>
        <p:txBody>
          <a:bodyPr wrap="square" rtlCol="0" anchor="ctr"/>
          <a:lstStyle/>
          <a:p>
            <a:pPr marL="0" indent="0">
              <a:buNone/>
            </a:pPr>
            <a:r>
              <a:rPr lang="en-US" sz="1100" i="1" dirty="0">
                <a:solidFill>
                  <a:srgbClr val="AABBD0"/>
                </a:solidFill>
                <a:latin typeface="Calibri" pitchFamily="34" charset="0"/>
                <a:ea typeface="Calibri" pitchFamily="34" charset="-122"/>
                <a:cs typeface="Calibri" pitchFamily="34" charset="-120"/>
              </a:rPr>
              <a:t>Notebook 01  |  João Marques Roque — Data Engineer</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3976692173"/>
              </p:ext>
            </p:extLst>
          </p:nvPr>
        </p:nvGraphicFramePr>
        <p:xfrm>
          <a:off x="452443" y="777579"/>
          <a:ext cx="8234357" cy="3730413"/>
        </p:xfrm>
        <a:graphic>
          <a:graphicData uri="http://schemas.openxmlformats.org/drawingml/2006/table">
            <a:tbl>
              <a:tblPr/>
              <a:tblGrid>
                <a:gridCol w="371076">
                  <a:extLst>
                    <a:ext uri="{9D8B030D-6E8A-4147-A177-3AD203B41FA5}">
                      <a16:colId xmlns:a16="http://schemas.microsoft.com/office/drawing/2014/main" val="20000"/>
                    </a:ext>
                  </a:extLst>
                </a:gridCol>
                <a:gridCol w="2102765">
                  <a:extLst>
                    <a:ext uri="{9D8B030D-6E8A-4147-A177-3AD203B41FA5}">
                      <a16:colId xmlns:a16="http://schemas.microsoft.com/office/drawing/2014/main" val="20001"/>
                    </a:ext>
                  </a:extLst>
                </a:gridCol>
                <a:gridCol w="971866">
                  <a:extLst>
                    <a:ext uri="{9D8B030D-6E8A-4147-A177-3AD203B41FA5}">
                      <a16:colId xmlns:a16="http://schemas.microsoft.com/office/drawing/2014/main" val="20002"/>
                    </a:ext>
                  </a:extLst>
                </a:gridCol>
                <a:gridCol w="1281096">
                  <a:extLst>
                    <a:ext uri="{9D8B030D-6E8A-4147-A177-3AD203B41FA5}">
                      <a16:colId xmlns:a16="http://schemas.microsoft.com/office/drawing/2014/main" val="20003"/>
                    </a:ext>
                  </a:extLst>
                </a:gridCol>
                <a:gridCol w="530109">
                  <a:extLst>
                    <a:ext uri="{9D8B030D-6E8A-4147-A177-3AD203B41FA5}">
                      <a16:colId xmlns:a16="http://schemas.microsoft.com/office/drawing/2014/main" val="20004"/>
                    </a:ext>
                  </a:extLst>
                </a:gridCol>
                <a:gridCol w="485933">
                  <a:extLst>
                    <a:ext uri="{9D8B030D-6E8A-4147-A177-3AD203B41FA5}">
                      <a16:colId xmlns:a16="http://schemas.microsoft.com/office/drawing/2014/main" val="20005"/>
                    </a:ext>
                  </a:extLst>
                </a:gridCol>
                <a:gridCol w="2491512">
                  <a:extLst>
                    <a:ext uri="{9D8B030D-6E8A-4147-A177-3AD203B41FA5}">
                      <a16:colId xmlns:a16="http://schemas.microsoft.com/office/drawing/2014/main" val="20006"/>
                    </a:ext>
                  </a:extLst>
                </a:gridCol>
              </a:tblGrid>
              <a:tr h="318911">
                <a:tc>
                  <a:txBody>
                    <a:bodyPr/>
                    <a:lstStyle/>
                    <a:p>
                      <a:pPr marL="0" indent="0">
                        <a:buNone/>
                      </a:pPr>
                      <a:r>
                        <a:rPr lang="en-US" sz="900" b="1">
                          <a:solidFill>
                            <a:srgbClr val="FFFFFF"/>
                          </a:solidFill>
                        </a:rPr>
                        <a:t>#</a:t>
                      </a:r>
                      <a:endParaRPr lang="en-US" sz="9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1A2744"/>
                    </a:solidFill>
                  </a:tcPr>
                </a:tc>
                <a:tc>
                  <a:txBody>
                    <a:bodyPr/>
                    <a:lstStyle/>
                    <a:p>
                      <a:pPr marL="0" indent="0">
                        <a:buNone/>
                      </a:pPr>
                      <a:r>
                        <a:rPr lang="en-US" sz="900" b="1">
                          <a:solidFill>
                            <a:srgbClr val="FFFFFF"/>
                          </a:solidFill>
                        </a:rPr>
                        <a:t>Issue</a:t>
                      </a:r>
                      <a:endParaRPr lang="en-US" sz="9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1A2744"/>
                    </a:solidFill>
                  </a:tcPr>
                </a:tc>
                <a:tc>
                  <a:txBody>
                    <a:bodyPr/>
                    <a:lstStyle/>
                    <a:p>
                      <a:pPr marL="0" indent="0">
                        <a:buNone/>
                      </a:pPr>
                      <a:r>
                        <a:rPr lang="en-US" sz="900" b="1">
                          <a:solidFill>
                            <a:srgbClr val="FFFFFF"/>
                          </a:solidFill>
                        </a:rPr>
                        <a:t>Dimension</a:t>
                      </a:r>
                      <a:endParaRPr lang="en-US" sz="9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1A2744"/>
                    </a:solidFill>
                  </a:tcPr>
                </a:tc>
                <a:tc>
                  <a:txBody>
                    <a:bodyPr/>
                    <a:lstStyle/>
                    <a:p>
                      <a:pPr marL="0" indent="0">
                        <a:buNone/>
                      </a:pPr>
                      <a:r>
                        <a:rPr lang="en-US" sz="900" b="1">
                          <a:solidFill>
                            <a:srgbClr val="FFFFFF"/>
                          </a:solidFill>
                        </a:rPr>
                        <a:t>Field(s)</a:t>
                      </a:r>
                      <a:endParaRPr lang="en-US" sz="9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1A2744"/>
                    </a:solidFill>
                  </a:tcPr>
                </a:tc>
                <a:tc>
                  <a:txBody>
                    <a:bodyPr/>
                    <a:lstStyle/>
                    <a:p>
                      <a:pPr marL="0" indent="0">
                        <a:buNone/>
                      </a:pPr>
                      <a:r>
                        <a:rPr lang="en-US" sz="900" b="1">
                          <a:solidFill>
                            <a:srgbClr val="FFFFFF"/>
                          </a:solidFill>
                        </a:rPr>
                        <a:t>Count</a:t>
                      </a:r>
                      <a:endParaRPr lang="en-US" sz="9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1A2744"/>
                    </a:solidFill>
                  </a:tcPr>
                </a:tc>
                <a:tc>
                  <a:txBody>
                    <a:bodyPr/>
                    <a:lstStyle/>
                    <a:p>
                      <a:pPr marL="0" indent="0">
                        <a:buNone/>
                      </a:pPr>
                      <a:r>
                        <a:rPr lang="en-US" sz="900" b="1">
                          <a:solidFill>
                            <a:srgbClr val="FFFFFF"/>
                          </a:solidFill>
                        </a:rPr>
                        <a:t>%</a:t>
                      </a:r>
                      <a:endParaRPr lang="en-US" sz="9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1A2744"/>
                    </a:solidFill>
                  </a:tcPr>
                </a:tc>
                <a:tc>
                  <a:txBody>
                    <a:bodyPr/>
                    <a:lstStyle/>
                    <a:p>
                      <a:pPr marL="0" indent="0">
                        <a:buNone/>
                      </a:pPr>
                      <a:r>
                        <a:rPr lang="en-US" sz="900" b="1">
                          <a:solidFill>
                            <a:srgbClr val="FFFFFF"/>
                          </a:solidFill>
                        </a:rPr>
                        <a:t>Remediation</a:t>
                      </a:r>
                      <a:endParaRPr lang="en-US" sz="9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1A2744"/>
                    </a:solidFill>
                  </a:tcPr>
                </a:tc>
                <a:extLst>
                  <a:ext uri="{0D108BD9-81ED-4DB2-BD59-A6C34878D82A}">
                    <a16:rowId xmlns:a16="http://schemas.microsoft.com/office/drawing/2014/main" val="10000"/>
                  </a:ext>
                </a:extLst>
              </a:tr>
              <a:tr h="363670">
                <a:tc>
                  <a:txBody>
                    <a:bodyPr/>
                    <a:lstStyle/>
                    <a:p>
                      <a:pPr marL="0" indent="0">
                        <a:buNone/>
                      </a:pPr>
                      <a:r>
                        <a:rPr lang="en-US" sz="900" b="1">
                          <a:solidFill>
                            <a:srgbClr val="999999"/>
                          </a:solidFill>
                        </a:rPr>
                        <a:t>01</a:t>
                      </a:r>
                      <a:endParaRPr lang="en-US" sz="9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F3F4F6"/>
                    </a:solidFill>
                  </a:tcPr>
                </a:tc>
                <a:tc>
                  <a:txBody>
                    <a:bodyPr/>
                    <a:lstStyle/>
                    <a:p>
                      <a:pPr marL="0" indent="0">
                        <a:buNone/>
                      </a:pPr>
                      <a:r>
                        <a:rPr lang="en-US" sz="1000">
                          <a:solidFill>
                            <a:srgbClr val="666666"/>
                          </a:solidFill>
                        </a:rPr>
                        <a:t>High missingness — notes</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F3F4F6"/>
                    </a:solidFill>
                  </a:tcPr>
                </a:tc>
                <a:tc>
                  <a:txBody>
                    <a:bodyPr/>
                    <a:lstStyle/>
                    <a:p>
                      <a:pPr marL="0" indent="0">
                        <a:buNone/>
                      </a:pPr>
                      <a:r>
                        <a:rPr lang="en-US" sz="1000">
                          <a:solidFill>
                            <a:srgbClr val="666666"/>
                          </a:solidFill>
                        </a:rPr>
                        <a:t>Completeness</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F3F4F6"/>
                    </a:solidFill>
                  </a:tcPr>
                </a:tc>
                <a:tc>
                  <a:txBody>
                    <a:bodyPr/>
                    <a:lstStyle/>
                    <a:p>
                      <a:pPr marL="0" indent="0">
                        <a:buNone/>
                      </a:pPr>
                      <a:r>
                        <a:rPr lang="en-US" sz="1000">
                          <a:solidFill>
                            <a:srgbClr val="666666"/>
                          </a:solidFill>
                        </a:rPr>
                        <a:t>notes</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F3F4F6"/>
                    </a:solidFill>
                  </a:tcPr>
                </a:tc>
                <a:tc>
                  <a:txBody>
                    <a:bodyPr/>
                    <a:lstStyle/>
                    <a:p>
                      <a:pPr marL="0" indent="0">
                        <a:buNone/>
                      </a:pPr>
                      <a:r>
                        <a:rPr lang="en-US" sz="1000">
                          <a:solidFill>
                            <a:srgbClr val="666666"/>
                          </a:solidFill>
                        </a:rPr>
                        <a:t>500</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F3F4F6"/>
                    </a:solidFill>
                  </a:tcPr>
                </a:tc>
                <a:tc>
                  <a:txBody>
                    <a:bodyPr/>
                    <a:lstStyle/>
                    <a:p>
                      <a:pPr marL="0" indent="0">
                        <a:buNone/>
                      </a:pPr>
                      <a:r>
                        <a:rPr lang="en-US" sz="1000" b="1">
                          <a:solidFill>
                            <a:srgbClr val="999999"/>
                          </a:solidFill>
                        </a:rPr>
                        <a:t>99.6%</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F3F4F6"/>
                    </a:solidFill>
                  </a:tcPr>
                </a:tc>
                <a:tc>
                  <a:txBody>
                    <a:bodyPr/>
                    <a:lstStyle/>
                    <a:p>
                      <a:pPr marL="0" indent="0">
                        <a:buNone/>
                      </a:pPr>
                      <a:r>
                        <a:rPr lang="en-US" sz="950">
                          <a:solidFill>
                            <a:srgbClr val="666666"/>
                          </a:solidFill>
                        </a:rPr>
                        <a:t>Dropped (≥90%); documented as optional context field</a:t>
                      </a:r>
                      <a:endParaRPr lang="en-US" sz="95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F3F4F6"/>
                    </a:solidFill>
                  </a:tcPr>
                </a:tc>
                <a:extLst>
                  <a:ext uri="{0D108BD9-81ED-4DB2-BD59-A6C34878D82A}">
                    <a16:rowId xmlns:a16="http://schemas.microsoft.com/office/drawing/2014/main" val="10001"/>
                  </a:ext>
                </a:extLst>
              </a:tr>
              <a:tr h="363670">
                <a:tc>
                  <a:txBody>
                    <a:bodyPr/>
                    <a:lstStyle/>
                    <a:p>
                      <a:pPr marL="0" indent="0">
                        <a:buNone/>
                      </a:pPr>
                      <a:r>
                        <a:rPr lang="en-US" sz="900" b="1">
                          <a:solidFill>
                            <a:srgbClr val="999999"/>
                          </a:solidFill>
                        </a:rPr>
                        <a:t>02</a:t>
                      </a:r>
                      <a:endParaRPr lang="en-US" sz="9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F3F4F6"/>
                    </a:solidFill>
                  </a:tcPr>
                </a:tc>
                <a:tc>
                  <a:txBody>
                    <a:bodyPr/>
                    <a:lstStyle/>
                    <a:p>
                      <a:pPr marL="0" indent="0">
                        <a:buNone/>
                      </a:pPr>
                      <a:r>
                        <a:rPr lang="en-US" sz="1000">
                          <a:solidFill>
                            <a:srgbClr val="666666"/>
                          </a:solidFill>
                        </a:rPr>
                        <a:t>High missingness — annual_salary</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F3F4F6"/>
                    </a:solidFill>
                  </a:tcPr>
                </a:tc>
                <a:tc>
                  <a:txBody>
                    <a:bodyPr/>
                    <a:lstStyle/>
                    <a:p>
                      <a:pPr marL="0" indent="0">
                        <a:buNone/>
                      </a:pPr>
                      <a:r>
                        <a:rPr lang="en-US" sz="1000">
                          <a:solidFill>
                            <a:srgbClr val="666666"/>
                          </a:solidFill>
                        </a:rPr>
                        <a:t>Completeness</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F3F4F6"/>
                    </a:solidFill>
                  </a:tcPr>
                </a:tc>
                <a:tc>
                  <a:txBody>
                    <a:bodyPr/>
                    <a:lstStyle/>
                    <a:p>
                      <a:pPr marL="0" indent="0">
                        <a:buNone/>
                      </a:pPr>
                      <a:r>
                        <a:rPr lang="en-US" sz="1000">
                          <a:solidFill>
                            <a:srgbClr val="666666"/>
                          </a:solidFill>
                        </a:rPr>
                        <a:t>financials.annual_salary</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F3F4F6"/>
                    </a:solidFill>
                  </a:tcPr>
                </a:tc>
                <a:tc>
                  <a:txBody>
                    <a:bodyPr/>
                    <a:lstStyle/>
                    <a:p>
                      <a:pPr marL="0" indent="0">
                        <a:buNone/>
                      </a:pPr>
                      <a:r>
                        <a:rPr lang="en-US" sz="1000">
                          <a:solidFill>
                            <a:srgbClr val="666666"/>
                          </a:solidFill>
                        </a:rPr>
                        <a:t>497</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F3F4F6"/>
                    </a:solidFill>
                  </a:tcPr>
                </a:tc>
                <a:tc>
                  <a:txBody>
                    <a:bodyPr/>
                    <a:lstStyle/>
                    <a:p>
                      <a:pPr marL="0" indent="0">
                        <a:buNone/>
                      </a:pPr>
                      <a:r>
                        <a:rPr lang="en-US" sz="1000" b="1">
                          <a:solidFill>
                            <a:srgbClr val="999999"/>
                          </a:solidFill>
                        </a:rPr>
                        <a:t>99.0%</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F3F4F6"/>
                    </a:solidFill>
                  </a:tcPr>
                </a:tc>
                <a:tc>
                  <a:txBody>
                    <a:bodyPr/>
                    <a:lstStyle/>
                    <a:p>
                      <a:pPr marL="0" indent="0">
                        <a:buNone/>
                      </a:pPr>
                      <a:r>
                        <a:rPr lang="en-US" sz="950">
                          <a:solidFill>
                            <a:srgbClr val="666666"/>
                          </a:solidFill>
                        </a:rPr>
                        <a:t>Dropped (≥90%); merged into annual_income before exclusion</a:t>
                      </a:r>
                      <a:endParaRPr lang="en-US" sz="95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F3F4F6"/>
                    </a:solidFill>
                  </a:tcPr>
                </a:tc>
                <a:extLst>
                  <a:ext uri="{0D108BD9-81ED-4DB2-BD59-A6C34878D82A}">
                    <a16:rowId xmlns:a16="http://schemas.microsoft.com/office/drawing/2014/main" val="10002"/>
                  </a:ext>
                </a:extLst>
              </a:tr>
              <a:tr h="363670">
                <a:tc>
                  <a:txBody>
                    <a:bodyPr/>
                    <a:lstStyle/>
                    <a:p>
                      <a:pPr marL="0" indent="0">
                        <a:buNone/>
                      </a:pPr>
                      <a:r>
                        <a:rPr lang="en-US" sz="900" b="1">
                          <a:solidFill>
                            <a:srgbClr val="999999"/>
                          </a:solidFill>
                        </a:rPr>
                        <a:t>03</a:t>
                      </a:r>
                      <a:endParaRPr lang="en-US" sz="9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F3F4F6"/>
                    </a:solidFill>
                  </a:tcPr>
                </a:tc>
                <a:tc>
                  <a:txBody>
                    <a:bodyPr/>
                    <a:lstStyle/>
                    <a:p>
                      <a:pPr marL="0" indent="0">
                        <a:buNone/>
                      </a:pPr>
                      <a:r>
                        <a:rPr lang="en-US" sz="1000">
                          <a:solidFill>
                            <a:srgbClr val="666666"/>
                          </a:solidFill>
                        </a:rPr>
                        <a:t>High missingness — loan_purpose</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F3F4F6"/>
                    </a:solidFill>
                  </a:tcPr>
                </a:tc>
                <a:tc>
                  <a:txBody>
                    <a:bodyPr/>
                    <a:lstStyle/>
                    <a:p>
                      <a:pPr marL="0" indent="0">
                        <a:buNone/>
                      </a:pPr>
                      <a:r>
                        <a:rPr lang="en-US" sz="1000">
                          <a:solidFill>
                            <a:srgbClr val="666666"/>
                          </a:solidFill>
                        </a:rPr>
                        <a:t>Completeness</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F3F4F6"/>
                    </a:solidFill>
                  </a:tcPr>
                </a:tc>
                <a:tc>
                  <a:txBody>
                    <a:bodyPr/>
                    <a:lstStyle/>
                    <a:p>
                      <a:pPr marL="0" indent="0">
                        <a:buNone/>
                      </a:pPr>
                      <a:r>
                        <a:rPr lang="en-US" sz="1000">
                          <a:solidFill>
                            <a:srgbClr val="666666"/>
                          </a:solidFill>
                        </a:rPr>
                        <a:t>loan_purpose</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F3F4F6"/>
                    </a:solidFill>
                  </a:tcPr>
                </a:tc>
                <a:tc>
                  <a:txBody>
                    <a:bodyPr/>
                    <a:lstStyle/>
                    <a:p>
                      <a:pPr marL="0" indent="0">
                        <a:buNone/>
                      </a:pPr>
                      <a:r>
                        <a:rPr lang="en-US" sz="1000">
                          <a:solidFill>
                            <a:srgbClr val="666666"/>
                          </a:solidFill>
                        </a:rPr>
                        <a:t>452</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F3F4F6"/>
                    </a:solidFill>
                  </a:tcPr>
                </a:tc>
                <a:tc>
                  <a:txBody>
                    <a:bodyPr/>
                    <a:lstStyle/>
                    <a:p>
                      <a:pPr marL="0" indent="0">
                        <a:buNone/>
                      </a:pPr>
                      <a:r>
                        <a:rPr lang="en-US" sz="1000" b="1">
                          <a:solidFill>
                            <a:srgbClr val="999999"/>
                          </a:solidFill>
                        </a:rPr>
                        <a:t>90.0%</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F3F4F6"/>
                    </a:solidFill>
                  </a:tcPr>
                </a:tc>
                <a:tc>
                  <a:txBody>
                    <a:bodyPr/>
                    <a:lstStyle/>
                    <a:p>
                      <a:pPr marL="0" indent="0">
                        <a:buNone/>
                      </a:pPr>
                      <a:r>
                        <a:rPr lang="en-US" sz="950">
                          <a:solidFill>
                            <a:srgbClr val="666666"/>
                          </a:solidFill>
                        </a:rPr>
                        <a:t>Dropped (≥90%); document collection policy for future audits</a:t>
                      </a:r>
                      <a:endParaRPr lang="en-US" sz="95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F3F4F6"/>
                    </a:solidFill>
                  </a:tcPr>
                </a:tc>
                <a:extLst>
                  <a:ext uri="{0D108BD9-81ED-4DB2-BD59-A6C34878D82A}">
                    <a16:rowId xmlns:a16="http://schemas.microsoft.com/office/drawing/2014/main" val="10003"/>
                  </a:ext>
                </a:extLst>
              </a:tr>
              <a:tr h="363670">
                <a:tc>
                  <a:txBody>
                    <a:bodyPr/>
                    <a:lstStyle/>
                    <a:p>
                      <a:pPr marL="0" indent="0">
                        <a:buNone/>
                      </a:pPr>
                      <a:r>
                        <a:rPr lang="en-US" sz="900" b="1">
                          <a:solidFill>
                            <a:srgbClr val="C0392B"/>
                          </a:solidFill>
                        </a:rPr>
                        <a:t>04</a:t>
                      </a:r>
                      <a:endParaRPr lang="en-US" sz="9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FEE2E2"/>
                    </a:solidFill>
                  </a:tcPr>
                </a:tc>
                <a:tc>
                  <a:txBody>
                    <a:bodyPr/>
                    <a:lstStyle/>
                    <a:p>
                      <a:pPr marL="0" indent="0">
                        <a:buNone/>
                      </a:pPr>
                      <a:r>
                        <a:rPr lang="en-US" sz="1000">
                          <a:solidFill>
                            <a:srgbClr val="000000"/>
                          </a:solidFill>
                        </a:rPr>
                        <a:t>High missingness — processing_timestamp</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FEE2E2"/>
                    </a:solidFill>
                  </a:tcPr>
                </a:tc>
                <a:tc>
                  <a:txBody>
                    <a:bodyPr/>
                    <a:lstStyle/>
                    <a:p>
                      <a:pPr marL="0" indent="0">
                        <a:buNone/>
                      </a:pPr>
                      <a:r>
                        <a:rPr lang="en-US" sz="1000">
                          <a:solidFill>
                            <a:srgbClr val="000000"/>
                          </a:solidFill>
                        </a:rPr>
                        <a:t>Completeness</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FEE2E2"/>
                    </a:solidFill>
                  </a:tcPr>
                </a:tc>
                <a:tc>
                  <a:txBody>
                    <a:bodyPr/>
                    <a:lstStyle/>
                    <a:p>
                      <a:pPr marL="0" indent="0">
                        <a:buNone/>
                      </a:pPr>
                      <a:r>
                        <a:rPr lang="en-US" sz="1000">
                          <a:solidFill>
                            <a:srgbClr val="000000"/>
                          </a:solidFill>
                        </a:rPr>
                        <a:t>processing_timestamp</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FEE2E2"/>
                    </a:solidFill>
                  </a:tcPr>
                </a:tc>
                <a:tc>
                  <a:txBody>
                    <a:bodyPr/>
                    <a:lstStyle/>
                    <a:p>
                      <a:pPr marL="0" indent="0">
                        <a:buNone/>
                      </a:pPr>
                      <a:r>
                        <a:rPr lang="en-US" sz="1000">
                          <a:solidFill>
                            <a:srgbClr val="000000"/>
                          </a:solidFill>
                        </a:rPr>
                        <a:t>440</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FEE2E2"/>
                    </a:solidFill>
                  </a:tcPr>
                </a:tc>
                <a:tc>
                  <a:txBody>
                    <a:bodyPr/>
                    <a:lstStyle/>
                    <a:p>
                      <a:pPr marL="0" indent="0">
                        <a:buNone/>
                      </a:pPr>
                      <a:r>
                        <a:rPr lang="en-US" sz="1000" b="1">
                          <a:solidFill>
                            <a:srgbClr val="C0392B"/>
                          </a:solidFill>
                        </a:rPr>
                        <a:t>87.6%</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FEE2E2"/>
                    </a:solidFill>
                  </a:tcPr>
                </a:tc>
                <a:tc>
                  <a:txBody>
                    <a:bodyPr/>
                    <a:lstStyle/>
                    <a:p>
                      <a:pPr marL="0" indent="0">
                        <a:buNone/>
                      </a:pPr>
                      <a:r>
                        <a:rPr lang="en-US" sz="950">
                          <a:solidFill>
                            <a:srgbClr val="000000"/>
                          </a:solidFill>
                        </a:rPr>
                        <a:t>Retained; restore field — required for GDPR Art. 5(1)(e) audit trail</a:t>
                      </a:r>
                      <a:endParaRPr lang="en-US" sz="95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FEE2E2"/>
                    </a:solidFill>
                  </a:tcPr>
                </a:tc>
                <a:extLst>
                  <a:ext uri="{0D108BD9-81ED-4DB2-BD59-A6C34878D82A}">
                    <a16:rowId xmlns:a16="http://schemas.microsoft.com/office/drawing/2014/main" val="10004"/>
                  </a:ext>
                </a:extLst>
              </a:tr>
              <a:tr h="363670">
                <a:tc>
                  <a:txBody>
                    <a:bodyPr/>
                    <a:lstStyle/>
                    <a:p>
                      <a:pPr marL="0" indent="0">
                        <a:buNone/>
                      </a:pPr>
                      <a:r>
                        <a:rPr lang="en-US" sz="900" b="1">
                          <a:solidFill>
                            <a:srgbClr val="000000"/>
                          </a:solidFill>
                        </a:rPr>
                        <a:t>05</a:t>
                      </a:r>
                      <a:endParaRPr lang="en-US" sz="9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a:solidFill>
                            <a:srgbClr val="000000"/>
                          </a:solidFill>
                        </a:rPr>
                        <a:t>Duplicate application IDs (conflicting values)</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a:solidFill>
                            <a:srgbClr val="000000"/>
                          </a:solidFill>
                        </a:rPr>
                        <a:t>Uniqueness</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a:solidFill>
                            <a:srgbClr val="000000"/>
                          </a:solidFill>
                        </a:rPr>
                        <a:t>_id</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a:solidFill>
                            <a:srgbClr val="000000"/>
                          </a:solidFill>
                        </a:rPr>
                        <a:t>2</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a:solidFill>
                            <a:srgbClr val="000000"/>
                          </a:solidFill>
                        </a:rPr>
                        <a:t>0.4%</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950">
                          <a:solidFill>
                            <a:srgbClr val="000000"/>
                          </a:solidFill>
                        </a:rPr>
                        <a:t>Retained most-complete record per _id</a:t>
                      </a:r>
                      <a:endParaRPr lang="en-US" sz="95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extLst>
                  <a:ext uri="{0D108BD9-81ED-4DB2-BD59-A6C34878D82A}">
                    <a16:rowId xmlns:a16="http://schemas.microsoft.com/office/drawing/2014/main" val="10005"/>
                  </a:ext>
                </a:extLst>
              </a:tr>
              <a:tr h="349683">
                <a:tc>
                  <a:txBody>
                    <a:bodyPr/>
                    <a:lstStyle/>
                    <a:p>
                      <a:pPr marL="0" indent="0">
                        <a:buNone/>
                      </a:pPr>
                      <a:r>
                        <a:rPr lang="en-US" sz="900" b="1">
                          <a:solidFill>
                            <a:srgbClr val="000000"/>
                          </a:solidFill>
                        </a:rPr>
                        <a:t>06</a:t>
                      </a:r>
                      <a:endParaRPr lang="en-US" sz="9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a:solidFill>
                            <a:srgbClr val="000000"/>
                          </a:solidFill>
                        </a:rPr>
                        <a:t>Gender encoded 5 inconsistent ways</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a:solidFill>
                            <a:srgbClr val="000000"/>
                          </a:solidFill>
                        </a:rPr>
                        <a:t>Consistency</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a:solidFill>
                            <a:srgbClr val="000000"/>
                          </a:solidFill>
                        </a:rPr>
                        <a:t>gender</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a:solidFill>
                            <a:srgbClr val="000000"/>
                          </a:solidFill>
                        </a:rPr>
                        <a:t>113</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a:solidFill>
                            <a:srgbClr val="000000"/>
                          </a:solidFill>
                        </a:rPr>
                        <a:t>22.5%</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950">
                          <a:solidFill>
                            <a:srgbClr val="000000"/>
                          </a:solidFill>
                        </a:rPr>
                        <a:t>Normalised to Male/Female/Unknown — not imputed</a:t>
                      </a:r>
                      <a:endParaRPr lang="en-US" sz="95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extLst>
                  <a:ext uri="{0D108BD9-81ED-4DB2-BD59-A6C34878D82A}">
                    <a16:rowId xmlns:a16="http://schemas.microsoft.com/office/drawing/2014/main" val="10006"/>
                  </a:ext>
                </a:extLst>
              </a:tr>
              <a:tr h="318911">
                <a:tc>
                  <a:txBody>
                    <a:bodyPr/>
                    <a:lstStyle/>
                    <a:p>
                      <a:pPr marL="0" indent="0">
                        <a:buNone/>
                      </a:pPr>
                      <a:r>
                        <a:rPr lang="en-US" sz="900" b="1">
                          <a:solidFill>
                            <a:srgbClr val="000000"/>
                          </a:solidFill>
                        </a:rPr>
                        <a:t>07</a:t>
                      </a:r>
                      <a:endParaRPr lang="en-US" sz="9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a:solidFill>
                            <a:srgbClr val="000000"/>
                          </a:solidFill>
                        </a:rPr>
                        <a:t>Date of birth in 4 different formats</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a:solidFill>
                            <a:srgbClr val="000000"/>
                          </a:solidFill>
                        </a:rPr>
                        <a:t>Consistency</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a:solidFill>
                            <a:srgbClr val="000000"/>
                          </a:solidFill>
                        </a:rPr>
                        <a:t>date_of_birth</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a:solidFill>
                            <a:srgbClr val="000000"/>
                          </a:solidFill>
                        </a:rPr>
                        <a:t>500</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a:solidFill>
                            <a:srgbClr val="000000"/>
                          </a:solidFill>
                        </a:rPr>
                        <a:t>100%</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950">
                          <a:solidFill>
                            <a:srgbClr val="000000"/>
                          </a:solidFill>
                        </a:rPr>
                        <a:t>Parsed by regex; standardised to ISO 8601</a:t>
                      </a:r>
                      <a:endParaRPr lang="en-US" sz="95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extLst>
                  <a:ext uri="{0D108BD9-81ED-4DB2-BD59-A6C34878D82A}">
                    <a16:rowId xmlns:a16="http://schemas.microsoft.com/office/drawing/2014/main" val="10007"/>
                  </a:ext>
                </a:extLst>
              </a:tr>
              <a:tr h="318911">
                <a:tc>
                  <a:txBody>
                    <a:bodyPr/>
                    <a:lstStyle/>
                    <a:p>
                      <a:pPr marL="0" indent="0">
                        <a:buNone/>
                      </a:pPr>
                      <a:r>
                        <a:rPr lang="en-US" sz="900" b="1">
                          <a:solidFill>
                            <a:srgbClr val="000000"/>
                          </a:solidFill>
                        </a:rPr>
                        <a:t>08</a:t>
                      </a:r>
                      <a:endParaRPr lang="en-US" sz="9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a:solidFill>
                            <a:srgbClr val="000000"/>
                          </a:solidFill>
                        </a:rPr>
                        <a:t>Invalid email addresses</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a:solidFill>
                            <a:srgbClr val="000000"/>
                          </a:solidFill>
                        </a:rPr>
                        <a:t>Validity</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a:solidFill>
                            <a:srgbClr val="000000"/>
                          </a:solidFill>
                        </a:rPr>
                        <a:t>email</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a:solidFill>
                            <a:srgbClr val="000000"/>
                          </a:solidFill>
                        </a:rPr>
                        <a:t>11</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a:solidFill>
                            <a:srgbClr val="000000"/>
                          </a:solidFill>
                        </a:rPr>
                        <a:t>2.2%</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950">
                          <a:solidFill>
                            <a:srgbClr val="000000"/>
                          </a:solidFill>
                        </a:rPr>
                        <a:t>Coerced to NaN — PII not imputed</a:t>
                      </a:r>
                      <a:endParaRPr lang="en-US" sz="95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extLst>
                  <a:ext uri="{0D108BD9-81ED-4DB2-BD59-A6C34878D82A}">
                    <a16:rowId xmlns:a16="http://schemas.microsoft.com/office/drawing/2014/main" val="10008"/>
                  </a:ext>
                </a:extLst>
              </a:tr>
              <a:tr h="363670">
                <a:tc>
                  <a:txBody>
                    <a:bodyPr/>
                    <a:lstStyle/>
                    <a:p>
                      <a:pPr marL="0" indent="0">
                        <a:buNone/>
                      </a:pPr>
                      <a:r>
                        <a:rPr lang="en-US" sz="900" b="1">
                          <a:solidFill>
                            <a:srgbClr val="000000"/>
                          </a:solidFill>
                        </a:rPr>
                        <a:t>09</a:t>
                      </a:r>
                      <a:endParaRPr lang="en-US" sz="9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a:solidFill>
                            <a:srgbClr val="000000"/>
                          </a:solidFill>
                        </a:rPr>
                        <a:t>Negative credit history / savings balance</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a:solidFill>
                            <a:srgbClr val="000000"/>
                          </a:solidFill>
                        </a:rPr>
                        <a:t>Validity</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a:solidFill>
                            <a:srgbClr val="000000"/>
                          </a:solidFill>
                        </a:rPr>
                        <a:t>credit_history_months, savings_balance</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a:solidFill>
                            <a:srgbClr val="000000"/>
                          </a:solidFill>
                        </a:rPr>
                        <a:t>3</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a:solidFill>
                            <a:srgbClr val="000000"/>
                          </a:solidFill>
                        </a:rPr>
                        <a:t>0.6%</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950">
                          <a:solidFill>
                            <a:srgbClr val="000000"/>
                          </a:solidFill>
                        </a:rPr>
                        <a:t>Domain impossibilities → flagged and set to NaN</a:t>
                      </a:r>
                      <a:endParaRPr lang="en-US" sz="95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6" name="Shape 4"/>
          <p:cNvSpPr/>
          <p:nvPr/>
        </p:nvSpPr>
        <p:spPr>
          <a:xfrm>
            <a:off x="452443" y="4517136"/>
            <a:ext cx="8234358" cy="324612"/>
          </a:xfrm>
          <a:prstGeom prst="rect">
            <a:avLst/>
          </a:prstGeom>
          <a:solidFill>
            <a:srgbClr val="1A2744"/>
          </a:solidFill>
          <a:ln w="12700">
            <a:solidFill>
              <a:srgbClr val="1A2744"/>
            </a:solidFill>
            <a:prstDash val="solid"/>
          </a:ln>
        </p:spPr>
        <p:txBody>
          <a:bodyPr/>
          <a:lstStyle/>
          <a:p>
            <a:endParaRPr lang="en-PT"/>
          </a:p>
        </p:txBody>
      </p:sp>
      <p:sp>
        <p:nvSpPr>
          <p:cNvPr id="8" name="Text 5"/>
          <p:cNvSpPr/>
          <p:nvPr/>
        </p:nvSpPr>
        <p:spPr>
          <a:xfrm>
            <a:off x="502920" y="4489393"/>
            <a:ext cx="2011680" cy="201168"/>
          </a:xfrm>
          <a:prstGeom prst="rect">
            <a:avLst/>
          </a:prstGeom>
          <a:noFill/>
          <a:ln/>
        </p:spPr>
        <p:txBody>
          <a:bodyPr wrap="square" rtlCol="0" anchor="ctr"/>
          <a:lstStyle/>
          <a:p>
            <a:pPr marL="0" indent="0">
              <a:buNone/>
            </a:pPr>
            <a:r>
              <a:rPr lang="en-US" sz="900" b="1">
                <a:solidFill>
                  <a:srgbClr val="FFFFFF"/>
                </a:solidFill>
                <a:latin typeface="Calibri" pitchFamily="34" charset="0"/>
                <a:ea typeface="Calibri" pitchFamily="34" charset="-122"/>
                <a:cs typeface="Calibri" pitchFamily="34" charset="-120"/>
              </a:rPr>
              <a:t>7 issues catalogued</a:t>
            </a:r>
            <a:endParaRPr lang="en-US" sz="900"/>
          </a:p>
        </p:txBody>
      </p:sp>
      <p:sp>
        <p:nvSpPr>
          <p:cNvPr id="9" name="Text 6"/>
          <p:cNvSpPr/>
          <p:nvPr/>
        </p:nvSpPr>
        <p:spPr>
          <a:xfrm>
            <a:off x="502920" y="4617948"/>
            <a:ext cx="2011680" cy="164592"/>
          </a:xfrm>
          <a:prstGeom prst="rect">
            <a:avLst/>
          </a:prstGeom>
          <a:noFill/>
          <a:ln/>
        </p:spPr>
        <p:txBody>
          <a:bodyPr wrap="square" rtlCol="0" anchor="ctr"/>
          <a:lstStyle/>
          <a:p>
            <a:pPr marL="0" indent="0">
              <a:buNone/>
            </a:pPr>
            <a:r>
              <a:rPr lang="en-US" sz="850">
                <a:solidFill>
                  <a:srgbClr val="AAB8CC"/>
                </a:solidFill>
                <a:latin typeface="Calibri" pitchFamily="34" charset="0"/>
                <a:ea typeface="Calibri" pitchFamily="34" charset="-122"/>
                <a:cs typeface="Calibri" pitchFamily="34" charset="-120"/>
              </a:rPr>
              <a:t>across 4 dimensions</a:t>
            </a:r>
            <a:endParaRPr lang="en-US" sz="850"/>
          </a:p>
        </p:txBody>
      </p:sp>
      <p:sp>
        <p:nvSpPr>
          <p:cNvPr id="10" name="Text 7"/>
          <p:cNvSpPr/>
          <p:nvPr/>
        </p:nvSpPr>
        <p:spPr>
          <a:xfrm>
            <a:off x="2651760" y="4478274"/>
            <a:ext cx="2011680" cy="201168"/>
          </a:xfrm>
          <a:prstGeom prst="rect">
            <a:avLst/>
          </a:prstGeom>
          <a:noFill/>
          <a:ln/>
        </p:spPr>
        <p:txBody>
          <a:bodyPr wrap="square" rtlCol="0" anchor="ctr"/>
          <a:lstStyle/>
          <a:p>
            <a:pPr marL="0" indent="0">
              <a:buNone/>
            </a:pPr>
            <a:r>
              <a:rPr lang="en-US" sz="900" b="1">
                <a:solidFill>
                  <a:srgbClr val="FFFFFF"/>
                </a:solidFill>
                <a:latin typeface="Calibri" pitchFamily="34" charset="0"/>
                <a:ea typeface="Calibri" pitchFamily="34" charset="-122"/>
                <a:cs typeface="Calibri" pitchFamily="34" charset="-120"/>
              </a:rPr>
              <a:t>2 critical gaps</a:t>
            </a:r>
            <a:endParaRPr lang="en-US" sz="900"/>
          </a:p>
        </p:txBody>
      </p:sp>
      <p:sp>
        <p:nvSpPr>
          <p:cNvPr id="11" name="Text 8"/>
          <p:cNvSpPr/>
          <p:nvPr/>
        </p:nvSpPr>
        <p:spPr>
          <a:xfrm>
            <a:off x="2651760" y="4617948"/>
            <a:ext cx="2011680" cy="164592"/>
          </a:xfrm>
          <a:prstGeom prst="rect">
            <a:avLst/>
          </a:prstGeom>
          <a:noFill/>
          <a:ln/>
        </p:spPr>
        <p:txBody>
          <a:bodyPr wrap="square" rtlCol="0" anchor="ctr"/>
          <a:lstStyle/>
          <a:p>
            <a:pPr marL="0" indent="0">
              <a:buNone/>
            </a:pPr>
            <a:r>
              <a:rPr lang="en-US" sz="850">
                <a:solidFill>
                  <a:srgbClr val="AAB8CC"/>
                </a:solidFill>
                <a:latin typeface="Calibri" pitchFamily="34" charset="0"/>
                <a:ea typeface="Calibri" pitchFamily="34" charset="-122"/>
                <a:cs typeface="Calibri" pitchFamily="34" charset="-120"/>
              </a:rPr>
              <a:t>completeness — GDPR risk</a:t>
            </a:r>
            <a:endParaRPr lang="en-US" sz="850"/>
          </a:p>
        </p:txBody>
      </p:sp>
      <p:sp>
        <p:nvSpPr>
          <p:cNvPr id="12" name="Text 9"/>
          <p:cNvSpPr/>
          <p:nvPr/>
        </p:nvSpPr>
        <p:spPr>
          <a:xfrm>
            <a:off x="4800600" y="4495420"/>
            <a:ext cx="2011680" cy="201168"/>
          </a:xfrm>
          <a:prstGeom prst="rect">
            <a:avLst/>
          </a:prstGeom>
          <a:noFill/>
          <a:ln/>
        </p:spPr>
        <p:txBody>
          <a:bodyPr wrap="square" rtlCol="0" anchor="ctr"/>
          <a:lstStyle/>
          <a:p>
            <a:pPr marL="0" indent="0">
              <a:buNone/>
            </a:pPr>
            <a:r>
              <a:rPr lang="en-US" sz="900" b="1">
                <a:solidFill>
                  <a:srgbClr val="FFFFFF"/>
                </a:solidFill>
                <a:latin typeface="Calibri" pitchFamily="34" charset="0"/>
                <a:ea typeface="Calibri" pitchFamily="34" charset="-122"/>
                <a:cs typeface="Calibri" pitchFamily="34" charset="-120"/>
              </a:rPr>
              <a:t>Governance-sensitive fields</a:t>
            </a:r>
            <a:endParaRPr lang="en-US" sz="900"/>
          </a:p>
        </p:txBody>
      </p:sp>
      <p:sp>
        <p:nvSpPr>
          <p:cNvPr id="13" name="Text 10"/>
          <p:cNvSpPr/>
          <p:nvPr/>
        </p:nvSpPr>
        <p:spPr>
          <a:xfrm>
            <a:off x="4800600" y="4663440"/>
            <a:ext cx="2011680" cy="164592"/>
          </a:xfrm>
          <a:prstGeom prst="rect">
            <a:avLst/>
          </a:prstGeom>
          <a:noFill/>
          <a:ln/>
        </p:spPr>
        <p:txBody>
          <a:bodyPr wrap="square" rtlCol="0" anchor="ctr"/>
          <a:lstStyle/>
          <a:p>
            <a:pPr marL="0" indent="0">
              <a:buNone/>
            </a:pPr>
            <a:r>
              <a:rPr lang="en-US" sz="850">
                <a:solidFill>
                  <a:srgbClr val="AAB8CC"/>
                </a:solidFill>
                <a:latin typeface="Calibri" pitchFamily="34" charset="0"/>
                <a:ea typeface="Calibri" pitchFamily="34" charset="-122"/>
                <a:cs typeface="Calibri" pitchFamily="34" charset="-120"/>
              </a:rPr>
              <a:t>never imputed</a:t>
            </a:r>
            <a:endParaRPr lang="en-US" sz="850"/>
          </a:p>
        </p:txBody>
      </p:sp>
      <p:sp>
        <p:nvSpPr>
          <p:cNvPr id="14" name="Text 11"/>
          <p:cNvSpPr/>
          <p:nvPr/>
        </p:nvSpPr>
        <p:spPr>
          <a:xfrm>
            <a:off x="6999917" y="4495420"/>
            <a:ext cx="2011680" cy="201168"/>
          </a:xfrm>
          <a:prstGeom prst="rect">
            <a:avLst/>
          </a:prstGeom>
          <a:noFill/>
          <a:ln/>
        </p:spPr>
        <p:txBody>
          <a:bodyPr wrap="square" rtlCol="0" anchor="ctr"/>
          <a:lstStyle/>
          <a:p>
            <a:pPr marL="0" indent="0">
              <a:buNone/>
            </a:pPr>
            <a:r>
              <a:rPr lang="en-US" sz="900" b="1">
                <a:solidFill>
                  <a:srgbClr val="FFFFFF"/>
                </a:solidFill>
                <a:latin typeface="Calibri" pitchFamily="34" charset="0"/>
                <a:ea typeface="Calibri" pitchFamily="34" charset="-122"/>
                <a:cs typeface="Calibri" pitchFamily="34" charset="-120"/>
              </a:rPr>
              <a:t>Clean output</a:t>
            </a:r>
            <a:endParaRPr lang="en-US" sz="900"/>
          </a:p>
        </p:txBody>
      </p:sp>
      <p:sp>
        <p:nvSpPr>
          <p:cNvPr id="15" name="Text 12"/>
          <p:cNvSpPr/>
          <p:nvPr/>
        </p:nvSpPr>
        <p:spPr>
          <a:xfrm>
            <a:off x="6999917" y="4638238"/>
            <a:ext cx="2011680" cy="164592"/>
          </a:xfrm>
          <a:prstGeom prst="rect">
            <a:avLst/>
          </a:prstGeom>
          <a:noFill/>
          <a:ln/>
        </p:spPr>
        <p:txBody>
          <a:bodyPr wrap="square" rtlCol="0" anchor="ctr"/>
          <a:lstStyle/>
          <a:p>
            <a:pPr marL="0" indent="0">
              <a:buNone/>
            </a:pPr>
            <a:r>
              <a:rPr lang="en-US" sz="850">
                <a:solidFill>
                  <a:srgbClr val="AAB8CC"/>
                </a:solidFill>
                <a:latin typeface="Calibri" pitchFamily="34" charset="0"/>
                <a:ea typeface="Calibri" pitchFamily="34" charset="-122"/>
                <a:cs typeface="Calibri" pitchFamily="34" charset="-120"/>
              </a:rPr>
              <a:t>500 rows × 34 columns</a:t>
            </a:r>
            <a:endParaRPr lang="en-US" sz="850"/>
          </a:p>
        </p:txBody>
      </p:sp>
      <p:sp>
        <p:nvSpPr>
          <p:cNvPr id="16" name="Shape 13"/>
          <p:cNvSpPr/>
          <p:nvPr/>
        </p:nvSpPr>
        <p:spPr>
          <a:xfrm>
            <a:off x="0" y="4864608"/>
            <a:ext cx="9144000" cy="278892"/>
          </a:xfrm>
          <a:prstGeom prst="rect">
            <a:avLst/>
          </a:prstGeom>
          <a:solidFill>
            <a:srgbClr val="000000"/>
          </a:solidFill>
          <a:ln w="12700">
            <a:solidFill>
              <a:srgbClr val="000000"/>
            </a:solidFill>
            <a:prstDash val="solid"/>
          </a:ln>
        </p:spPr>
        <p:txBody>
          <a:bodyPr/>
          <a:lstStyle/>
          <a:p>
            <a:endParaRPr lang="en-PT"/>
          </a:p>
        </p:txBody>
      </p:sp>
      <p:sp>
        <p:nvSpPr>
          <p:cNvPr id="17" name="Text 14"/>
          <p:cNvSpPr/>
          <p:nvPr/>
        </p:nvSpPr>
        <p:spPr>
          <a:xfrm>
            <a:off x="274320" y="4873752"/>
            <a:ext cx="8046720" cy="246888"/>
          </a:xfrm>
          <a:prstGeom prst="rect">
            <a:avLst/>
          </a:prstGeom>
          <a:noFill/>
          <a:ln/>
        </p:spPr>
        <p:txBody>
          <a:bodyPr wrap="square" rtlCol="0" anchor="ctr"/>
          <a:lstStyle/>
          <a:p>
            <a:pPr marL="0" indent="0">
              <a:buNone/>
            </a:pPr>
            <a:r>
              <a:rPr lang="en-US" sz="800">
                <a:solidFill>
                  <a:srgbClr val="999999"/>
                </a:solidFill>
                <a:latin typeface="Calibri" pitchFamily="34" charset="0"/>
                <a:ea typeface="Calibri" pitchFamily="34" charset="-122"/>
                <a:cs typeface="Calibri" pitchFamily="34" charset="-120"/>
              </a:rPr>
              <a:t>Team 14 — TXB  |  NovaCred Credit Governance  |  DEGO 2606, Nova SBE</a:t>
            </a:r>
            <a:endParaRPr lang="en-US" sz="800"/>
          </a:p>
        </p:txBody>
      </p:sp>
      <p:sp>
        <p:nvSpPr>
          <p:cNvPr id="18" name="Text 15"/>
          <p:cNvSpPr/>
          <p:nvPr/>
        </p:nvSpPr>
        <p:spPr>
          <a:xfrm>
            <a:off x="8686800" y="4873752"/>
            <a:ext cx="365760" cy="246888"/>
          </a:xfrm>
          <a:prstGeom prst="rect">
            <a:avLst/>
          </a:prstGeom>
          <a:noFill/>
          <a:ln/>
        </p:spPr>
        <p:txBody>
          <a:bodyPr wrap="square" rtlCol="0" anchor="ctr"/>
          <a:lstStyle/>
          <a:p>
            <a:pPr marL="0" indent="0" algn="r">
              <a:buNone/>
            </a:pPr>
            <a:r>
              <a:rPr lang="en-US" sz="950">
                <a:solidFill>
                  <a:srgbClr val="999999"/>
                </a:solidFill>
                <a:latin typeface="Calibri" pitchFamily="34" charset="0"/>
                <a:ea typeface="Calibri" pitchFamily="34" charset="-122"/>
                <a:cs typeface="Calibri" pitchFamily="34" charset="-120"/>
              </a:rPr>
              <a:t>4c</a:t>
            </a:r>
            <a:endParaRPr lang="en-US" sz="95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A2744"/>
          </a:solidFill>
          <a:ln w="12700">
            <a:solidFill>
              <a:srgbClr val="1A2744"/>
            </a:solidFill>
            <a:prstDash val="solid"/>
          </a:ln>
        </p:spPr>
        <p:txBody>
          <a:bodyPr/>
          <a:lstStyle/>
          <a:p>
            <a:endParaRPr lang="en-PT"/>
          </a:p>
        </p:txBody>
      </p:sp>
      <p:sp>
        <p:nvSpPr>
          <p:cNvPr id="3" name="Shape 1"/>
          <p:cNvSpPr/>
          <p:nvPr/>
        </p:nvSpPr>
        <p:spPr>
          <a:xfrm>
            <a:off x="0" y="0"/>
            <a:ext cx="274320" cy="713232"/>
          </a:xfrm>
          <a:prstGeom prst="rect">
            <a:avLst/>
          </a:prstGeom>
          <a:solidFill>
            <a:srgbClr val="C0392B"/>
          </a:solidFill>
          <a:ln w="12700">
            <a:solidFill>
              <a:srgbClr val="C0392B"/>
            </a:solidFill>
            <a:prstDash val="solid"/>
          </a:ln>
        </p:spPr>
        <p:txBody>
          <a:bodyPr/>
          <a:lstStyle/>
          <a:p>
            <a:endParaRPr lang="en-PT"/>
          </a:p>
        </p:txBody>
      </p:sp>
      <p:sp>
        <p:nvSpPr>
          <p:cNvPr id="4" name="Text 2"/>
          <p:cNvSpPr/>
          <p:nvPr/>
        </p:nvSpPr>
        <p:spPr>
          <a:xfrm>
            <a:off x="411480" y="73152"/>
            <a:ext cx="8503920" cy="411480"/>
          </a:xfrm>
          <a:prstGeom prst="rect">
            <a:avLst/>
          </a:prstGeom>
          <a:noFill/>
          <a:ln/>
        </p:spPr>
        <p:txBody>
          <a:bodyPr wrap="square" rtlCol="0" anchor="ctr"/>
          <a:lstStyle/>
          <a:p>
            <a:pPr marL="0" indent="0">
              <a:buNone/>
            </a:pPr>
            <a:r>
              <a:rPr lang="en-US" sz="2200" b="1">
                <a:solidFill>
                  <a:srgbClr val="FFFFFF"/>
                </a:solidFill>
                <a:latin typeface="Georgia" pitchFamily="34" charset="0"/>
                <a:ea typeface="Georgia" pitchFamily="34" charset="-122"/>
                <a:cs typeface="Georgia" pitchFamily="34" charset="-120"/>
              </a:rPr>
              <a:t>Gender Disparate Impact</a:t>
            </a:r>
            <a:endParaRPr lang="en-US" sz="2200"/>
          </a:p>
        </p:txBody>
      </p:sp>
      <p:sp>
        <p:nvSpPr>
          <p:cNvPr id="5" name="Text 3"/>
          <p:cNvSpPr/>
          <p:nvPr/>
        </p:nvSpPr>
        <p:spPr>
          <a:xfrm>
            <a:off x="411480" y="475488"/>
            <a:ext cx="8503920" cy="201168"/>
          </a:xfrm>
          <a:prstGeom prst="rect">
            <a:avLst/>
          </a:prstGeom>
          <a:noFill/>
          <a:ln/>
        </p:spPr>
        <p:txBody>
          <a:bodyPr wrap="square" rtlCol="0" anchor="ctr"/>
          <a:lstStyle/>
          <a:p>
            <a:pPr marL="0" indent="0">
              <a:buNone/>
            </a:pPr>
            <a:r>
              <a:rPr lang="en-US" sz="1100" i="1">
                <a:solidFill>
                  <a:srgbClr val="AABBD0"/>
                </a:solidFill>
                <a:latin typeface="Calibri" pitchFamily="34" charset="0"/>
                <a:ea typeface="Calibri" pitchFamily="34" charset="-122"/>
                <a:cs typeface="Calibri" pitchFamily="34" charset="-120"/>
              </a:rPr>
              <a:t>Notebook 02  |  Maddalena Manfredi — Data Scientist</a:t>
            </a:r>
            <a:endParaRPr lang="en-US" sz="1100"/>
          </a:p>
        </p:txBody>
      </p:sp>
      <p:graphicFrame>
        <p:nvGraphicFramePr>
          <p:cNvPr id="6" name="Chart 0"/>
          <p:cNvGraphicFramePr/>
          <p:nvPr/>
        </p:nvGraphicFramePr>
        <p:xfrm>
          <a:off x="320040" y="822960"/>
          <a:ext cx="5120640" cy="352044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320040" y="1883664"/>
            <a:ext cx="5120640" cy="0"/>
          </a:xfrm>
          <a:prstGeom prst="line">
            <a:avLst/>
          </a:prstGeom>
          <a:noFill/>
          <a:ln w="12700">
            <a:solidFill>
              <a:srgbClr val="C0392B"/>
            </a:solidFill>
            <a:prstDash val="dash"/>
          </a:ln>
        </p:spPr>
        <p:txBody>
          <a:bodyPr/>
          <a:lstStyle/>
          <a:p>
            <a:endParaRPr lang="en-PT"/>
          </a:p>
        </p:txBody>
      </p:sp>
      <p:sp>
        <p:nvSpPr>
          <p:cNvPr id="8" name="Text 5"/>
          <p:cNvSpPr/>
          <p:nvPr/>
        </p:nvSpPr>
        <p:spPr>
          <a:xfrm>
            <a:off x="618008" y="1700784"/>
            <a:ext cx="2743200" cy="201168"/>
          </a:xfrm>
          <a:prstGeom prst="rect">
            <a:avLst/>
          </a:prstGeom>
          <a:noFill/>
          <a:ln/>
        </p:spPr>
        <p:txBody>
          <a:bodyPr wrap="square" rtlCol="0" anchor="ctr"/>
          <a:lstStyle/>
          <a:p>
            <a:pPr marL="0" indent="0">
              <a:buNone/>
            </a:pPr>
            <a:r>
              <a:rPr lang="en-US" sz="900" i="1">
                <a:solidFill>
                  <a:srgbClr val="C0392B"/>
                </a:solidFill>
                <a:latin typeface="Calibri" pitchFamily="34" charset="0"/>
                <a:ea typeface="Calibri" pitchFamily="34" charset="-122"/>
                <a:cs typeface="Calibri" pitchFamily="34" charset="-120"/>
              </a:rPr>
              <a:t>── 4/5 threshold (52.8%)</a:t>
            </a:r>
            <a:endParaRPr lang="en-US" sz="900"/>
          </a:p>
        </p:txBody>
      </p:sp>
      <p:sp>
        <p:nvSpPr>
          <p:cNvPr id="9" name="Shape 6"/>
          <p:cNvSpPr/>
          <p:nvPr/>
        </p:nvSpPr>
        <p:spPr>
          <a:xfrm>
            <a:off x="5669280" y="822960"/>
            <a:ext cx="3154680" cy="786384"/>
          </a:xfrm>
          <a:prstGeom prst="rect">
            <a:avLst/>
          </a:prstGeom>
          <a:solidFill>
            <a:srgbClr val="FFFFFF"/>
          </a:solidFill>
          <a:ln w="12700">
            <a:solidFill>
              <a:srgbClr val="D0D7E0"/>
            </a:solidFill>
            <a:prstDash val="solid"/>
          </a:ln>
          <a:effectLst>
            <a:outerShdw blurRad="76200" dist="25400" dir="8100000" algn="bl" rotWithShape="0">
              <a:srgbClr val="000000">
                <a:alpha val="10000"/>
              </a:srgbClr>
            </a:outerShdw>
          </a:effectLst>
        </p:spPr>
        <p:txBody>
          <a:bodyPr/>
          <a:lstStyle/>
          <a:p>
            <a:endParaRPr lang="en-PT"/>
          </a:p>
        </p:txBody>
      </p:sp>
      <p:sp>
        <p:nvSpPr>
          <p:cNvPr id="10" name="Shape 7"/>
          <p:cNvSpPr/>
          <p:nvPr/>
        </p:nvSpPr>
        <p:spPr>
          <a:xfrm>
            <a:off x="5669280" y="822960"/>
            <a:ext cx="73152" cy="786384"/>
          </a:xfrm>
          <a:prstGeom prst="rect">
            <a:avLst/>
          </a:prstGeom>
          <a:solidFill>
            <a:srgbClr val="C0392B"/>
          </a:solidFill>
          <a:ln w="12700">
            <a:solidFill>
              <a:srgbClr val="C0392B"/>
            </a:solidFill>
            <a:prstDash val="solid"/>
          </a:ln>
        </p:spPr>
        <p:txBody>
          <a:bodyPr/>
          <a:lstStyle/>
          <a:p>
            <a:endParaRPr lang="en-PT"/>
          </a:p>
        </p:txBody>
      </p:sp>
      <p:sp>
        <p:nvSpPr>
          <p:cNvPr id="11" name="Text 8"/>
          <p:cNvSpPr/>
          <p:nvPr/>
        </p:nvSpPr>
        <p:spPr>
          <a:xfrm>
            <a:off x="5815584" y="859536"/>
            <a:ext cx="2926080" cy="393192"/>
          </a:xfrm>
          <a:prstGeom prst="rect">
            <a:avLst/>
          </a:prstGeom>
          <a:noFill/>
          <a:ln/>
        </p:spPr>
        <p:txBody>
          <a:bodyPr wrap="square" rtlCol="0" anchor="ctr"/>
          <a:lstStyle/>
          <a:p>
            <a:pPr marL="0" indent="0">
              <a:buNone/>
            </a:pPr>
            <a:r>
              <a:rPr lang="en-US" sz="2400" b="1">
                <a:solidFill>
                  <a:srgbClr val="C0392B"/>
                </a:solidFill>
                <a:latin typeface="Georgia" pitchFamily="34" charset="0"/>
                <a:ea typeface="Georgia" pitchFamily="34" charset="-122"/>
                <a:cs typeface="Georgia" pitchFamily="34" charset="-120"/>
              </a:rPr>
              <a:t>0.77</a:t>
            </a:r>
            <a:endParaRPr lang="en-US" sz="2400"/>
          </a:p>
        </p:txBody>
      </p:sp>
      <p:sp>
        <p:nvSpPr>
          <p:cNvPr id="12" name="Text 9"/>
          <p:cNvSpPr/>
          <p:nvPr/>
        </p:nvSpPr>
        <p:spPr>
          <a:xfrm>
            <a:off x="5815584" y="1243584"/>
            <a:ext cx="2926080" cy="182880"/>
          </a:xfrm>
          <a:prstGeom prst="rect">
            <a:avLst/>
          </a:prstGeom>
          <a:noFill/>
          <a:ln/>
        </p:spPr>
        <p:txBody>
          <a:bodyPr wrap="square" rtlCol="0" anchor="ctr"/>
          <a:lstStyle/>
          <a:p>
            <a:pPr marL="0" indent="0">
              <a:buNone/>
            </a:pPr>
            <a:r>
              <a:rPr lang="en-US" sz="1100" b="1">
                <a:solidFill>
                  <a:srgbClr val="1A2744"/>
                </a:solidFill>
                <a:latin typeface="Calibri" pitchFamily="34" charset="0"/>
                <a:ea typeface="Calibri" pitchFamily="34" charset="-122"/>
                <a:cs typeface="Calibri" pitchFamily="34" charset="-120"/>
              </a:rPr>
              <a:t>DI Ratio</a:t>
            </a:r>
            <a:endParaRPr lang="en-US" sz="1100"/>
          </a:p>
        </p:txBody>
      </p:sp>
      <p:sp>
        <p:nvSpPr>
          <p:cNvPr id="13" name="Text 10"/>
          <p:cNvSpPr/>
          <p:nvPr/>
        </p:nvSpPr>
        <p:spPr>
          <a:xfrm>
            <a:off x="5815584" y="1417320"/>
            <a:ext cx="2926080" cy="164592"/>
          </a:xfrm>
          <a:prstGeom prst="rect">
            <a:avLst/>
          </a:prstGeom>
          <a:noFill/>
          <a:ln/>
        </p:spPr>
        <p:txBody>
          <a:bodyPr wrap="square" rtlCol="0" anchor="ctr"/>
          <a:lstStyle/>
          <a:p>
            <a:pPr marL="0" indent="0">
              <a:buNone/>
            </a:pPr>
            <a:r>
              <a:rPr lang="en-US" sz="950">
                <a:solidFill>
                  <a:srgbClr val="8492A6"/>
                </a:solidFill>
                <a:latin typeface="Calibri" pitchFamily="34" charset="0"/>
                <a:ea typeface="Calibri" pitchFamily="34" charset="-122"/>
                <a:cs typeface="Calibri" pitchFamily="34" charset="-120"/>
              </a:rPr>
              <a:t>Below 0.80 — legally significant</a:t>
            </a:r>
            <a:endParaRPr lang="en-US" sz="950"/>
          </a:p>
        </p:txBody>
      </p:sp>
      <p:sp>
        <p:nvSpPr>
          <p:cNvPr id="14" name="Shape 11"/>
          <p:cNvSpPr/>
          <p:nvPr/>
        </p:nvSpPr>
        <p:spPr>
          <a:xfrm>
            <a:off x="5669280" y="1700784"/>
            <a:ext cx="3154680" cy="786384"/>
          </a:xfrm>
          <a:prstGeom prst="rect">
            <a:avLst/>
          </a:prstGeom>
          <a:solidFill>
            <a:srgbClr val="FFFFFF"/>
          </a:solidFill>
          <a:ln w="12700">
            <a:solidFill>
              <a:srgbClr val="D0D7E0"/>
            </a:solidFill>
            <a:prstDash val="solid"/>
          </a:ln>
          <a:effectLst>
            <a:outerShdw blurRad="76200" dist="25400" dir="8100000" algn="bl" rotWithShape="0">
              <a:srgbClr val="000000">
                <a:alpha val="10000"/>
              </a:srgbClr>
            </a:outerShdw>
          </a:effectLst>
        </p:spPr>
        <p:txBody>
          <a:bodyPr/>
          <a:lstStyle/>
          <a:p>
            <a:endParaRPr lang="en-PT"/>
          </a:p>
        </p:txBody>
      </p:sp>
      <p:sp>
        <p:nvSpPr>
          <p:cNvPr id="15" name="Shape 12"/>
          <p:cNvSpPr/>
          <p:nvPr/>
        </p:nvSpPr>
        <p:spPr>
          <a:xfrm>
            <a:off x="5669280" y="1700784"/>
            <a:ext cx="73152" cy="786384"/>
          </a:xfrm>
          <a:prstGeom prst="rect">
            <a:avLst/>
          </a:prstGeom>
          <a:solidFill>
            <a:srgbClr val="243660"/>
          </a:solidFill>
          <a:ln w="12700">
            <a:solidFill>
              <a:srgbClr val="243660"/>
            </a:solidFill>
            <a:prstDash val="solid"/>
          </a:ln>
        </p:spPr>
        <p:txBody>
          <a:bodyPr/>
          <a:lstStyle/>
          <a:p>
            <a:endParaRPr lang="en-PT"/>
          </a:p>
        </p:txBody>
      </p:sp>
      <p:sp>
        <p:nvSpPr>
          <p:cNvPr id="16" name="Text 13"/>
          <p:cNvSpPr/>
          <p:nvPr/>
        </p:nvSpPr>
        <p:spPr>
          <a:xfrm>
            <a:off x="5815584" y="1737360"/>
            <a:ext cx="2926080" cy="393192"/>
          </a:xfrm>
          <a:prstGeom prst="rect">
            <a:avLst/>
          </a:prstGeom>
          <a:noFill/>
          <a:ln/>
        </p:spPr>
        <p:txBody>
          <a:bodyPr wrap="square" rtlCol="0" anchor="ctr"/>
          <a:lstStyle/>
          <a:p>
            <a:pPr marL="0" indent="0">
              <a:buNone/>
            </a:pPr>
            <a:r>
              <a:rPr lang="en-US" sz="2400" b="1">
                <a:solidFill>
                  <a:srgbClr val="243660"/>
                </a:solidFill>
                <a:latin typeface="Georgia" pitchFamily="34" charset="0"/>
                <a:ea typeface="Georgia" pitchFamily="34" charset="-122"/>
                <a:cs typeface="Georgia" pitchFamily="34" charset="-120"/>
              </a:rPr>
              <a:t>15.1 pp</a:t>
            </a:r>
            <a:endParaRPr lang="en-US" sz="2400"/>
          </a:p>
        </p:txBody>
      </p:sp>
      <p:sp>
        <p:nvSpPr>
          <p:cNvPr id="17" name="Text 14"/>
          <p:cNvSpPr/>
          <p:nvPr/>
        </p:nvSpPr>
        <p:spPr>
          <a:xfrm>
            <a:off x="5815584" y="2121408"/>
            <a:ext cx="2926080" cy="182880"/>
          </a:xfrm>
          <a:prstGeom prst="rect">
            <a:avLst/>
          </a:prstGeom>
          <a:noFill/>
          <a:ln/>
        </p:spPr>
        <p:txBody>
          <a:bodyPr wrap="square" rtlCol="0" anchor="ctr"/>
          <a:lstStyle/>
          <a:p>
            <a:pPr marL="0" indent="0">
              <a:buNone/>
            </a:pPr>
            <a:r>
              <a:rPr lang="en-US" sz="1100" b="1">
                <a:solidFill>
                  <a:srgbClr val="1A2744"/>
                </a:solidFill>
                <a:latin typeface="Calibri" pitchFamily="34" charset="0"/>
                <a:ea typeface="Calibri" pitchFamily="34" charset="-122"/>
                <a:cs typeface="Calibri" pitchFamily="34" charset="-120"/>
              </a:rPr>
              <a:t>Approval Gap</a:t>
            </a:r>
            <a:endParaRPr lang="en-US" sz="1100"/>
          </a:p>
        </p:txBody>
      </p:sp>
      <p:sp>
        <p:nvSpPr>
          <p:cNvPr id="18" name="Text 15"/>
          <p:cNvSpPr/>
          <p:nvPr/>
        </p:nvSpPr>
        <p:spPr>
          <a:xfrm>
            <a:off x="5815584" y="2295144"/>
            <a:ext cx="2926080" cy="164592"/>
          </a:xfrm>
          <a:prstGeom prst="rect">
            <a:avLst/>
          </a:prstGeom>
          <a:noFill/>
          <a:ln/>
        </p:spPr>
        <p:txBody>
          <a:bodyPr wrap="square" rtlCol="0" anchor="ctr"/>
          <a:lstStyle/>
          <a:p>
            <a:pPr marL="0" indent="0">
              <a:buNone/>
            </a:pPr>
            <a:r>
              <a:rPr lang="en-US" sz="950">
                <a:solidFill>
                  <a:srgbClr val="8492A6"/>
                </a:solidFill>
                <a:latin typeface="Calibri" pitchFamily="34" charset="0"/>
                <a:ea typeface="Calibri" pitchFamily="34" charset="-122"/>
                <a:cs typeface="Calibri" pitchFamily="34" charset="-120"/>
              </a:rPr>
              <a:t>Absolute gap (male vs female)</a:t>
            </a:r>
            <a:endParaRPr lang="en-US" sz="950"/>
          </a:p>
        </p:txBody>
      </p:sp>
      <p:sp>
        <p:nvSpPr>
          <p:cNvPr id="19" name="Shape 16"/>
          <p:cNvSpPr/>
          <p:nvPr/>
        </p:nvSpPr>
        <p:spPr>
          <a:xfrm>
            <a:off x="5669280" y="2578608"/>
            <a:ext cx="3154680" cy="786384"/>
          </a:xfrm>
          <a:prstGeom prst="rect">
            <a:avLst/>
          </a:prstGeom>
          <a:solidFill>
            <a:srgbClr val="FFFFFF"/>
          </a:solidFill>
          <a:ln w="12700">
            <a:solidFill>
              <a:srgbClr val="D0D7E0"/>
            </a:solidFill>
            <a:prstDash val="solid"/>
          </a:ln>
          <a:effectLst>
            <a:outerShdw blurRad="76200" dist="25400" dir="8100000" algn="bl" rotWithShape="0">
              <a:srgbClr val="000000">
                <a:alpha val="10000"/>
              </a:srgbClr>
            </a:outerShdw>
          </a:effectLst>
        </p:spPr>
        <p:txBody>
          <a:bodyPr/>
          <a:lstStyle/>
          <a:p>
            <a:endParaRPr lang="en-PT"/>
          </a:p>
        </p:txBody>
      </p:sp>
      <p:sp>
        <p:nvSpPr>
          <p:cNvPr id="20" name="Shape 17"/>
          <p:cNvSpPr/>
          <p:nvPr/>
        </p:nvSpPr>
        <p:spPr>
          <a:xfrm>
            <a:off x="5669280" y="2578608"/>
            <a:ext cx="73152" cy="786384"/>
          </a:xfrm>
          <a:prstGeom prst="rect">
            <a:avLst/>
          </a:prstGeom>
          <a:solidFill>
            <a:srgbClr val="E67E22"/>
          </a:solidFill>
          <a:ln w="12700">
            <a:solidFill>
              <a:srgbClr val="E67E22"/>
            </a:solidFill>
            <a:prstDash val="solid"/>
          </a:ln>
        </p:spPr>
        <p:txBody>
          <a:bodyPr/>
          <a:lstStyle/>
          <a:p>
            <a:endParaRPr lang="en-PT"/>
          </a:p>
        </p:txBody>
      </p:sp>
      <p:sp>
        <p:nvSpPr>
          <p:cNvPr id="21" name="Text 18"/>
          <p:cNvSpPr/>
          <p:nvPr/>
        </p:nvSpPr>
        <p:spPr>
          <a:xfrm>
            <a:off x="5815584" y="2615184"/>
            <a:ext cx="2926080" cy="393192"/>
          </a:xfrm>
          <a:prstGeom prst="rect">
            <a:avLst/>
          </a:prstGeom>
          <a:noFill/>
          <a:ln/>
        </p:spPr>
        <p:txBody>
          <a:bodyPr wrap="square" rtlCol="0" anchor="ctr"/>
          <a:lstStyle/>
          <a:p>
            <a:pPr marL="0" indent="0">
              <a:buNone/>
            </a:pPr>
            <a:r>
              <a:rPr lang="en-US" sz="2400" b="1">
                <a:solidFill>
                  <a:srgbClr val="E67E22"/>
                </a:solidFill>
                <a:latin typeface="Georgia" pitchFamily="34" charset="0"/>
                <a:ea typeface="Georgia" pitchFamily="34" charset="-122"/>
                <a:cs typeface="Georgia" pitchFamily="34" charset="-120"/>
              </a:rPr>
              <a:t>V = 0.149</a:t>
            </a:r>
            <a:endParaRPr lang="en-US" sz="2400"/>
          </a:p>
        </p:txBody>
      </p:sp>
      <p:sp>
        <p:nvSpPr>
          <p:cNvPr id="22" name="Text 19"/>
          <p:cNvSpPr/>
          <p:nvPr/>
        </p:nvSpPr>
        <p:spPr>
          <a:xfrm>
            <a:off x="5815584" y="2999232"/>
            <a:ext cx="2926080" cy="182880"/>
          </a:xfrm>
          <a:prstGeom prst="rect">
            <a:avLst/>
          </a:prstGeom>
          <a:noFill/>
          <a:ln/>
        </p:spPr>
        <p:txBody>
          <a:bodyPr wrap="square" rtlCol="0" anchor="ctr"/>
          <a:lstStyle/>
          <a:p>
            <a:pPr marL="0" indent="0">
              <a:buNone/>
            </a:pPr>
            <a:r>
              <a:rPr lang="en-US" sz="1100" b="1">
                <a:solidFill>
                  <a:srgbClr val="1A2744"/>
                </a:solidFill>
                <a:latin typeface="Calibri" pitchFamily="34" charset="0"/>
                <a:ea typeface="Calibri" pitchFamily="34" charset="-122"/>
                <a:cs typeface="Calibri" pitchFamily="34" charset="-120"/>
              </a:rPr>
              <a:t>Effect Size (Cramér's V)</a:t>
            </a:r>
            <a:endParaRPr lang="en-US" sz="1100"/>
          </a:p>
        </p:txBody>
      </p:sp>
      <p:sp>
        <p:nvSpPr>
          <p:cNvPr id="23" name="Text 20"/>
          <p:cNvSpPr/>
          <p:nvPr/>
        </p:nvSpPr>
        <p:spPr>
          <a:xfrm>
            <a:off x="5815584" y="3172968"/>
            <a:ext cx="2926080" cy="164592"/>
          </a:xfrm>
          <a:prstGeom prst="rect">
            <a:avLst/>
          </a:prstGeom>
          <a:noFill/>
          <a:ln/>
        </p:spPr>
        <p:txBody>
          <a:bodyPr wrap="square" rtlCol="0" anchor="ctr"/>
          <a:lstStyle/>
          <a:p>
            <a:pPr marL="0" indent="0">
              <a:buNone/>
            </a:pPr>
            <a:r>
              <a:rPr lang="en-US" sz="950">
                <a:solidFill>
                  <a:srgbClr val="8492A6"/>
                </a:solidFill>
                <a:latin typeface="Calibri" pitchFamily="34" charset="0"/>
                <a:ea typeface="Calibri" pitchFamily="34" charset="-122"/>
                <a:cs typeface="Calibri" pitchFamily="34" charset="-120"/>
              </a:rPr>
              <a:t>Small but statistically significant</a:t>
            </a:r>
            <a:endParaRPr lang="en-US" sz="950"/>
          </a:p>
        </p:txBody>
      </p:sp>
      <p:sp>
        <p:nvSpPr>
          <p:cNvPr id="24" name="Shape 21"/>
          <p:cNvSpPr/>
          <p:nvPr/>
        </p:nvSpPr>
        <p:spPr>
          <a:xfrm>
            <a:off x="5669280" y="3456432"/>
            <a:ext cx="3154680" cy="786384"/>
          </a:xfrm>
          <a:prstGeom prst="rect">
            <a:avLst/>
          </a:prstGeom>
          <a:solidFill>
            <a:srgbClr val="FFFFFF"/>
          </a:solidFill>
          <a:ln w="12700">
            <a:solidFill>
              <a:srgbClr val="D0D7E0"/>
            </a:solidFill>
            <a:prstDash val="solid"/>
          </a:ln>
          <a:effectLst>
            <a:outerShdw blurRad="76200" dist="25400" dir="8100000" algn="bl" rotWithShape="0">
              <a:srgbClr val="000000">
                <a:alpha val="10000"/>
              </a:srgbClr>
            </a:outerShdw>
          </a:effectLst>
        </p:spPr>
        <p:txBody>
          <a:bodyPr/>
          <a:lstStyle/>
          <a:p>
            <a:endParaRPr lang="en-PT"/>
          </a:p>
        </p:txBody>
      </p:sp>
      <p:sp>
        <p:nvSpPr>
          <p:cNvPr id="25" name="Shape 22"/>
          <p:cNvSpPr/>
          <p:nvPr/>
        </p:nvSpPr>
        <p:spPr>
          <a:xfrm>
            <a:off x="5669280" y="3456432"/>
            <a:ext cx="73152" cy="786384"/>
          </a:xfrm>
          <a:prstGeom prst="rect">
            <a:avLst/>
          </a:prstGeom>
          <a:solidFill>
            <a:srgbClr val="27AE60"/>
          </a:solidFill>
          <a:ln w="12700">
            <a:solidFill>
              <a:srgbClr val="27AE60"/>
            </a:solidFill>
            <a:prstDash val="solid"/>
          </a:ln>
        </p:spPr>
        <p:txBody>
          <a:bodyPr/>
          <a:lstStyle/>
          <a:p>
            <a:endParaRPr lang="en-PT"/>
          </a:p>
        </p:txBody>
      </p:sp>
      <p:sp>
        <p:nvSpPr>
          <p:cNvPr id="26" name="Text 23"/>
          <p:cNvSpPr/>
          <p:nvPr/>
        </p:nvSpPr>
        <p:spPr>
          <a:xfrm>
            <a:off x="5815584" y="3493008"/>
            <a:ext cx="2926080" cy="393192"/>
          </a:xfrm>
          <a:prstGeom prst="rect">
            <a:avLst/>
          </a:prstGeom>
          <a:noFill/>
          <a:ln/>
        </p:spPr>
        <p:txBody>
          <a:bodyPr wrap="square" rtlCol="0" anchor="ctr"/>
          <a:lstStyle/>
          <a:p>
            <a:pPr marL="0" indent="0">
              <a:buNone/>
            </a:pPr>
            <a:r>
              <a:rPr lang="en-US" sz="2400" b="1">
                <a:solidFill>
                  <a:srgbClr val="27AE60"/>
                </a:solidFill>
                <a:latin typeface="Georgia" pitchFamily="34" charset="0"/>
                <a:ea typeface="Georgia" pitchFamily="34" charset="-122"/>
                <a:cs typeface="Georgia" pitchFamily="34" charset="-120"/>
              </a:rPr>
              <a:t>p &lt; 0.001</a:t>
            </a:r>
            <a:endParaRPr lang="en-US" sz="2400"/>
          </a:p>
        </p:txBody>
      </p:sp>
      <p:sp>
        <p:nvSpPr>
          <p:cNvPr id="27" name="Text 24"/>
          <p:cNvSpPr/>
          <p:nvPr/>
        </p:nvSpPr>
        <p:spPr>
          <a:xfrm>
            <a:off x="5815584" y="3877056"/>
            <a:ext cx="2926080" cy="182880"/>
          </a:xfrm>
          <a:prstGeom prst="rect">
            <a:avLst/>
          </a:prstGeom>
          <a:noFill/>
          <a:ln/>
        </p:spPr>
        <p:txBody>
          <a:bodyPr wrap="square" rtlCol="0" anchor="ctr"/>
          <a:lstStyle/>
          <a:p>
            <a:pPr marL="0" indent="0">
              <a:buNone/>
            </a:pPr>
            <a:r>
              <a:rPr lang="en-US" sz="1100" b="1">
                <a:solidFill>
                  <a:srgbClr val="1A2744"/>
                </a:solidFill>
                <a:latin typeface="Calibri" pitchFamily="34" charset="0"/>
                <a:ea typeface="Calibri" pitchFamily="34" charset="-122"/>
                <a:cs typeface="Calibri" pitchFamily="34" charset="-120"/>
              </a:rPr>
              <a:t>Chi-square test</a:t>
            </a:r>
            <a:endParaRPr lang="en-US" sz="1100"/>
          </a:p>
        </p:txBody>
      </p:sp>
      <p:sp>
        <p:nvSpPr>
          <p:cNvPr id="28" name="Text 25"/>
          <p:cNvSpPr/>
          <p:nvPr/>
        </p:nvSpPr>
        <p:spPr>
          <a:xfrm>
            <a:off x="5815584" y="4050792"/>
            <a:ext cx="2926080" cy="164592"/>
          </a:xfrm>
          <a:prstGeom prst="rect">
            <a:avLst/>
          </a:prstGeom>
          <a:noFill/>
          <a:ln/>
        </p:spPr>
        <p:txBody>
          <a:bodyPr wrap="square" rtlCol="0" anchor="ctr"/>
          <a:lstStyle/>
          <a:p>
            <a:pPr marL="0" indent="0">
              <a:buNone/>
            </a:pPr>
            <a:r>
              <a:rPr lang="en-US" sz="950">
                <a:solidFill>
                  <a:srgbClr val="8492A6"/>
                </a:solidFill>
                <a:latin typeface="Calibri" pitchFamily="34" charset="0"/>
                <a:ea typeface="Calibri" pitchFamily="34" charset="-122"/>
                <a:cs typeface="Calibri" pitchFamily="34" charset="-120"/>
              </a:rPr>
              <a:t>Pattern is real, not random</a:t>
            </a:r>
            <a:endParaRPr lang="en-US" sz="950"/>
          </a:p>
        </p:txBody>
      </p:sp>
      <p:sp>
        <p:nvSpPr>
          <p:cNvPr id="29" name="Shape 26"/>
          <p:cNvSpPr/>
          <p:nvPr/>
        </p:nvSpPr>
        <p:spPr>
          <a:xfrm>
            <a:off x="320040" y="4407408"/>
            <a:ext cx="8503920" cy="320040"/>
          </a:xfrm>
          <a:prstGeom prst="rect">
            <a:avLst/>
          </a:prstGeom>
          <a:solidFill>
            <a:srgbClr val="1A2744"/>
          </a:solidFill>
          <a:ln w="12700">
            <a:solidFill>
              <a:srgbClr val="1A2744"/>
            </a:solidFill>
            <a:prstDash val="solid"/>
          </a:ln>
        </p:spPr>
        <p:txBody>
          <a:bodyPr/>
          <a:lstStyle/>
          <a:p>
            <a:endParaRPr lang="en-PT"/>
          </a:p>
        </p:txBody>
      </p:sp>
      <p:sp>
        <p:nvSpPr>
          <p:cNvPr id="30" name="Text 27"/>
          <p:cNvSpPr/>
          <p:nvPr/>
        </p:nvSpPr>
        <p:spPr>
          <a:xfrm>
            <a:off x="374904" y="4485132"/>
            <a:ext cx="8366760" cy="182880"/>
          </a:xfrm>
          <a:prstGeom prst="rect">
            <a:avLst/>
          </a:prstGeom>
          <a:noFill/>
          <a:ln/>
        </p:spPr>
        <p:txBody>
          <a:bodyPr wrap="square" rtlCol="0" anchor="ctr"/>
          <a:lstStyle/>
          <a:p>
            <a:pPr marL="0" indent="0">
              <a:buNone/>
            </a:pPr>
            <a:r>
              <a:rPr lang="en-US" sz="1000" i="1">
                <a:solidFill>
                  <a:srgbClr val="FFFFFF"/>
                </a:solidFill>
                <a:latin typeface="Calibri" pitchFamily="34" charset="0"/>
                <a:ea typeface="Calibri" pitchFamily="34" charset="-122"/>
                <a:cs typeface="Calibri" pitchFamily="34" charset="-120"/>
              </a:rPr>
              <a:t>A DI ratio of 0.77 constitutes legally significant adverse impact under the four-fifths rule. Chi-square (p = 0.0009) and Cramér's V = 0.149 confirm the result is statistically robust.</a:t>
            </a:r>
            <a:endParaRPr lang="en-US" sz="1000"/>
          </a:p>
        </p:txBody>
      </p:sp>
      <p:sp>
        <p:nvSpPr>
          <p:cNvPr id="31" name="Shape 28"/>
          <p:cNvSpPr/>
          <p:nvPr/>
        </p:nvSpPr>
        <p:spPr>
          <a:xfrm>
            <a:off x="0" y="4864608"/>
            <a:ext cx="9144000" cy="278892"/>
          </a:xfrm>
          <a:prstGeom prst="rect">
            <a:avLst/>
          </a:prstGeom>
          <a:solidFill>
            <a:srgbClr val="000000"/>
          </a:solidFill>
          <a:ln w="12700">
            <a:solidFill>
              <a:srgbClr val="000000"/>
            </a:solidFill>
            <a:prstDash val="solid"/>
          </a:ln>
        </p:spPr>
        <p:txBody>
          <a:bodyPr/>
          <a:lstStyle/>
          <a:p>
            <a:endParaRPr lang="en-PT"/>
          </a:p>
        </p:txBody>
      </p:sp>
      <p:sp>
        <p:nvSpPr>
          <p:cNvPr id="32" name="Text 29"/>
          <p:cNvSpPr/>
          <p:nvPr/>
        </p:nvSpPr>
        <p:spPr>
          <a:xfrm>
            <a:off x="274320" y="4873752"/>
            <a:ext cx="8046720" cy="246888"/>
          </a:xfrm>
          <a:prstGeom prst="rect">
            <a:avLst/>
          </a:prstGeom>
          <a:noFill/>
          <a:ln/>
        </p:spPr>
        <p:txBody>
          <a:bodyPr wrap="square" rtlCol="0" anchor="ctr"/>
          <a:lstStyle/>
          <a:p>
            <a:pPr marL="0" indent="0">
              <a:buNone/>
            </a:pPr>
            <a:r>
              <a:rPr lang="en-US" sz="800">
                <a:solidFill>
                  <a:srgbClr val="999999"/>
                </a:solidFill>
                <a:latin typeface="Calibri" pitchFamily="34" charset="0"/>
                <a:ea typeface="Calibri" pitchFamily="34" charset="-122"/>
                <a:cs typeface="Calibri" pitchFamily="34" charset="-120"/>
              </a:rPr>
              <a:t>Team 14 — TXB  |  NovaCred Credit Governance  |  DEGO 2606, Nova SBE</a:t>
            </a:r>
            <a:endParaRPr lang="en-US" sz="800"/>
          </a:p>
        </p:txBody>
      </p:sp>
      <p:sp>
        <p:nvSpPr>
          <p:cNvPr id="33" name="Text 30"/>
          <p:cNvSpPr/>
          <p:nvPr/>
        </p:nvSpPr>
        <p:spPr>
          <a:xfrm>
            <a:off x="8686800" y="4873752"/>
            <a:ext cx="365760" cy="246888"/>
          </a:xfrm>
          <a:prstGeom prst="rect">
            <a:avLst/>
          </a:prstGeom>
          <a:noFill/>
          <a:ln/>
        </p:spPr>
        <p:txBody>
          <a:bodyPr wrap="square" rtlCol="0" anchor="ctr"/>
          <a:lstStyle/>
          <a:p>
            <a:pPr marL="0" indent="0" algn="r">
              <a:buNone/>
            </a:pPr>
            <a:r>
              <a:rPr lang="en-US" sz="950">
                <a:solidFill>
                  <a:srgbClr val="999999"/>
                </a:solidFill>
                <a:latin typeface="Calibri" pitchFamily="34" charset="0"/>
                <a:ea typeface="Calibri" pitchFamily="34" charset="-122"/>
                <a:cs typeface="Calibri" pitchFamily="34" charset="-120"/>
              </a:rPr>
              <a:t>5</a:t>
            </a:r>
            <a:endParaRPr lang="en-US" sz="95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A2744"/>
          </a:solidFill>
          <a:ln w="12700">
            <a:solidFill>
              <a:srgbClr val="1A2744"/>
            </a:solidFill>
            <a:prstDash val="solid"/>
          </a:ln>
        </p:spPr>
        <p:txBody>
          <a:bodyPr/>
          <a:lstStyle/>
          <a:p>
            <a:endParaRPr lang="en-PT"/>
          </a:p>
        </p:txBody>
      </p:sp>
      <p:sp>
        <p:nvSpPr>
          <p:cNvPr id="3" name="Shape 1"/>
          <p:cNvSpPr/>
          <p:nvPr/>
        </p:nvSpPr>
        <p:spPr>
          <a:xfrm>
            <a:off x="0" y="0"/>
            <a:ext cx="274320" cy="713232"/>
          </a:xfrm>
          <a:prstGeom prst="rect">
            <a:avLst/>
          </a:prstGeom>
          <a:solidFill>
            <a:srgbClr val="C0392B"/>
          </a:solidFill>
          <a:ln w="12700">
            <a:solidFill>
              <a:srgbClr val="C0392B"/>
            </a:solidFill>
            <a:prstDash val="solid"/>
          </a:ln>
        </p:spPr>
        <p:txBody>
          <a:bodyPr/>
          <a:lstStyle/>
          <a:p>
            <a:endParaRPr lang="en-PT"/>
          </a:p>
        </p:txBody>
      </p:sp>
      <p:sp>
        <p:nvSpPr>
          <p:cNvPr id="4" name="Text 2"/>
          <p:cNvSpPr/>
          <p:nvPr/>
        </p:nvSpPr>
        <p:spPr>
          <a:xfrm>
            <a:off x="411480" y="73152"/>
            <a:ext cx="8503920" cy="411480"/>
          </a:xfrm>
          <a:prstGeom prst="rect">
            <a:avLst/>
          </a:prstGeom>
          <a:noFill/>
          <a:ln/>
        </p:spPr>
        <p:txBody>
          <a:bodyPr wrap="square" rtlCol="0" anchor="ctr"/>
          <a:lstStyle/>
          <a:p>
            <a:pPr marL="0" indent="0">
              <a:buNone/>
            </a:pPr>
            <a:r>
              <a:rPr lang="en-US" sz="2200" b="1">
                <a:solidFill>
                  <a:srgbClr val="FFFFFF"/>
                </a:solidFill>
                <a:latin typeface="Georgia" pitchFamily="34" charset="0"/>
                <a:ea typeface="Georgia" pitchFamily="34" charset="-122"/>
                <a:cs typeface="Georgia" pitchFamily="34" charset="-120"/>
              </a:rPr>
              <a:t>Age-Based Discrimination Patterns</a:t>
            </a:r>
            <a:endParaRPr lang="en-US" sz="2200"/>
          </a:p>
        </p:txBody>
      </p:sp>
      <p:sp>
        <p:nvSpPr>
          <p:cNvPr id="5" name="Text 3"/>
          <p:cNvSpPr/>
          <p:nvPr/>
        </p:nvSpPr>
        <p:spPr>
          <a:xfrm>
            <a:off x="411480" y="475488"/>
            <a:ext cx="8503920" cy="201168"/>
          </a:xfrm>
          <a:prstGeom prst="rect">
            <a:avLst/>
          </a:prstGeom>
          <a:noFill/>
          <a:ln/>
        </p:spPr>
        <p:txBody>
          <a:bodyPr wrap="square" rtlCol="0" anchor="ctr"/>
          <a:lstStyle/>
          <a:p>
            <a:pPr marL="0" indent="0">
              <a:buNone/>
            </a:pPr>
            <a:r>
              <a:rPr lang="en-US" sz="1100" i="1">
                <a:solidFill>
                  <a:srgbClr val="AABBD0"/>
                </a:solidFill>
                <a:latin typeface="Calibri" pitchFamily="34" charset="0"/>
                <a:ea typeface="Calibri" pitchFamily="34" charset="-122"/>
                <a:cs typeface="Calibri" pitchFamily="34" charset="-120"/>
              </a:rPr>
              <a:t>Notebook 02  |  Maddalena Manfredi — Data Scientist</a:t>
            </a:r>
            <a:endParaRPr lang="en-US" sz="1100"/>
          </a:p>
        </p:txBody>
      </p:sp>
      <p:graphicFrame>
        <p:nvGraphicFramePr>
          <p:cNvPr id="6" name="Chart 0"/>
          <p:cNvGraphicFramePr/>
          <p:nvPr/>
        </p:nvGraphicFramePr>
        <p:xfrm>
          <a:off x="320040" y="822960"/>
          <a:ext cx="502920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320040" y="3950208"/>
            <a:ext cx="5029200" cy="201168"/>
          </a:xfrm>
          <a:prstGeom prst="rect">
            <a:avLst/>
          </a:prstGeom>
          <a:noFill/>
          <a:ln/>
        </p:spPr>
        <p:txBody>
          <a:bodyPr wrap="square" rtlCol="0" anchor="ctr"/>
          <a:lstStyle/>
          <a:p>
            <a:pPr marL="0" indent="0">
              <a:buNone/>
            </a:pPr>
            <a:r>
              <a:rPr lang="en-US" sz="900" i="1">
                <a:solidFill>
                  <a:srgbClr val="3D4A5C"/>
                </a:solidFill>
                <a:latin typeface="Calibri" pitchFamily="34" charset="0"/>
                <a:ea typeface="Calibri" pitchFamily="34" charset="-122"/>
                <a:cs typeface="Calibri" pitchFamily="34" charset="-120"/>
              </a:rPr>
              <a:t>The 18–25 and 26–35 cohorts record the lowest approval rates — both below 50% and significantly behind peak (36–45)</a:t>
            </a:r>
            <a:endParaRPr lang="en-US" sz="900"/>
          </a:p>
        </p:txBody>
      </p:sp>
      <p:sp>
        <p:nvSpPr>
          <p:cNvPr id="8" name="Shape 5"/>
          <p:cNvSpPr/>
          <p:nvPr/>
        </p:nvSpPr>
        <p:spPr>
          <a:xfrm>
            <a:off x="5486400" y="822960"/>
            <a:ext cx="3337560" cy="3337560"/>
          </a:xfrm>
          <a:prstGeom prst="rect">
            <a:avLst/>
          </a:prstGeom>
          <a:solidFill>
            <a:srgbClr val="FFFFFF"/>
          </a:solidFill>
          <a:ln w="12700">
            <a:solidFill>
              <a:srgbClr val="D0D7E0"/>
            </a:solidFill>
            <a:prstDash val="solid"/>
          </a:ln>
          <a:effectLst>
            <a:outerShdw blurRad="76200" dist="25400" dir="8100000" algn="bl" rotWithShape="0">
              <a:srgbClr val="000000">
                <a:alpha val="10000"/>
              </a:srgbClr>
            </a:outerShdw>
          </a:effectLst>
        </p:spPr>
        <p:txBody>
          <a:bodyPr/>
          <a:lstStyle/>
          <a:p>
            <a:endParaRPr lang="en-PT"/>
          </a:p>
        </p:txBody>
      </p:sp>
      <p:sp>
        <p:nvSpPr>
          <p:cNvPr id="9" name="Shape 6"/>
          <p:cNvSpPr/>
          <p:nvPr/>
        </p:nvSpPr>
        <p:spPr>
          <a:xfrm>
            <a:off x="5486400" y="822960"/>
            <a:ext cx="3337560" cy="320040"/>
          </a:xfrm>
          <a:prstGeom prst="rect">
            <a:avLst/>
          </a:prstGeom>
          <a:solidFill>
            <a:srgbClr val="1A2744"/>
          </a:solidFill>
          <a:ln w="12700">
            <a:solidFill>
              <a:srgbClr val="1A2744"/>
            </a:solidFill>
            <a:prstDash val="solid"/>
          </a:ln>
        </p:spPr>
        <p:txBody>
          <a:bodyPr/>
          <a:lstStyle/>
          <a:p>
            <a:endParaRPr lang="en-PT"/>
          </a:p>
        </p:txBody>
      </p:sp>
      <p:sp>
        <p:nvSpPr>
          <p:cNvPr id="10" name="Text 7"/>
          <p:cNvSpPr/>
          <p:nvPr/>
        </p:nvSpPr>
        <p:spPr>
          <a:xfrm>
            <a:off x="5577840" y="841248"/>
            <a:ext cx="3154680" cy="274320"/>
          </a:xfrm>
          <a:prstGeom prst="rect">
            <a:avLst/>
          </a:prstGeom>
          <a:noFill/>
          <a:ln/>
        </p:spPr>
        <p:txBody>
          <a:bodyPr wrap="square" rtlCol="0" anchor="ctr"/>
          <a:lstStyle/>
          <a:p>
            <a:pPr marL="0" indent="0">
              <a:buNone/>
            </a:pPr>
            <a:r>
              <a:rPr lang="en-US" sz="1000" b="1">
                <a:solidFill>
                  <a:srgbClr val="FFFFFF"/>
                </a:solidFill>
                <a:latin typeface="Calibri" pitchFamily="34" charset="0"/>
                <a:ea typeface="Calibri" pitchFamily="34" charset="-122"/>
                <a:cs typeface="Calibri" pitchFamily="34" charset="-120"/>
              </a:rPr>
              <a:t>Statistical Evidence</a:t>
            </a:r>
            <a:endParaRPr lang="en-US" sz="1000"/>
          </a:p>
        </p:txBody>
      </p:sp>
      <p:sp>
        <p:nvSpPr>
          <p:cNvPr id="11" name="Shape 8"/>
          <p:cNvSpPr/>
          <p:nvPr/>
        </p:nvSpPr>
        <p:spPr>
          <a:xfrm>
            <a:off x="5577840" y="1234440"/>
            <a:ext cx="54864" cy="594360"/>
          </a:xfrm>
          <a:prstGeom prst="rect">
            <a:avLst/>
          </a:prstGeom>
          <a:solidFill>
            <a:srgbClr val="C0392B"/>
          </a:solidFill>
          <a:ln w="12700">
            <a:solidFill>
              <a:srgbClr val="C0392B"/>
            </a:solidFill>
            <a:prstDash val="solid"/>
          </a:ln>
        </p:spPr>
        <p:txBody>
          <a:bodyPr/>
          <a:lstStyle/>
          <a:p>
            <a:endParaRPr lang="en-PT"/>
          </a:p>
        </p:txBody>
      </p:sp>
      <p:sp>
        <p:nvSpPr>
          <p:cNvPr id="12" name="Text 9"/>
          <p:cNvSpPr/>
          <p:nvPr/>
        </p:nvSpPr>
        <p:spPr>
          <a:xfrm>
            <a:off x="5696712" y="1234440"/>
            <a:ext cx="3063240" cy="201168"/>
          </a:xfrm>
          <a:prstGeom prst="rect">
            <a:avLst/>
          </a:prstGeom>
          <a:noFill/>
          <a:ln/>
        </p:spPr>
        <p:txBody>
          <a:bodyPr wrap="square" rtlCol="0" anchor="ctr"/>
          <a:lstStyle/>
          <a:p>
            <a:pPr marL="0" indent="0">
              <a:buNone/>
            </a:pPr>
            <a:r>
              <a:rPr lang="en-US" sz="900" b="1">
                <a:solidFill>
                  <a:srgbClr val="1A2744"/>
                </a:solidFill>
                <a:latin typeface="Calibri" pitchFamily="34" charset="0"/>
                <a:ea typeface="Calibri" pitchFamily="34" charset="-122"/>
                <a:cs typeface="Calibri" pitchFamily="34" charset="-120"/>
              </a:rPr>
              <a:t>Chi-square (18–35 vs 36–65)</a:t>
            </a:r>
            <a:endParaRPr lang="en-US" sz="900"/>
          </a:p>
        </p:txBody>
      </p:sp>
      <p:sp>
        <p:nvSpPr>
          <p:cNvPr id="13" name="Text 10"/>
          <p:cNvSpPr/>
          <p:nvPr/>
        </p:nvSpPr>
        <p:spPr>
          <a:xfrm>
            <a:off x="5696712" y="1417320"/>
            <a:ext cx="3063240" cy="237744"/>
          </a:xfrm>
          <a:prstGeom prst="rect">
            <a:avLst/>
          </a:prstGeom>
          <a:noFill/>
          <a:ln/>
        </p:spPr>
        <p:txBody>
          <a:bodyPr wrap="square" rtlCol="0" anchor="ctr"/>
          <a:lstStyle/>
          <a:p>
            <a:pPr marL="0" indent="0">
              <a:buNone/>
            </a:pPr>
            <a:r>
              <a:rPr lang="en-US" sz="1800" b="1">
                <a:solidFill>
                  <a:srgbClr val="C0392B"/>
                </a:solidFill>
                <a:latin typeface="Georgia" pitchFamily="34" charset="0"/>
                <a:ea typeface="Georgia" pitchFamily="34" charset="-122"/>
                <a:cs typeface="Georgia" pitchFamily="34" charset="-120"/>
              </a:rPr>
              <a:t>p = 0.0004</a:t>
            </a:r>
            <a:endParaRPr lang="en-US" sz="1800"/>
          </a:p>
        </p:txBody>
      </p:sp>
      <p:sp>
        <p:nvSpPr>
          <p:cNvPr id="14" name="Text 11"/>
          <p:cNvSpPr/>
          <p:nvPr/>
        </p:nvSpPr>
        <p:spPr>
          <a:xfrm>
            <a:off x="5696712" y="1655064"/>
            <a:ext cx="3063240" cy="164592"/>
          </a:xfrm>
          <a:prstGeom prst="rect">
            <a:avLst/>
          </a:prstGeom>
          <a:noFill/>
          <a:ln/>
        </p:spPr>
        <p:txBody>
          <a:bodyPr wrap="square" rtlCol="0" anchor="ctr"/>
          <a:lstStyle/>
          <a:p>
            <a:pPr marL="0" indent="0">
              <a:buNone/>
            </a:pPr>
            <a:r>
              <a:rPr lang="en-US" sz="950" i="1">
                <a:solidFill>
                  <a:srgbClr val="8492A6"/>
                </a:solidFill>
                <a:latin typeface="Calibri" pitchFamily="34" charset="0"/>
                <a:ea typeface="Calibri" pitchFamily="34" charset="-122"/>
                <a:cs typeface="Calibri" pitchFamily="34" charset="-120"/>
              </a:rPr>
              <a:t>Age-approval disparity is highly significant</a:t>
            </a:r>
            <a:endParaRPr lang="en-US" sz="950"/>
          </a:p>
        </p:txBody>
      </p:sp>
      <p:sp>
        <p:nvSpPr>
          <p:cNvPr id="15" name="Shape 12"/>
          <p:cNvSpPr/>
          <p:nvPr/>
        </p:nvSpPr>
        <p:spPr>
          <a:xfrm>
            <a:off x="5577840" y="1984248"/>
            <a:ext cx="54864" cy="594360"/>
          </a:xfrm>
          <a:prstGeom prst="rect">
            <a:avLst/>
          </a:prstGeom>
          <a:solidFill>
            <a:srgbClr val="E67E22"/>
          </a:solidFill>
          <a:ln w="12700">
            <a:solidFill>
              <a:srgbClr val="E67E22"/>
            </a:solidFill>
            <a:prstDash val="solid"/>
          </a:ln>
        </p:spPr>
        <p:txBody>
          <a:bodyPr/>
          <a:lstStyle/>
          <a:p>
            <a:endParaRPr lang="en-PT"/>
          </a:p>
        </p:txBody>
      </p:sp>
      <p:sp>
        <p:nvSpPr>
          <p:cNvPr id="16" name="Text 13"/>
          <p:cNvSpPr/>
          <p:nvPr/>
        </p:nvSpPr>
        <p:spPr>
          <a:xfrm>
            <a:off x="5696712" y="1984248"/>
            <a:ext cx="3063240" cy="201168"/>
          </a:xfrm>
          <a:prstGeom prst="rect">
            <a:avLst/>
          </a:prstGeom>
          <a:noFill/>
          <a:ln/>
        </p:spPr>
        <p:txBody>
          <a:bodyPr wrap="square" rtlCol="0" anchor="ctr"/>
          <a:lstStyle/>
          <a:p>
            <a:pPr marL="0" indent="0">
              <a:buNone/>
            </a:pPr>
            <a:r>
              <a:rPr lang="en-US" sz="900" b="1">
                <a:solidFill>
                  <a:srgbClr val="1A2744"/>
                </a:solidFill>
                <a:latin typeface="Calibri" pitchFamily="34" charset="0"/>
                <a:ea typeface="Calibri" pitchFamily="34" charset="-122"/>
                <a:cs typeface="Calibri" pitchFamily="34" charset="-120"/>
              </a:rPr>
              <a:t>Overall rate: Young vs Middle</a:t>
            </a:r>
            <a:endParaRPr lang="en-US" sz="900"/>
          </a:p>
        </p:txBody>
      </p:sp>
      <p:sp>
        <p:nvSpPr>
          <p:cNvPr id="17" name="Text 14"/>
          <p:cNvSpPr/>
          <p:nvPr/>
        </p:nvSpPr>
        <p:spPr>
          <a:xfrm>
            <a:off x="5696712" y="2167128"/>
            <a:ext cx="3063240" cy="237744"/>
          </a:xfrm>
          <a:prstGeom prst="rect">
            <a:avLst/>
          </a:prstGeom>
          <a:noFill/>
          <a:ln/>
        </p:spPr>
        <p:txBody>
          <a:bodyPr wrap="square" rtlCol="0" anchor="ctr"/>
          <a:lstStyle/>
          <a:p>
            <a:pPr marL="0" indent="0">
              <a:buNone/>
            </a:pPr>
            <a:r>
              <a:rPr lang="en-US" sz="1800" b="1">
                <a:solidFill>
                  <a:srgbClr val="E67E22"/>
                </a:solidFill>
                <a:latin typeface="Georgia" pitchFamily="34" charset="0"/>
                <a:ea typeface="Georgia" pitchFamily="34" charset="-122"/>
                <a:cs typeface="Georgia" pitchFamily="34" charset="-120"/>
              </a:rPr>
              <a:t>47.8% vs 64.6%</a:t>
            </a:r>
            <a:endParaRPr lang="en-US" sz="1800"/>
          </a:p>
        </p:txBody>
      </p:sp>
      <p:sp>
        <p:nvSpPr>
          <p:cNvPr id="18" name="Text 15"/>
          <p:cNvSpPr/>
          <p:nvPr/>
        </p:nvSpPr>
        <p:spPr>
          <a:xfrm>
            <a:off x="5696712" y="2404872"/>
            <a:ext cx="3063240" cy="164592"/>
          </a:xfrm>
          <a:prstGeom prst="rect">
            <a:avLst/>
          </a:prstGeom>
          <a:noFill/>
          <a:ln/>
        </p:spPr>
        <p:txBody>
          <a:bodyPr wrap="square" rtlCol="0" anchor="ctr"/>
          <a:lstStyle/>
          <a:p>
            <a:pPr marL="0" indent="0">
              <a:buNone/>
            </a:pPr>
            <a:r>
              <a:rPr lang="en-US" sz="950" i="1">
                <a:solidFill>
                  <a:srgbClr val="8492A6"/>
                </a:solidFill>
                <a:latin typeface="Calibri" pitchFamily="34" charset="0"/>
                <a:ea typeface="Calibri" pitchFamily="34" charset="-122"/>
                <a:cs typeface="Calibri" pitchFamily="34" charset="-120"/>
              </a:rPr>
              <a:t>Young (18–35) overall vs Middle (36–65) overall</a:t>
            </a:r>
            <a:endParaRPr lang="en-US" sz="950"/>
          </a:p>
        </p:txBody>
      </p:sp>
      <p:sp>
        <p:nvSpPr>
          <p:cNvPr id="19" name="Shape 16"/>
          <p:cNvSpPr/>
          <p:nvPr/>
        </p:nvSpPr>
        <p:spPr>
          <a:xfrm>
            <a:off x="5577840" y="2734056"/>
            <a:ext cx="54864" cy="594360"/>
          </a:xfrm>
          <a:prstGeom prst="rect">
            <a:avLst/>
          </a:prstGeom>
          <a:solidFill>
            <a:srgbClr val="C0392B"/>
          </a:solidFill>
          <a:ln w="12700">
            <a:solidFill>
              <a:srgbClr val="C0392B"/>
            </a:solidFill>
            <a:prstDash val="solid"/>
          </a:ln>
        </p:spPr>
        <p:txBody>
          <a:bodyPr/>
          <a:lstStyle/>
          <a:p>
            <a:endParaRPr lang="en-PT"/>
          </a:p>
        </p:txBody>
      </p:sp>
      <p:sp>
        <p:nvSpPr>
          <p:cNvPr id="20" name="Text 17"/>
          <p:cNvSpPr/>
          <p:nvPr/>
        </p:nvSpPr>
        <p:spPr>
          <a:xfrm>
            <a:off x="5696712" y="2734056"/>
            <a:ext cx="3063240" cy="201168"/>
          </a:xfrm>
          <a:prstGeom prst="rect">
            <a:avLst/>
          </a:prstGeom>
          <a:noFill/>
          <a:ln/>
        </p:spPr>
        <p:txBody>
          <a:bodyPr wrap="square" rtlCol="0" anchor="ctr"/>
          <a:lstStyle/>
          <a:p>
            <a:pPr marL="0" indent="0">
              <a:buNone/>
            </a:pPr>
            <a:r>
              <a:rPr lang="en-US" sz="900" b="1">
                <a:solidFill>
                  <a:srgbClr val="1A2744"/>
                </a:solidFill>
                <a:latin typeface="Calibri" pitchFamily="34" charset="0"/>
                <a:ea typeface="Calibri" pitchFamily="34" charset="-122"/>
                <a:cs typeface="Calibri" pitchFamily="34" charset="-120"/>
              </a:rPr>
              <a:t>Gender gap — Young cohort</a:t>
            </a:r>
            <a:endParaRPr lang="en-US" sz="900"/>
          </a:p>
        </p:txBody>
      </p:sp>
      <p:sp>
        <p:nvSpPr>
          <p:cNvPr id="21" name="Text 18"/>
          <p:cNvSpPr/>
          <p:nvPr/>
        </p:nvSpPr>
        <p:spPr>
          <a:xfrm>
            <a:off x="5696712" y="2916936"/>
            <a:ext cx="3063240" cy="237744"/>
          </a:xfrm>
          <a:prstGeom prst="rect">
            <a:avLst/>
          </a:prstGeom>
          <a:noFill/>
          <a:ln/>
        </p:spPr>
        <p:txBody>
          <a:bodyPr wrap="square" rtlCol="0" anchor="ctr"/>
          <a:lstStyle/>
          <a:p>
            <a:pPr marL="0" indent="0">
              <a:buNone/>
            </a:pPr>
            <a:r>
              <a:rPr lang="en-US" sz="1800" b="1">
                <a:solidFill>
                  <a:srgbClr val="C0392B"/>
                </a:solidFill>
                <a:latin typeface="Georgia" pitchFamily="34" charset="0"/>
                <a:ea typeface="Georgia" pitchFamily="34" charset="-122"/>
                <a:cs typeface="Georgia" pitchFamily="34" charset="-120"/>
              </a:rPr>
              <a:t>20.3 pp</a:t>
            </a:r>
            <a:endParaRPr lang="en-US" sz="1800"/>
          </a:p>
        </p:txBody>
      </p:sp>
      <p:sp>
        <p:nvSpPr>
          <p:cNvPr id="22" name="Text 19"/>
          <p:cNvSpPr/>
          <p:nvPr/>
        </p:nvSpPr>
        <p:spPr>
          <a:xfrm>
            <a:off x="5696712" y="3154680"/>
            <a:ext cx="3063240" cy="164592"/>
          </a:xfrm>
          <a:prstGeom prst="rect">
            <a:avLst/>
          </a:prstGeom>
          <a:noFill/>
          <a:ln/>
        </p:spPr>
        <p:txBody>
          <a:bodyPr wrap="square" rtlCol="0" anchor="ctr"/>
          <a:lstStyle/>
          <a:p>
            <a:pPr marL="0" indent="0">
              <a:buNone/>
            </a:pPr>
            <a:r>
              <a:rPr lang="en-US" sz="950" i="1">
                <a:solidFill>
                  <a:srgbClr val="8492A6"/>
                </a:solidFill>
                <a:latin typeface="Calibri" pitchFamily="34" charset="0"/>
                <a:ea typeface="Calibri" pitchFamily="34" charset="-122"/>
                <a:cs typeface="Calibri" pitchFamily="34" charset="-120"/>
              </a:rPr>
              <a:t>Female 38.1% vs Male 58.4% (p = 0.0088)</a:t>
            </a:r>
            <a:endParaRPr lang="en-US" sz="950"/>
          </a:p>
        </p:txBody>
      </p:sp>
      <p:sp>
        <p:nvSpPr>
          <p:cNvPr id="23" name="Shape 20"/>
          <p:cNvSpPr/>
          <p:nvPr/>
        </p:nvSpPr>
        <p:spPr>
          <a:xfrm>
            <a:off x="5577840" y="3483864"/>
            <a:ext cx="54864" cy="594360"/>
          </a:xfrm>
          <a:prstGeom prst="rect">
            <a:avLst/>
          </a:prstGeom>
          <a:solidFill>
            <a:srgbClr val="E67E22"/>
          </a:solidFill>
          <a:ln w="12700">
            <a:solidFill>
              <a:srgbClr val="E67E22"/>
            </a:solidFill>
            <a:prstDash val="solid"/>
          </a:ln>
        </p:spPr>
        <p:txBody>
          <a:bodyPr/>
          <a:lstStyle/>
          <a:p>
            <a:endParaRPr lang="en-PT"/>
          </a:p>
        </p:txBody>
      </p:sp>
      <p:sp>
        <p:nvSpPr>
          <p:cNvPr id="24" name="Text 21"/>
          <p:cNvSpPr/>
          <p:nvPr/>
        </p:nvSpPr>
        <p:spPr>
          <a:xfrm>
            <a:off x="5696712" y="3483864"/>
            <a:ext cx="3063240" cy="201168"/>
          </a:xfrm>
          <a:prstGeom prst="rect">
            <a:avLst/>
          </a:prstGeom>
          <a:noFill/>
          <a:ln/>
        </p:spPr>
        <p:txBody>
          <a:bodyPr wrap="square" rtlCol="0" anchor="ctr"/>
          <a:lstStyle/>
          <a:p>
            <a:pPr marL="0" indent="0">
              <a:buNone/>
            </a:pPr>
            <a:r>
              <a:rPr lang="en-US" sz="900" b="1">
                <a:solidFill>
                  <a:srgbClr val="1A2744"/>
                </a:solidFill>
                <a:latin typeface="Calibri" pitchFamily="34" charset="0"/>
                <a:ea typeface="Calibri" pitchFamily="34" charset="-122"/>
                <a:cs typeface="Calibri" pitchFamily="34" charset="-120"/>
              </a:rPr>
              <a:t>Gender gap — Middle cohort</a:t>
            </a:r>
            <a:endParaRPr lang="en-US" sz="900"/>
          </a:p>
        </p:txBody>
      </p:sp>
      <p:sp>
        <p:nvSpPr>
          <p:cNvPr id="25" name="Text 22"/>
          <p:cNvSpPr/>
          <p:nvPr/>
        </p:nvSpPr>
        <p:spPr>
          <a:xfrm>
            <a:off x="5696712" y="3666744"/>
            <a:ext cx="3063240" cy="237744"/>
          </a:xfrm>
          <a:prstGeom prst="rect">
            <a:avLst/>
          </a:prstGeom>
          <a:noFill/>
          <a:ln/>
        </p:spPr>
        <p:txBody>
          <a:bodyPr wrap="square" rtlCol="0" anchor="ctr"/>
          <a:lstStyle/>
          <a:p>
            <a:pPr marL="0" indent="0">
              <a:buNone/>
            </a:pPr>
            <a:r>
              <a:rPr lang="en-US" sz="1800" b="1">
                <a:solidFill>
                  <a:srgbClr val="E67E22"/>
                </a:solidFill>
                <a:latin typeface="Georgia" pitchFamily="34" charset="0"/>
                <a:ea typeface="Georgia" pitchFamily="34" charset="-122"/>
                <a:cs typeface="Georgia" pitchFamily="34" charset="-120"/>
              </a:rPr>
              <a:t>10.6 pp</a:t>
            </a:r>
            <a:endParaRPr lang="en-US" sz="1800"/>
          </a:p>
        </p:txBody>
      </p:sp>
      <p:sp>
        <p:nvSpPr>
          <p:cNvPr id="26" name="Text 23"/>
          <p:cNvSpPr/>
          <p:nvPr/>
        </p:nvSpPr>
        <p:spPr>
          <a:xfrm>
            <a:off x="5696712" y="3904488"/>
            <a:ext cx="3063240" cy="164592"/>
          </a:xfrm>
          <a:prstGeom prst="rect">
            <a:avLst/>
          </a:prstGeom>
          <a:noFill/>
          <a:ln/>
        </p:spPr>
        <p:txBody>
          <a:bodyPr wrap="square" rtlCol="0" anchor="ctr"/>
          <a:lstStyle/>
          <a:p>
            <a:pPr marL="0" indent="0">
              <a:buNone/>
            </a:pPr>
            <a:r>
              <a:rPr lang="en-US" sz="950" i="1">
                <a:solidFill>
                  <a:srgbClr val="8492A6"/>
                </a:solidFill>
                <a:latin typeface="Calibri" pitchFamily="34" charset="0"/>
                <a:ea typeface="Calibri" pitchFamily="34" charset="-122"/>
                <a:cs typeface="Calibri" pitchFamily="34" charset="-120"/>
              </a:rPr>
              <a:t>Female 59.1% vs Male 69.7% (p = 0.0697)</a:t>
            </a:r>
            <a:endParaRPr lang="en-US" sz="950"/>
          </a:p>
        </p:txBody>
      </p:sp>
      <p:sp>
        <p:nvSpPr>
          <p:cNvPr id="27" name="Shape 24"/>
          <p:cNvSpPr/>
          <p:nvPr/>
        </p:nvSpPr>
        <p:spPr>
          <a:xfrm>
            <a:off x="320040" y="4206240"/>
            <a:ext cx="8503920" cy="384048"/>
          </a:xfrm>
          <a:prstGeom prst="rect">
            <a:avLst/>
          </a:prstGeom>
          <a:solidFill>
            <a:srgbClr val="FEF3C7"/>
          </a:solidFill>
          <a:ln w="12700">
            <a:solidFill>
              <a:srgbClr val="F59E0B"/>
            </a:solidFill>
            <a:prstDash val="solid"/>
          </a:ln>
        </p:spPr>
        <p:txBody>
          <a:bodyPr/>
          <a:lstStyle/>
          <a:p>
            <a:endParaRPr lang="en-PT"/>
          </a:p>
        </p:txBody>
      </p:sp>
      <p:sp>
        <p:nvSpPr>
          <p:cNvPr id="28" name="Text 25"/>
          <p:cNvSpPr/>
          <p:nvPr/>
        </p:nvSpPr>
        <p:spPr>
          <a:xfrm>
            <a:off x="411480" y="4311396"/>
            <a:ext cx="1920240" cy="164592"/>
          </a:xfrm>
          <a:prstGeom prst="rect">
            <a:avLst/>
          </a:prstGeom>
          <a:noFill/>
          <a:ln/>
        </p:spPr>
        <p:txBody>
          <a:bodyPr wrap="square" rtlCol="0" anchor="ctr"/>
          <a:lstStyle/>
          <a:p>
            <a:pPr marL="0" indent="0">
              <a:buNone/>
            </a:pPr>
            <a:r>
              <a:rPr lang="en-US" sz="900" b="1">
                <a:solidFill>
                  <a:srgbClr val="92400E"/>
                </a:solidFill>
                <a:latin typeface="Calibri" pitchFamily="34" charset="0"/>
                <a:ea typeface="Calibri" pitchFamily="34" charset="-122"/>
                <a:cs typeface="Calibri" pitchFamily="34" charset="-120"/>
              </a:rPr>
              <a:t>⚠  Intersectional finding (Young 18–35):</a:t>
            </a:r>
            <a:endParaRPr lang="en-US" sz="900"/>
          </a:p>
        </p:txBody>
      </p:sp>
      <p:sp>
        <p:nvSpPr>
          <p:cNvPr id="29" name="Text 26"/>
          <p:cNvSpPr/>
          <p:nvPr/>
        </p:nvSpPr>
        <p:spPr>
          <a:xfrm>
            <a:off x="2286000" y="4233672"/>
            <a:ext cx="6400800" cy="320040"/>
          </a:xfrm>
          <a:prstGeom prst="rect">
            <a:avLst/>
          </a:prstGeom>
          <a:noFill/>
          <a:ln/>
        </p:spPr>
        <p:txBody>
          <a:bodyPr wrap="square" rtlCol="0" anchor="ctr"/>
          <a:lstStyle/>
          <a:p>
            <a:pPr marL="0" indent="0">
              <a:buNone/>
            </a:pPr>
            <a:r>
              <a:rPr lang="en-US" sz="900">
                <a:solidFill>
                  <a:srgbClr val="92400E"/>
                </a:solidFill>
                <a:latin typeface="Calibri" pitchFamily="34" charset="0"/>
                <a:ea typeface="Calibri" pitchFamily="34" charset="-122"/>
                <a:cs typeface="Calibri" pitchFamily="34" charset="-120"/>
              </a:rPr>
              <a:t>Female 38.1% vs Male 58.4% in the Young (18–35) cohort — a 20.3 pp gap, statistically significant (p = 0.0088). Aggregate metrics mask where disparity concentrates.</a:t>
            </a:r>
            <a:endParaRPr lang="en-US" sz="900"/>
          </a:p>
        </p:txBody>
      </p:sp>
      <p:sp>
        <p:nvSpPr>
          <p:cNvPr id="30" name="Shape 27"/>
          <p:cNvSpPr/>
          <p:nvPr/>
        </p:nvSpPr>
        <p:spPr>
          <a:xfrm>
            <a:off x="0" y="4864608"/>
            <a:ext cx="9144000" cy="278892"/>
          </a:xfrm>
          <a:prstGeom prst="rect">
            <a:avLst/>
          </a:prstGeom>
          <a:solidFill>
            <a:srgbClr val="000000"/>
          </a:solidFill>
          <a:ln w="12700">
            <a:solidFill>
              <a:srgbClr val="000000"/>
            </a:solidFill>
            <a:prstDash val="solid"/>
          </a:ln>
        </p:spPr>
        <p:txBody>
          <a:bodyPr/>
          <a:lstStyle/>
          <a:p>
            <a:endParaRPr lang="en-PT"/>
          </a:p>
        </p:txBody>
      </p:sp>
      <p:sp>
        <p:nvSpPr>
          <p:cNvPr id="31" name="Text 28"/>
          <p:cNvSpPr/>
          <p:nvPr/>
        </p:nvSpPr>
        <p:spPr>
          <a:xfrm>
            <a:off x="274320" y="4873752"/>
            <a:ext cx="8046720" cy="246888"/>
          </a:xfrm>
          <a:prstGeom prst="rect">
            <a:avLst/>
          </a:prstGeom>
          <a:noFill/>
          <a:ln/>
        </p:spPr>
        <p:txBody>
          <a:bodyPr wrap="square" rtlCol="0" anchor="ctr"/>
          <a:lstStyle/>
          <a:p>
            <a:pPr marL="0" indent="0">
              <a:buNone/>
            </a:pPr>
            <a:r>
              <a:rPr lang="en-US" sz="800">
                <a:solidFill>
                  <a:srgbClr val="999999"/>
                </a:solidFill>
                <a:latin typeface="Calibri" pitchFamily="34" charset="0"/>
                <a:ea typeface="Calibri" pitchFamily="34" charset="-122"/>
                <a:cs typeface="Calibri" pitchFamily="34" charset="-120"/>
              </a:rPr>
              <a:t>Team 14 — TXB  |  NovaCred Credit Governance  |  DEGO 2606, Nova SBE</a:t>
            </a:r>
            <a:endParaRPr lang="en-US" sz="800"/>
          </a:p>
        </p:txBody>
      </p:sp>
      <p:sp>
        <p:nvSpPr>
          <p:cNvPr id="32" name="Text 29"/>
          <p:cNvSpPr/>
          <p:nvPr/>
        </p:nvSpPr>
        <p:spPr>
          <a:xfrm>
            <a:off x="8686800" y="4873752"/>
            <a:ext cx="365760" cy="246888"/>
          </a:xfrm>
          <a:prstGeom prst="rect">
            <a:avLst/>
          </a:prstGeom>
          <a:noFill/>
          <a:ln/>
        </p:spPr>
        <p:txBody>
          <a:bodyPr wrap="square" rtlCol="0" anchor="ctr"/>
          <a:lstStyle/>
          <a:p>
            <a:pPr marL="0" indent="0" algn="r">
              <a:buNone/>
            </a:pPr>
            <a:r>
              <a:rPr lang="en-US" sz="950">
                <a:solidFill>
                  <a:srgbClr val="999999"/>
                </a:solidFill>
                <a:latin typeface="Calibri" pitchFamily="34" charset="0"/>
                <a:ea typeface="Calibri" pitchFamily="34" charset="-122"/>
                <a:cs typeface="Calibri" pitchFamily="34" charset="-120"/>
              </a:rPr>
              <a:t>6</a:t>
            </a:r>
            <a:endParaRPr lang="en-US" sz="95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A2744"/>
          </a:solidFill>
          <a:ln w="12700">
            <a:solidFill>
              <a:srgbClr val="1A2744"/>
            </a:solidFill>
            <a:prstDash val="solid"/>
          </a:ln>
        </p:spPr>
        <p:txBody>
          <a:bodyPr/>
          <a:lstStyle/>
          <a:p>
            <a:endParaRPr lang="en-PT"/>
          </a:p>
        </p:txBody>
      </p:sp>
      <p:sp>
        <p:nvSpPr>
          <p:cNvPr id="3" name="Shape 1"/>
          <p:cNvSpPr/>
          <p:nvPr/>
        </p:nvSpPr>
        <p:spPr>
          <a:xfrm>
            <a:off x="0" y="0"/>
            <a:ext cx="274320" cy="713232"/>
          </a:xfrm>
          <a:prstGeom prst="rect">
            <a:avLst/>
          </a:prstGeom>
          <a:solidFill>
            <a:srgbClr val="C0392B"/>
          </a:solidFill>
          <a:ln w="12700">
            <a:solidFill>
              <a:srgbClr val="C0392B"/>
            </a:solidFill>
            <a:prstDash val="solid"/>
          </a:ln>
        </p:spPr>
        <p:txBody>
          <a:bodyPr/>
          <a:lstStyle/>
          <a:p>
            <a:endParaRPr lang="en-PT"/>
          </a:p>
        </p:txBody>
      </p:sp>
      <p:sp>
        <p:nvSpPr>
          <p:cNvPr id="4" name="Text 2"/>
          <p:cNvSpPr/>
          <p:nvPr/>
        </p:nvSpPr>
        <p:spPr>
          <a:xfrm>
            <a:off x="411480" y="73152"/>
            <a:ext cx="8503920" cy="411480"/>
          </a:xfrm>
          <a:prstGeom prst="rect">
            <a:avLst/>
          </a:prstGeom>
          <a:noFill/>
          <a:ln/>
        </p:spPr>
        <p:txBody>
          <a:bodyPr wrap="square" rtlCol="0" anchor="ctr"/>
          <a:lstStyle/>
          <a:p>
            <a:pPr marL="0" indent="0">
              <a:buNone/>
            </a:pPr>
            <a:r>
              <a:rPr lang="en-US" sz="2200" b="1">
                <a:solidFill>
                  <a:srgbClr val="FFFFFF"/>
                </a:solidFill>
                <a:latin typeface="Georgia" pitchFamily="34" charset="0"/>
                <a:ea typeface="Georgia" pitchFamily="34" charset="-122"/>
                <a:cs typeface="Georgia" pitchFamily="34" charset="-120"/>
              </a:rPr>
              <a:t>Intersectional Bias: Gender × Age</a:t>
            </a:r>
            <a:endParaRPr lang="en-US" sz="2200"/>
          </a:p>
        </p:txBody>
      </p:sp>
      <p:sp>
        <p:nvSpPr>
          <p:cNvPr id="5" name="Text 3"/>
          <p:cNvSpPr/>
          <p:nvPr/>
        </p:nvSpPr>
        <p:spPr>
          <a:xfrm>
            <a:off x="411480" y="475488"/>
            <a:ext cx="8503920" cy="201168"/>
          </a:xfrm>
          <a:prstGeom prst="rect">
            <a:avLst/>
          </a:prstGeom>
          <a:noFill/>
          <a:ln/>
        </p:spPr>
        <p:txBody>
          <a:bodyPr wrap="square" rtlCol="0" anchor="ctr"/>
          <a:lstStyle/>
          <a:p>
            <a:pPr marL="0" indent="0">
              <a:buNone/>
            </a:pPr>
            <a:r>
              <a:rPr lang="en-US" sz="1100" i="1">
                <a:solidFill>
                  <a:srgbClr val="AABBD0"/>
                </a:solidFill>
                <a:latin typeface="Calibri" pitchFamily="34" charset="0"/>
                <a:ea typeface="Calibri" pitchFamily="34" charset="-122"/>
                <a:cs typeface="Calibri" pitchFamily="34" charset="-120"/>
              </a:rPr>
              <a:t>Notebook 02  |  Maddalena Manfredi — Data Scientist</a:t>
            </a:r>
            <a:endParaRPr lang="en-US" sz="1100"/>
          </a:p>
        </p:txBody>
      </p:sp>
      <p:graphicFrame>
        <p:nvGraphicFramePr>
          <p:cNvPr id="11" name="Table 0"/>
          <p:cNvGraphicFramePr>
            <a:graphicFrameLocks noGrp="1"/>
          </p:cNvGraphicFramePr>
          <p:nvPr/>
        </p:nvGraphicFramePr>
        <p:xfrm>
          <a:off x="320040" y="822960"/>
          <a:ext cx="8503920" cy="1938528"/>
        </p:xfrm>
        <a:graphic>
          <a:graphicData uri="http://schemas.openxmlformats.org/drawingml/2006/table">
            <a:tbl>
              <a:tblPr/>
              <a:tblGrid>
                <a:gridCol w="173736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5029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502920">
                  <a:extLst>
                    <a:ext uri="{9D8B030D-6E8A-4147-A177-3AD203B41FA5}">
                      <a16:colId xmlns:a16="http://schemas.microsoft.com/office/drawing/2014/main" val="20004"/>
                    </a:ext>
                  </a:extLst>
                </a:gridCol>
                <a:gridCol w="1691640">
                  <a:extLst>
                    <a:ext uri="{9D8B030D-6E8A-4147-A177-3AD203B41FA5}">
                      <a16:colId xmlns:a16="http://schemas.microsoft.com/office/drawing/2014/main" val="20005"/>
                    </a:ext>
                  </a:extLst>
                </a:gridCol>
                <a:gridCol w="1691640">
                  <a:extLst>
                    <a:ext uri="{9D8B030D-6E8A-4147-A177-3AD203B41FA5}">
                      <a16:colId xmlns:a16="http://schemas.microsoft.com/office/drawing/2014/main" val="20006"/>
                    </a:ext>
                  </a:extLst>
                </a:gridCol>
              </a:tblGrid>
              <a:tr h="484632">
                <a:tc>
                  <a:txBody>
                    <a:bodyPr/>
                    <a:lstStyle/>
                    <a:p>
                      <a:pPr marL="0" indent="0">
                        <a:buNone/>
                      </a:pPr>
                      <a:r>
                        <a:rPr lang="en-US" sz="1100" b="1">
                          <a:solidFill>
                            <a:srgbClr val="FFFFFF"/>
                          </a:solidFill>
                        </a:rPr>
                        <a:t>Age Group</a:t>
                      </a:r>
                      <a:endParaRPr lang="en-US" sz="11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1A2744"/>
                    </a:solidFill>
                  </a:tcPr>
                </a:tc>
                <a:tc>
                  <a:txBody>
                    <a:bodyPr/>
                    <a:lstStyle/>
                    <a:p>
                      <a:pPr marL="0" indent="0">
                        <a:buNone/>
                      </a:pPr>
                      <a:r>
                        <a:rPr lang="en-US" sz="1100" b="1">
                          <a:solidFill>
                            <a:srgbClr val="FFFFFF"/>
                          </a:solidFill>
                        </a:rPr>
                        <a:t>Female Rate</a:t>
                      </a:r>
                      <a:endParaRPr lang="en-US" sz="11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1A2744"/>
                    </a:solidFill>
                  </a:tcPr>
                </a:tc>
                <a:tc>
                  <a:txBody>
                    <a:bodyPr/>
                    <a:lstStyle/>
                    <a:p>
                      <a:pPr marL="0" indent="0">
                        <a:buNone/>
                      </a:pPr>
                      <a:r>
                        <a:rPr lang="en-US" sz="1100" b="1">
                          <a:solidFill>
                            <a:srgbClr val="FFFFFF"/>
                          </a:solidFill>
                        </a:rPr>
                        <a:t>n</a:t>
                      </a:r>
                      <a:endParaRPr lang="en-US" sz="11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1A2744"/>
                    </a:solidFill>
                  </a:tcPr>
                </a:tc>
                <a:tc>
                  <a:txBody>
                    <a:bodyPr/>
                    <a:lstStyle/>
                    <a:p>
                      <a:pPr marL="0" indent="0">
                        <a:buNone/>
                      </a:pPr>
                      <a:r>
                        <a:rPr lang="en-US" sz="1100" b="1">
                          <a:solidFill>
                            <a:srgbClr val="FFFFFF"/>
                          </a:solidFill>
                        </a:rPr>
                        <a:t>Male Rate</a:t>
                      </a:r>
                      <a:endParaRPr lang="en-US" sz="11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1A2744"/>
                    </a:solidFill>
                  </a:tcPr>
                </a:tc>
                <a:tc>
                  <a:txBody>
                    <a:bodyPr/>
                    <a:lstStyle/>
                    <a:p>
                      <a:pPr marL="0" indent="0">
                        <a:buNone/>
                      </a:pPr>
                      <a:r>
                        <a:rPr lang="en-US" sz="1100" b="1">
                          <a:solidFill>
                            <a:srgbClr val="FFFFFF"/>
                          </a:solidFill>
                        </a:rPr>
                        <a:t>n</a:t>
                      </a:r>
                      <a:endParaRPr lang="en-US" sz="11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1A2744"/>
                    </a:solidFill>
                  </a:tcPr>
                </a:tc>
                <a:tc>
                  <a:txBody>
                    <a:bodyPr/>
                    <a:lstStyle/>
                    <a:p>
                      <a:pPr marL="0" indent="0">
                        <a:buNone/>
                      </a:pPr>
                      <a:r>
                        <a:rPr lang="en-US" sz="1100" b="1">
                          <a:solidFill>
                            <a:srgbClr val="FFFFFF"/>
                          </a:solidFill>
                        </a:rPr>
                        <a:t>Gender Gap (pp)</a:t>
                      </a:r>
                      <a:endParaRPr lang="en-US" sz="11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1A2744"/>
                    </a:solidFill>
                  </a:tcPr>
                </a:tc>
                <a:tc>
                  <a:txBody>
                    <a:bodyPr/>
                    <a:lstStyle/>
                    <a:p>
                      <a:pPr marL="0" indent="0">
                        <a:buNone/>
                      </a:pPr>
                      <a:r>
                        <a:rPr lang="en-US" sz="1100" b="1">
                          <a:solidFill>
                            <a:srgbClr val="FFFFFF"/>
                          </a:solidFill>
                        </a:rPr>
                        <a:t>χ² test</a:t>
                      </a:r>
                      <a:endParaRPr lang="en-US" sz="11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1A2744"/>
                    </a:solidFill>
                  </a:tcPr>
                </a:tc>
                <a:extLst>
                  <a:ext uri="{0D108BD9-81ED-4DB2-BD59-A6C34878D82A}">
                    <a16:rowId xmlns:a16="http://schemas.microsoft.com/office/drawing/2014/main" val="10000"/>
                  </a:ext>
                </a:extLst>
              </a:tr>
              <a:tr h="484632">
                <a:tc>
                  <a:txBody>
                    <a:bodyPr/>
                    <a:lstStyle/>
                    <a:p>
                      <a:pPr marL="0" indent="0">
                        <a:buNone/>
                      </a:pPr>
                      <a:r>
                        <a:rPr lang="en-US" sz="1100" b="1">
                          <a:solidFill>
                            <a:srgbClr val="FFFFFF"/>
                          </a:solidFill>
                        </a:rPr>
                        <a:t>Young (18–35)</a:t>
                      </a:r>
                      <a:endParaRPr lang="en-US" sz="11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C0392B"/>
                    </a:solidFill>
                  </a:tcPr>
                </a:tc>
                <a:tc>
                  <a:txBody>
                    <a:bodyPr/>
                    <a:lstStyle/>
                    <a:p>
                      <a:pPr marL="0" indent="0">
                        <a:buNone/>
                      </a:pPr>
                      <a:r>
                        <a:rPr lang="en-US" sz="1100">
                          <a:solidFill>
                            <a:srgbClr val="000000"/>
                          </a:solidFill>
                        </a:rPr>
                        <a:t>38.1%</a:t>
                      </a:r>
                      <a:endParaRPr lang="en-US" sz="11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FEE2E2"/>
                    </a:solidFill>
                  </a:tcPr>
                </a:tc>
                <a:tc>
                  <a:txBody>
                    <a:bodyPr/>
                    <a:lstStyle/>
                    <a:p>
                      <a:pPr marL="0" indent="0">
                        <a:buNone/>
                      </a:pPr>
                      <a:r>
                        <a:rPr lang="en-US" sz="1000">
                          <a:solidFill>
                            <a:srgbClr val="8492A6"/>
                          </a:solidFill>
                        </a:rPr>
                        <a:t>97</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FEE2E2"/>
                    </a:solidFill>
                  </a:tcPr>
                </a:tc>
                <a:tc>
                  <a:txBody>
                    <a:bodyPr/>
                    <a:lstStyle/>
                    <a:p>
                      <a:pPr marL="0" indent="0">
                        <a:buNone/>
                      </a:pPr>
                      <a:r>
                        <a:rPr lang="en-US" sz="1100">
                          <a:solidFill>
                            <a:srgbClr val="000000"/>
                          </a:solidFill>
                        </a:rPr>
                        <a:t>58.4%</a:t>
                      </a:r>
                      <a:endParaRPr lang="en-US" sz="11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FEE2E2"/>
                    </a:solidFill>
                  </a:tcPr>
                </a:tc>
                <a:tc>
                  <a:txBody>
                    <a:bodyPr/>
                    <a:lstStyle/>
                    <a:p>
                      <a:pPr marL="0" indent="0">
                        <a:buNone/>
                      </a:pPr>
                      <a:r>
                        <a:rPr lang="en-US" sz="1000">
                          <a:solidFill>
                            <a:srgbClr val="8492A6"/>
                          </a:solidFill>
                        </a:rPr>
                        <a:t>89</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FEE2E2"/>
                    </a:solidFill>
                  </a:tcPr>
                </a:tc>
                <a:tc>
                  <a:txBody>
                    <a:bodyPr/>
                    <a:lstStyle/>
                    <a:p>
                      <a:pPr marL="0" indent="0">
                        <a:buNone/>
                      </a:pPr>
                      <a:r>
                        <a:rPr lang="en-US" sz="1300" b="1">
                          <a:solidFill>
                            <a:srgbClr val="FFFFFF"/>
                          </a:solidFill>
                        </a:rPr>
                        <a:t>20.3 ✗</a:t>
                      </a:r>
                      <a:endParaRPr lang="en-US" sz="13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C0392B"/>
                    </a:solidFill>
                  </a:tcPr>
                </a:tc>
                <a:tc>
                  <a:txBody>
                    <a:bodyPr/>
                    <a:lstStyle/>
                    <a:p>
                      <a:pPr marL="0" indent="0">
                        <a:buNone/>
                      </a:pPr>
                      <a:r>
                        <a:rPr lang="en-US" sz="1000" b="1">
                          <a:solidFill>
                            <a:srgbClr val="FFFFFF"/>
                          </a:solidFill>
                        </a:rPr>
                        <a:t>p = 0.0088 *</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C0392B"/>
                    </a:solidFill>
                  </a:tcPr>
                </a:tc>
                <a:extLst>
                  <a:ext uri="{0D108BD9-81ED-4DB2-BD59-A6C34878D82A}">
                    <a16:rowId xmlns:a16="http://schemas.microsoft.com/office/drawing/2014/main" val="10001"/>
                  </a:ext>
                </a:extLst>
              </a:tr>
              <a:tr h="484632">
                <a:tc>
                  <a:txBody>
                    <a:bodyPr/>
                    <a:lstStyle/>
                    <a:p>
                      <a:pPr marL="0" indent="0">
                        <a:buNone/>
                      </a:pPr>
                      <a:r>
                        <a:rPr lang="en-US" sz="1100" b="1">
                          <a:solidFill>
                            <a:srgbClr val="000000"/>
                          </a:solidFill>
                        </a:rPr>
                        <a:t>Middle (36–65)</a:t>
                      </a:r>
                      <a:endParaRPr lang="en-US" sz="11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100">
                          <a:solidFill>
                            <a:srgbClr val="000000"/>
                          </a:solidFill>
                        </a:rPr>
                        <a:t>59.1%</a:t>
                      </a:r>
                      <a:endParaRPr lang="en-US" sz="11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a:solidFill>
                            <a:srgbClr val="8492A6"/>
                          </a:solidFill>
                        </a:rPr>
                        <a:t>149</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100">
                          <a:solidFill>
                            <a:srgbClr val="000000"/>
                          </a:solidFill>
                        </a:rPr>
                        <a:t>69.7%</a:t>
                      </a:r>
                      <a:endParaRPr lang="en-US" sz="11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a:solidFill>
                            <a:srgbClr val="8492A6"/>
                          </a:solidFill>
                        </a:rPr>
                        <a:t>155</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100">
                          <a:solidFill>
                            <a:srgbClr val="E67E22"/>
                          </a:solidFill>
                        </a:rPr>
                        <a:t>10.6</a:t>
                      </a:r>
                      <a:endParaRPr lang="en-US" sz="11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a:solidFill>
                            <a:srgbClr val="8492A6"/>
                          </a:solidFill>
                        </a:rPr>
                        <a:t>p = 0.0697</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extLst>
                  <a:ext uri="{0D108BD9-81ED-4DB2-BD59-A6C34878D82A}">
                    <a16:rowId xmlns:a16="http://schemas.microsoft.com/office/drawing/2014/main" val="10002"/>
                  </a:ext>
                </a:extLst>
              </a:tr>
              <a:tr h="484632">
                <a:tc>
                  <a:txBody>
                    <a:bodyPr/>
                    <a:lstStyle/>
                    <a:p>
                      <a:pPr marL="0" indent="0">
                        <a:buNone/>
                      </a:pPr>
                      <a:r>
                        <a:rPr lang="en-US" sz="1100" b="1">
                          <a:solidFill>
                            <a:srgbClr val="000000"/>
                          </a:solidFill>
                        </a:rPr>
                        <a:t>Senior (65+)</a:t>
                      </a:r>
                      <a:endParaRPr lang="en-US" sz="11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100">
                          <a:solidFill>
                            <a:srgbClr val="000000"/>
                          </a:solidFill>
                        </a:rPr>
                        <a:t>33.3%</a:t>
                      </a:r>
                      <a:endParaRPr lang="en-US" sz="11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a:solidFill>
                            <a:srgbClr val="8492A6"/>
                          </a:solidFill>
                        </a:rPr>
                        <a:t>3</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100">
                          <a:solidFill>
                            <a:srgbClr val="000000"/>
                          </a:solidFill>
                        </a:rPr>
                        <a:t>66.7%</a:t>
                      </a:r>
                      <a:endParaRPr lang="en-US" sz="11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a:solidFill>
                            <a:srgbClr val="8492A6"/>
                          </a:solidFill>
                        </a:rPr>
                        <a:t>3</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100">
                          <a:solidFill>
                            <a:srgbClr val="999999"/>
                          </a:solidFill>
                        </a:rPr>
                        <a:t>33.3</a:t>
                      </a:r>
                      <a:endParaRPr lang="en-US" sz="11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900">
                          <a:solidFill>
                            <a:srgbClr val="999999"/>
                          </a:solidFill>
                        </a:rPr>
                        <a:t>n &lt; 6 — inconclusive</a:t>
                      </a:r>
                      <a:endParaRPr lang="en-US" sz="9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Shape 4"/>
          <p:cNvSpPr/>
          <p:nvPr/>
        </p:nvSpPr>
        <p:spPr>
          <a:xfrm>
            <a:off x="320040" y="3246120"/>
            <a:ext cx="8503920" cy="228600"/>
          </a:xfrm>
          <a:prstGeom prst="rect">
            <a:avLst/>
          </a:prstGeom>
          <a:solidFill>
            <a:srgbClr val="1A2744"/>
          </a:solidFill>
          <a:ln w="12700">
            <a:solidFill>
              <a:srgbClr val="1A2744"/>
            </a:solidFill>
            <a:prstDash val="solid"/>
          </a:ln>
        </p:spPr>
        <p:txBody>
          <a:bodyPr/>
          <a:lstStyle/>
          <a:p>
            <a:endParaRPr lang="en-PT"/>
          </a:p>
        </p:txBody>
      </p:sp>
      <p:sp>
        <p:nvSpPr>
          <p:cNvPr id="8" name="Text 5"/>
          <p:cNvSpPr/>
          <p:nvPr/>
        </p:nvSpPr>
        <p:spPr>
          <a:xfrm>
            <a:off x="411480" y="3255264"/>
            <a:ext cx="8321040" cy="201168"/>
          </a:xfrm>
          <a:prstGeom prst="rect">
            <a:avLst/>
          </a:prstGeom>
          <a:noFill/>
          <a:ln/>
        </p:spPr>
        <p:txBody>
          <a:bodyPr wrap="square" rtlCol="0" anchor="ctr"/>
          <a:lstStyle/>
          <a:p>
            <a:pPr marL="0" indent="0">
              <a:buNone/>
            </a:pPr>
            <a:r>
              <a:rPr lang="en-US" sz="950" b="1">
                <a:solidFill>
                  <a:srgbClr val="FFFFFF"/>
                </a:solidFill>
                <a:latin typeface="Calibri" pitchFamily="34" charset="0"/>
                <a:ea typeface="Calibri" pitchFamily="34" charset="-122"/>
                <a:cs typeface="Calibri" pitchFamily="34" charset="-120"/>
              </a:rPr>
              <a:t>Detailed age breakdown (6 cohorts) — approval rate by group</a:t>
            </a:r>
            <a:endParaRPr lang="en-US" sz="950"/>
          </a:p>
        </p:txBody>
      </p:sp>
      <p:sp>
        <p:nvSpPr>
          <p:cNvPr id="9" name="Shape 6"/>
          <p:cNvSpPr/>
          <p:nvPr/>
        </p:nvSpPr>
        <p:spPr>
          <a:xfrm>
            <a:off x="393192" y="3529584"/>
            <a:ext cx="1316736" cy="502920"/>
          </a:xfrm>
          <a:prstGeom prst="rect">
            <a:avLst/>
          </a:prstGeom>
          <a:solidFill>
            <a:srgbClr val="FFFFFF"/>
          </a:solidFill>
          <a:ln w="12700">
            <a:solidFill>
              <a:srgbClr val="D0D7E0"/>
            </a:solidFill>
            <a:prstDash val="solid"/>
          </a:ln>
        </p:spPr>
        <p:txBody>
          <a:bodyPr/>
          <a:lstStyle/>
          <a:p>
            <a:endParaRPr lang="en-PT"/>
          </a:p>
        </p:txBody>
      </p:sp>
      <p:sp>
        <p:nvSpPr>
          <p:cNvPr id="10" name="Text 7"/>
          <p:cNvSpPr/>
          <p:nvPr/>
        </p:nvSpPr>
        <p:spPr>
          <a:xfrm>
            <a:off x="393192" y="3557016"/>
            <a:ext cx="1316736" cy="256032"/>
          </a:xfrm>
          <a:prstGeom prst="rect">
            <a:avLst/>
          </a:prstGeom>
          <a:noFill/>
          <a:ln/>
        </p:spPr>
        <p:txBody>
          <a:bodyPr wrap="square" rtlCol="0" anchor="ctr"/>
          <a:lstStyle/>
          <a:p>
            <a:pPr marL="0" indent="0" algn="ctr">
              <a:buNone/>
            </a:pPr>
            <a:r>
              <a:rPr lang="en-US" sz="1400" b="1">
                <a:solidFill>
                  <a:srgbClr val="C0392B"/>
                </a:solidFill>
                <a:latin typeface="Georgia" pitchFamily="34" charset="0"/>
                <a:ea typeface="Georgia" pitchFamily="34" charset="-122"/>
                <a:cs typeface="Georgia" pitchFamily="34" charset="-120"/>
              </a:rPr>
              <a:t>45.8%</a:t>
            </a:r>
            <a:endParaRPr lang="en-US" sz="1400"/>
          </a:p>
        </p:txBody>
      </p:sp>
      <p:sp>
        <p:nvSpPr>
          <p:cNvPr id="6" name="Text 8"/>
          <p:cNvSpPr/>
          <p:nvPr/>
        </p:nvSpPr>
        <p:spPr>
          <a:xfrm>
            <a:off x="393192" y="3803904"/>
            <a:ext cx="1316736" cy="164592"/>
          </a:xfrm>
          <a:prstGeom prst="rect">
            <a:avLst/>
          </a:prstGeom>
          <a:noFill/>
          <a:ln/>
        </p:spPr>
        <p:txBody>
          <a:bodyPr wrap="square" rtlCol="0" anchor="ctr"/>
          <a:lstStyle/>
          <a:p>
            <a:pPr marL="0" indent="0" algn="ctr">
              <a:buNone/>
            </a:pPr>
            <a:r>
              <a:rPr lang="en-US" sz="800">
                <a:solidFill>
                  <a:srgbClr val="8492A6"/>
                </a:solidFill>
                <a:latin typeface="Calibri" pitchFamily="34" charset="0"/>
                <a:ea typeface="Calibri" pitchFamily="34" charset="-122"/>
                <a:cs typeface="Calibri" pitchFamily="34" charset="-120"/>
              </a:rPr>
              <a:t>18–25  (n=24)</a:t>
            </a:r>
            <a:endParaRPr lang="en-US" sz="800"/>
          </a:p>
        </p:txBody>
      </p:sp>
      <p:sp>
        <p:nvSpPr>
          <p:cNvPr id="12" name="Shape 9"/>
          <p:cNvSpPr/>
          <p:nvPr/>
        </p:nvSpPr>
        <p:spPr>
          <a:xfrm>
            <a:off x="1819656" y="3529584"/>
            <a:ext cx="1316736" cy="502920"/>
          </a:xfrm>
          <a:prstGeom prst="rect">
            <a:avLst/>
          </a:prstGeom>
          <a:solidFill>
            <a:srgbClr val="FFFFFF"/>
          </a:solidFill>
          <a:ln w="12700">
            <a:solidFill>
              <a:srgbClr val="D0D7E0"/>
            </a:solidFill>
            <a:prstDash val="solid"/>
          </a:ln>
        </p:spPr>
        <p:txBody>
          <a:bodyPr/>
          <a:lstStyle/>
          <a:p>
            <a:endParaRPr lang="en-PT"/>
          </a:p>
        </p:txBody>
      </p:sp>
      <p:sp>
        <p:nvSpPr>
          <p:cNvPr id="13" name="Text 10"/>
          <p:cNvSpPr/>
          <p:nvPr/>
        </p:nvSpPr>
        <p:spPr>
          <a:xfrm>
            <a:off x="1819656" y="3557016"/>
            <a:ext cx="1316736" cy="256032"/>
          </a:xfrm>
          <a:prstGeom prst="rect">
            <a:avLst/>
          </a:prstGeom>
          <a:noFill/>
          <a:ln/>
        </p:spPr>
        <p:txBody>
          <a:bodyPr wrap="square" rtlCol="0" anchor="ctr"/>
          <a:lstStyle/>
          <a:p>
            <a:pPr marL="0" indent="0" algn="ctr">
              <a:buNone/>
            </a:pPr>
            <a:r>
              <a:rPr lang="en-US" sz="1400" b="1">
                <a:solidFill>
                  <a:srgbClr val="C0392B"/>
                </a:solidFill>
                <a:latin typeface="Georgia" pitchFamily="34" charset="0"/>
                <a:ea typeface="Georgia" pitchFamily="34" charset="-122"/>
                <a:cs typeface="Georgia" pitchFamily="34" charset="-120"/>
              </a:rPr>
              <a:t>48.1%</a:t>
            </a:r>
            <a:endParaRPr lang="en-US" sz="1400"/>
          </a:p>
        </p:txBody>
      </p:sp>
      <p:sp>
        <p:nvSpPr>
          <p:cNvPr id="14" name="Text 11"/>
          <p:cNvSpPr/>
          <p:nvPr/>
        </p:nvSpPr>
        <p:spPr>
          <a:xfrm>
            <a:off x="1819656" y="3803904"/>
            <a:ext cx="1316736" cy="164592"/>
          </a:xfrm>
          <a:prstGeom prst="rect">
            <a:avLst/>
          </a:prstGeom>
          <a:noFill/>
          <a:ln/>
        </p:spPr>
        <p:txBody>
          <a:bodyPr wrap="square" rtlCol="0" anchor="ctr"/>
          <a:lstStyle/>
          <a:p>
            <a:pPr marL="0" indent="0" algn="ctr">
              <a:buNone/>
            </a:pPr>
            <a:r>
              <a:rPr lang="en-US" sz="800">
                <a:solidFill>
                  <a:srgbClr val="8492A6"/>
                </a:solidFill>
                <a:latin typeface="Calibri" pitchFamily="34" charset="0"/>
                <a:ea typeface="Calibri" pitchFamily="34" charset="-122"/>
                <a:cs typeface="Calibri" pitchFamily="34" charset="-120"/>
              </a:rPr>
              <a:t>26–35  (n=162)</a:t>
            </a:r>
            <a:endParaRPr lang="en-US" sz="800"/>
          </a:p>
        </p:txBody>
      </p:sp>
      <p:sp>
        <p:nvSpPr>
          <p:cNvPr id="15" name="Shape 12"/>
          <p:cNvSpPr/>
          <p:nvPr/>
        </p:nvSpPr>
        <p:spPr>
          <a:xfrm>
            <a:off x="3246120" y="3529584"/>
            <a:ext cx="1316736" cy="502920"/>
          </a:xfrm>
          <a:prstGeom prst="rect">
            <a:avLst/>
          </a:prstGeom>
          <a:solidFill>
            <a:srgbClr val="FFFFFF"/>
          </a:solidFill>
          <a:ln w="12700">
            <a:solidFill>
              <a:srgbClr val="D0D7E0"/>
            </a:solidFill>
            <a:prstDash val="solid"/>
          </a:ln>
        </p:spPr>
        <p:txBody>
          <a:bodyPr/>
          <a:lstStyle/>
          <a:p>
            <a:endParaRPr lang="en-PT"/>
          </a:p>
        </p:txBody>
      </p:sp>
      <p:sp>
        <p:nvSpPr>
          <p:cNvPr id="16" name="Text 13"/>
          <p:cNvSpPr/>
          <p:nvPr/>
        </p:nvSpPr>
        <p:spPr>
          <a:xfrm>
            <a:off x="3246120" y="3557016"/>
            <a:ext cx="1316736" cy="256032"/>
          </a:xfrm>
          <a:prstGeom prst="rect">
            <a:avLst/>
          </a:prstGeom>
          <a:noFill/>
          <a:ln/>
        </p:spPr>
        <p:txBody>
          <a:bodyPr wrap="square" rtlCol="0" anchor="ctr"/>
          <a:lstStyle/>
          <a:p>
            <a:pPr marL="0" indent="0" algn="ctr">
              <a:buNone/>
            </a:pPr>
            <a:r>
              <a:rPr lang="en-US" sz="1400" b="1">
                <a:solidFill>
                  <a:schemeClr val="accent6"/>
                </a:solidFill>
                <a:latin typeface="Georgia" pitchFamily="34" charset="0"/>
                <a:ea typeface="Georgia" pitchFamily="34" charset="-122"/>
                <a:cs typeface="Georgia" pitchFamily="34" charset="-120"/>
              </a:rPr>
              <a:t>65.8%</a:t>
            </a:r>
            <a:endParaRPr lang="en-US" sz="1400">
              <a:solidFill>
                <a:schemeClr val="accent6"/>
              </a:solidFill>
            </a:endParaRPr>
          </a:p>
        </p:txBody>
      </p:sp>
      <p:sp>
        <p:nvSpPr>
          <p:cNvPr id="17" name="Text 14"/>
          <p:cNvSpPr/>
          <p:nvPr/>
        </p:nvSpPr>
        <p:spPr>
          <a:xfrm>
            <a:off x="3246120" y="3803904"/>
            <a:ext cx="1316736" cy="164592"/>
          </a:xfrm>
          <a:prstGeom prst="rect">
            <a:avLst/>
          </a:prstGeom>
          <a:noFill/>
          <a:ln/>
        </p:spPr>
        <p:txBody>
          <a:bodyPr wrap="square" rtlCol="0" anchor="ctr"/>
          <a:lstStyle/>
          <a:p>
            <a:pPr marL="0" indent="0" algn="ctr">
              <a:buNone/>
            </a:pPr>
            <a:r>
              <a:rPr lang="en-US" sz="800">
                <a:solidFill>
                  <a:srgbClr val="8492A6"/>
                </a:solidFill>
                <a:latin typeface="Calibri" pitchFamily="34" charset="0"/>
                <a:ea typeface="Calibri" pitchFamily="34" charset="-122"/>
                <a:cs typeface="Calibri" pitchFamily="34" charset="-120"/>
              </a:rPr>
              <a:t>36–45  (n=164)</a:t>
            </a:r>
            <a:endParaRPr lang="en-US" sz="800"/>
          </a:p>
        </p:txBody>
      </p:sp>
      <p:sp>
        <p:nvSpPr>
          <p:cNvPr id="18" name="Shape 15"/>
          <p:cNvSpPr/>
          <p:nvPr/>
        </p:nvSpPr>
        <p:spPr>
          <a:xfrm>
            <a:off x="4672584" y="3529584"/>
            <a:ext cx="1316736" cy="502920"/>
          </a:xfrm>
          <a:prstGeom prst="rect">
            <a:avLst/>
          </a:prstGeom>
          <a:solidFill>
            <a:srgbClr val="FFFFFF"/>
          </a:solidFill>
          <a:ln w="12700">
            <a:solidFill>
              <a:srgbClr val="D0D7E0"/>
            </a:solidFill>
            <a:prstDash val="solid"/>
          </a:ln>
        </p:spPr>
        <p:txBody>
          <a:bodyPr/>
          <a:lstStyle/>
          <a:p>
            <a:endParaRPr lang="en-PT"/>
          </a:p>
        </p:txBody>
      </p:sp>
      <p:sp>
        <p:nvSpPr>
          <p:cNvPr id="19" name="Text 16"/>
          <p:cNvSpPr/>
          <p:nvPr/>
        </p:nvSpPr>
        <p:spPr>
          <a:xfrm>
            <a:off x="4672584" y="3557016"/>
            <a:ext cx="1316736" cy="256032"/>
          </a:xfrm>
          <a:prstGeom prst="rect">
            <a:avLst/>
          </a:prstGeom>
          <a:noFill/>
          <a:ln/>
        </p:spPr>
        <p:txBody>
          <a:bodyPr wrap="square" rtlCol="0" anchor="ctr"/>
          <a:lstStyle/>
          <a:p>
            <a:pPr marL="0" indent="0" algn="ctr">
              <a:buNone/>
            </a:pPr>
            <a:r>
              <a:rPr lang="en-US" sz="1400" b="1">
                <a:solidFill>
                  <a:schemeClr val="accent6"/>
                </a:solidFill>
                <a:latin typeface="Georgia" pitchFamily="34" charset="0"/>
                <a:ea typeface="Georgia" pitchFamily="34" charset="-122"/>
                <a:cs typeface="Georgia" pitchFamily="34" charset="-120"/>
              </a:rPr>
              <a:t>63.5%</a:t>
            </a:r>
            <a:endParaRPr lang="en-US" sz="1400">
              <a:solidFill>
                <a:schemeClr val="accent6"/>
              </a:solidFill>
            </a:endParaRPr>
          </a:p>
        </p:txBody>
      </p:sp>
      <p:sp>
        <p:nvSpPr>
          <p:cNvPr id="20" name="Text 17"/>
          <p:cNvSpPr/>
          <p:nvPr/>
        </p:nvSpPr>
        <p:spPr>
          <a:xfrm>
            <a:off x="4672584" y="3803904"/>
            <a:ext cx="1316736" cy="164592"/>
          </a:xfrm>
          <a:prstGeom prst="rect">
            <a:avLst/>
          </a:prstGeom>
          <a:noFill/>
          <a:ln/>
        </p:spPr>
        <p:txBody>
          <a:bodyPr wrap="square" rtlCol="0" anchor="ctr"/>
          <a:lstStyle/>
          <a:p>
            <a:pPr marL="0" indent="0" algn="ctr">
              <a:buNone/>
            </a:pPr>
            <a:r>
              <a:rPr lang="en-US" sz="800">
                <a:solidFill>
                  <a:srgbClr val="8492A6"/>
                </a:solidFill>
                <a:latin typeface="Calibri" pitchFamily="34" charset="0"/>
                <a:ea typeface="Calibri" pitchFamily="34" charset="-122"/>
                <a:cs typeface="Calibri" pitchFamily="34" charset="-120"/>
              </a:rPr>
              <a:t>46–55  (n=85)</a:t>
            </a:r>
            <a:endParaRPr lang="en-US" sz="800"/>
          </a:p>
        </p:txBody>
      </p:sp>
      <p:sp>
        <p:nvSpPr>
          <p:cNvPr id="21" name="Shape 18"/>
          <p:cNvSpPr/>
          <p:nvPr/>
        </p:nvSpPr>
        <p:spPr>
          <a:xfrm>
            <a:off x="6099048" y="3529584"/>
            <a:ext cx="1316736" cy="502920"/>
          </a:xfrm>
          <a:prstGeom prst="rect">
            <a:avLst/>
          </a:prstGeom>
          <a:solidFill>
            <a:srgbClr val="FFFFFF"/>
          </a:solidFill>
          <a:ln w="12700">
            <a:solidFill>
              <a:srgbClr val="D0D7E0"/>
            </a:solidFill>
            <a:prstDash val="solid"/>
          </a:ln>
        </p:spPr>
        <p:txBody>
          <a:bodyPr/>
          <a:lstStyle/>
          <a:p>
            <a:endParaRPr lang="en-PT"/>
          </a:p>
        </p:txBody>
      </p:sp>
      <p:sp>
        <p:nvSpPr>
          <p:cNvPr id="22" name="Text 19"/>
          <p:cNvSpPr/>
          <p:nvPr/>
        </p:nvSpPr>
        <p:spPr>
          <a:xfrm>
            <a:off x="6099048" y="3557016"/>
            <a:ext cx="1316736" cy="256032"/>
          </a:xfrm>
          <a:prstGeom prst="rect">
            <a:avLst/>
          </a:prstGeom>
          <a:noFill/>
          <a:ln/>
        </p:spPr>
        <p:txBody>
          <a:bodyPr wrap="square" rtlCol="0" anchor="ctr"/>
          <a:lstStyle/>
          <a:p>
            <a:pPr marL="0" indent="0" algn="ctr">
              <a:buNone/>
            </a:pPr>
            <a:r>
              <a:rPr lang="en-US" sz="1400" b="1">
                <a:solidFill>
                  <a:schemeClr val="accent6"/>
                </a:solidFill>
                <a:latin typeface="Georgia" pitchFamily="34" charset="0"/>
                <a:ea typeface="Georgia" pitchFamily="34" charset="-122"/>
                <a:cs typeface="Georgia" pitchFamily="34" charset="-120"/>
              </a:rPr>
              <a:t>62.5%</a:t>
            </a:r>
            <a:endParaRPr lang="en-US" sz="1400">
              <a:solidFill>
                <a:schemeClr val="accent6"/>
              </a:solidFill>
            </a:endParaRPr>
          </a:p>
        </p:txBody>
      </p:sp>
      <p:sp>
        <p:nvSpPr>
          <p:cNvPr id="23" name="Text 20"/>
          <p:cNvSpPr/>
          <p:nvPr/>
        </p:nvSpPr>
        <p:spPr>
          <a:xfrm>
            <a:off x="6099048" y="3803904"/>
            <a:ext cx="1316736" cy="164592"/>
          </a:xfrm>
          <a:prstGeom prst="rect">
            <a:avLst/>
          </a:prstGeom>
          <a:noFill/>
          <a:ln/>
        </p:spPr>
        <p:txBody>
          <a:bodyPr wrap="square" rtlCol="0" anchor="ctr"/>
          <a:lstStyle/>
          <a:p>
            <a:pPr marL="0" indent="0" algn="ctr">
              <a:buNone/>
            </a:pPr>
            <a:r>
              <a:rPr lang="en-US" sz="800">
                <a:solidFill>
                  <a:srgbClr val="8492A6"/>
                </a:solidFill>
                <a:latin typeface="Calibri" pitchFamily="34" charset="0"/>
                <a:ea typeface="Calibri" pitchFamily="34" charset="-122"/>
                <a:cs typeface="Calibri" pitchFamily="34" charset="-120"/>
              </a:rPr>
              <a:t>56–65  (n=56)</a:t>
            </a:r>
            <a:endParaRPr lang="en-US" sz="800"/>
          </a:p>
        </p:txBody>
      </p:sp>
      <p:sp>
        <p:nvSpPr>
          <p:cNvPr id="24" name="Shape 21"/>
          <p:cNvSpPr/>
          <p:nvPr/>
        </p:nvSpPr>
        <p:spPr>
          <a:xfrm>
            <a:off x="7525512" y="3529584"/>
            <a:ext cx="1316736" cy="502920"/>
          </a:xfrm>
          <a:prstGeom prst="rect">
            <a:avLst/>
          </a:prstGeom>
          <a:solidFill>
            <a:srgbClr val="FFFFFF"/>
          </a:solidFill>
          <a:ln w="12700">
            <a:solidFill>
              <a:srgbClr val="D0D7E0"/>
            </a:solidFill>
            <a:prstDash val="solid"/>
          </a:ln>
        </p:spPr>
        <p:txBody>
          <a:bodyPr/>
          <a:lstStyle/>
          <a:p>
            <a:endParaRPr lang="en-PT"/>
          </a:p>
        </p:txBody>
      </p:sp>
      <p:sp>
        <p:nvSpPr>
          <p:cNvPr id="25" name="Text 22"/>
          <p:cNvSpPr/>
          <p:nvPr/>
        </p:nvSpPr>
        <p:spPr>
          <a:xfrm>
            <a:off x="7525512" y="3557016"/>
            <a:ext cx="1316736" cy="256032"/>
          </a:xfrm>
          <a:prstGeom prst="rect">
            <a:avLst/>
          </a:prstGeom>
          <a:noFill/>
          <a:ln/>
        </p:spPr>
        <p:txBody>
          <a:bodyPr wrap="square" rtlCol="0" anchor="ctr"/>
          <a:lstStyle/>
          <a:p>
            <a:pPr marL="0" indent="0" algn="ctr">
              <a:buNone/>
            </a:pPr>
            <a:r>
              <a:rPr lang="en-US" sz="1400" b="1">
                <a:solidFill>
                  <a:schemeClr val="accent3"/>
                </a:solidFill>
                <a:latin typeface="Georgia" pitchFamily="34" charset="0"/>
                <a:ea typeface="Georgia" pitchFamily="34" charset="-122"/>
                <a:cs typeface="Georgia" pitchFamily="34" charset="-120"/>
              </a:rPr>
              <a:t>50.0%</a:t>
            </a:r>
            <a:endParaRPr lang="en-US" sz="1400">
              <a:solidFill>
                <a:schemeClr val="accent3"/>
              </a:solidFill>
            </a:endParaRPr>
          </a:p>
        </p:txBody>
      </p:sp>
      <p:sp>
        <p:nvSpPr>
          <p:cNvPr id="26" name="Text 23"/>
          <p:cNvSpPr/>
          <p:nvPr/>
        </p:nvSpPr>
        <p:spPr>
          <a:xfrm>
            <a:off x="7525512" y="3803904"/>
            <a:ext cx="1316736" cy="164592"/>
          </a:xfrm>
          <a:prstGeom prst="rect">
            <a:avLst/>
          </a:prstGeom>
          <a:noFill/>
          <a:ln/>
        </p:spPr>
        <p:txBody>
          <a:bodyPr wrap="square" rtlCol="0" anchor="ctr"/>
          <a:lstStyle/>
          <a:p>
            <a:pPr marL="0" indent="0" algn="ctr">
              <a:buNone/>
            </a:pPr>
            <a:r>
              <a:rPr lang="en-US" sz="800">
                <a:solidFill>
                  <a:srgbClr val="8492A6"/>
                </a:solidFill>
                <a:latin typeface="Calibri" pitchFamily="34" charset="0"/>
                <a:ea typeface="Calibri" pitchFamily="34" charset="-122"/>
                <a:cs typeface="Calibri" pitchFamily="34" charset="-120"/>
              </a:rPr>
              <a:t>65+  (n=6)</a:t>
            </a:r>
            <a:endParaRPr lang="en-US" sz="800"/>
          </a:p>
        </p:txBody>
      </p:sp>
      <p:sp>
        <p:nvSpPr>
          <p:cNvPr id="27" name="Shape 24"/>
          <p:cNvSpPr/>
          <p:nvPr/>
        </p:nvSpPr>
        <p:spPr>
          <a:xfrm>
            <a:off x="320040" y="4114800"/>
            <a:ext cx="8503920" cy="713232"/>
          </a:xfrm>
          <a:prstGeom prst="rect">
            <a:avLst/>
          </a:prstGeom>
          <a:solidFill>
            <a:srgbClr val="F0F4FF"/>
          </a:solidFill>
          <a:ln w="12700">
            <a:solidFill>
              <a:srgbClr val="243660"/>
            </a:solidFill>
            <a:prstDash val="solid"/>
          </a:ln>
        </p:spPr>
        <p:txBody>
          <a:bodyPr/>
          <a:lstStyle/>
          <a:p>
            <a:endParaRPr lang="en-PT"/>
          </a:p>
        </p:txBody>
      </p:sp>
      <p:sp>
        <p:nvSpPr>
          <p:cNvPr id="28" name="Text 25"/>
          <p:cNvSpPr/>
          <p:nvPr/>
        </p:nvSpPr>
        <p:spPr>
          <a:xfrm>
            <a:off x="457200" y="4160520"/>
            <a:ext cx="1280160" cy="228600"/>
          </a:xfrm>
          <a:prstGeom prst="rect">
            <a:avLst/>
          </a:prstGeom>
          <a:noFill/>
          <a:ln/>
        </p:spPr>
        <p:txBody>
          <a:bodyPr wrap="square" rtlCol="0" anchor="ctr"/>
          <a:lstStyle/>
          <a:p>
            <a:pPr marL="0" indent="0">
              <a:buNone/>
            </a:pPr>
            <a:r>
              <a:rPr lang="en-US" sz="1000" b="1">
                <a:solidFill>
                  <a:srgbClr val="1A2744"/>
                </a:solidFill>
                <a:latin typeface="Calibri" pitchFamily="34" charset="0"/>
                <a:ea typeface="Calibri" pitchFamily="34" charset="-122"/>
                <a:cs typeface="Calibri" pitchFamily="34" charset="-120"/>
              </a:rPr>
              <a:t>Key Finding:</a:t>
            </a:r>
            <a:endParaRPr lang="en-US" sz="1000"/>
          </a:p>
        </p:txBody>
      </p:sp>
      <p:sp>
        <p:nvSpPr>
          <p:cNvPr id="29" name="Text 26"/>
          <p:cNvSpPr/>
          <p:nvPr/>
        </p:nvSpPr>
        <p:spPr>
          <a:xfrm>
            <a:off x="1691640" y="4133088"/>
            <a:ext cx="7040880" cy="667512"/>
          </a:xfrm>
          <a:prstGeom prst="rect">
            <a:avLst/>
          </a:prstGeom>
          <a:noFill/>
          <a:ln/>
        </p:spPr>
        <p:txBody>
          <a:bodyPr wrap="square" rtlCol="0" anchor="t"/>
          <a:lstStyle/>
          <a:p>
            <a:pPr marL="0" indent="0">
              <a:buNone/>
            </a:pPr>
            <a:r>
              <a:rPr lang="en-US" sz="900" dirty="0">
                <a:solidFill>
                  <a:srgbClr val="3D4A5C"/>
                </a:solidFill>
                <a:latin typeface="Calibri" pitchFamily="34" charset="0"/>
                <a:ea typeface="Calibri" pitchFamily="34" charset="-122"/>
                <a:cs typeface="Calibri" pitchFamily="34" charset="-120"/>
              </a:rPr>
              <a:t>The Young (18–35) cohort shows the only statistically significant gender gap (20.3 pp, p = 0.0088). The Middle (36–65) gap of 10.6 pp does not reach significance (p = 0.0697). Aggregate DI metrics mask where disparity is concentrated — subgroup monitoring is required for High-Risk AI under EU AI Act Annex III.</a:t>
            </a:r>
            <a:endParaRPr lang="en-US" sz="900" dirty="0"/>
          </a:p>
        </p:txBody>
      </p:sp>
      <p:sp>
        <p:nvSpPr>
          <p:cNvPr id="30" name="Shape 27"/>
          <p:cNvSpPr/>
          <p:nvPr/>
        </p:nvSpPr>
        <p:spPr>
          <a:xfrm>
            <a:off x="0" y="4864608"/>
            <a:ext cx="9144000" cy="278892"/>
          </a:xfrm>
          <a:prstGeom prst="rect">
            <a:avLst/>
          </a:prstGeom>
          <a:solidFill>
            <a:srgbClr val="000000"/>
          </a:solidFill>
          <a:ln w="12700">
            <a:solidFill>
              <a:srgbClr val="000000"/>
            </a:solidFill>
            <a:prstDash val="solid"/>
          </a:ln>
        </p:spPr>
        <p:txBody>
          <a:bodyPr/>
          <a:lstStyle/>
          <a:p>
            <a:endParaRPr lang="en-PT"/>
          </a:p>
        </p:txBody>
      </p:sp>
      <p:sp>
        <p:nvSpPr>
          <p:cNvPr id="31" name="Text 28"/>
          <p:cNvSpPr/>
          <p:nvPr/>
        </p:nvSpPr>
        <p:spPr>
          <a:xfrm>
            <a:off x="274320" y="4873752"/>
            <a:ext cx="8046720" cy="246888"/>
          </a:xfrm>
          <a:prstGeom prst="rect">
            <a:avLst/>
          </a:prstGeom>
          <a:noFill/>
          <a:ln/>
        </p:spPr>
        <p:txBody>
          <a:bodyPr wrap="square" rtlCol="0" anchor="ctr"/>
          <a:lstStyle/>
          <a:p>
            <a:pPr marL="0" indent="0">
              <a:buNone/>
            </a:pPr>
            <a:r>
              <a:rPr lang="en-US" sz="800">
                <a:solidFill>
                  <a:srgbClr val="999999"/>
                </a:solidFill>
                <a:latin typeface="Calibri" pitchFamily="34" charset="0"/>
                <a:ea typeface="Calibri" pitchFamily="34" charset="-122"/>
                <a:cs typeface="Calibri" pitchFamily="34" charset="-120"/>
              </a:rPr>
              <a:t>Team 14 — TXB  |  NovaCred Credit Governance  |  DEGO 2606, Nova SBE</a:t>
            </a:r>
            <a:endParaRPr lang="en-US" sz="800"/>
          </a:p>
        </p:txBody>
      </p:sp>
      <p:sp>
        <p:nvSpPr>
          <p:cNvPr id="32" name="Text 29"/>
          <p:cNvSpPr/>
          <p:nvPr/>
        </p:nvSpPr>
        <p:spPr>
          <a:xfrm>
            <a:off x="8686800" y="4873752"/>
            <a:ext cx="365760" cy="246888"/>
          </a:xfrm>
          <a:prstGeom prst="rect">
            <a:avLst/>
          </a:prstGeom>
          <a:noFill/>
          <a:ln/>
        </p:spPr>
        <p:txBody>
          <a:bodyPr wrap="square" rtlCol="0" anchor="ctr"/>
          <a:lstStyle/>
          <a:p>
            <a:pPr marL="0" indent="0" algn="r">
              <a:buNone/>
            </a:pPr>
            <a:r>
              <a:rPr lang="it-IT" sz="950" dirty="0">
                <a:solidFill>
                  <a:srgbClr val="999999"/>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A2744"/>
          </a:solidFill>
          <a:ln w="12700">
            <a:solidFill>
              <a:srgbClr val="1A2744"/>
            </a:solidFill>
            <a:prstDash val="solid"/>
          </a:ln>
        </p:spPr>
        <p:txBody>
          <a:bodyPr/>
          <a:lstStyle/>
          <a:p>
            <a:endParaRPr lang="en-PT"/>
          </a:p>
        </p:txBody>
      </p:sp>
      <p:sp>
        <p:nvSpPr>
          <p:cNvPr id="3" name="Shape 1"/>
          <p:cNvSpPr/>
          <p:nvPr/>
        </p:nvSpPr>
        <p:spPr>
          <a:xfrm>
            <a:off x="0" y="0"/>
            <a:ext cx="274320" cy="713232"/>
          </a:xfrm>
          <a:prstGeom prst="rect">
            <a:avLst/>
          </a:prstGeom>
          <a:solidFill>
            <a:srgbClr val="C0392B"/>
          </a:solidFill>
          <a:ln w="12700">
            <a:solidFill>
              <a:srgbClr val="C0392B"/>
            </a:solidFill>
            <a:prstDash val="solid"/>
          </a:ln>
        </p:spPr>
        <p:txBody>
          <a:bodyPr/>
          <a:lstStyle/>
          <a:p>
            <a:endParaRPr lang="en-PT"/>
          </a:p>
        </p:txBody>
      </p:sp>
      <p:sp>
        <p:nvSpPr>
          <p:cNvPr id="4" name="Text 2"/>
          <p:cNvSpPr/>
          <p:nvPr/>
        </p:nvSpPr>
        <p:spPr>
          <a:xfrm>
            <a:off x="411480" y="73152"/>
            <a:ext cx="8503920" cy="411480"/>
          </a:xfrm>
          <a:prstGeom prst="rect">
            <a:avLst/>
          </a:prstGeom>
          <a:noFill/>
          <a:ln/>
        </p:spPr>
        <p:txBody>
          <a:bodyPr wrap="square" rtlCol="0" anchor="ctr"/>
          <a:lstStyle/>
          <a:p>
            <a:pPr marL="0" indent="0">
              <a:buNone/>
            </a:pPr>
            <a:r>
              <a:rPr lang="en-US" sz="2200" b="1">
                <a:solidFill>
                  <a:srgbClr val="FFFFFF"/>
                </a:solidFill>
                <a:latin typeface="Georgia" pitchFamily="34" charset="0"/>
                <a:ea typeface="Georgia" pitchFamily="34" charset="-122"/>
                <a:cs typeface="Georgia" pitchFamily="34" charset="-120"/>
              </a:rPr>
              <a:t>Proxy Variable Analysis</a:t>
            </a:r>
            <a:endParaRPr lang="en-US" sz="2200"/>
          </a:p>
        </p:txBody>
      </p:sp>
      <p:sp>
        <p:nvSpPr>
          <p:cNvPr id="5" name="Text 3"/>
          <p:cNvSpPr/>
          <p:nvPr/>
        </p:nvSpPr>
        <p:spPr>
          <a:xfrm>
            <a:off x="411480" y="475488"/>
            <a:ext cx="8503920" cy="201168"/>
          </a:xfrm>
          <a:prstGeom prst="rect">
            <a:avLst/>
          </a:prstGeom>
          <a:noFill/>
          <a:ln/>
        </p:spPr>
        <p:txBody>
          <a:bodyPr wrap="square" rtlCol="0" anchor="ctr"/>
          <a:lstStyle/>
          <a:p>
            <a:r>
              <a:rPr lang="en-US" sz="1100" i="1">
                <a:solidFill>
                  <a:srgbClr val="AABBD0"/>
                </a:solidFill>
                <a:latin typeface="Calibri" pitchFamily="34" charset="0"/>
                <a:ea typeface="Calibri" pitchFamily="34" charset="-122"/>
                <a:cs typeface="Calibri" pitchFamily="34" charset="-120"/>
              </a:rPr>
              <a:t>Notebook 02  | Maddalena Manfredi — Data Scientist</a:t>
            </a:r>
            <a:endParaRPr lang="en-US" sz="1100"/>
          </a:p>
        </p:txBody>
      </p:sp>
      <p:sp>
        <p:nvSpPr>
          <p:cNvPr id="50" name="Shape 48"/>
          <p:cNvSpPr/>
          <p:nvPr/>
        </p:nvSpPr>
        <p:spPr>
          <a:xfrm>
            <a:off x="0" y="4864608"/>
            <a:ext cx="9144000" cy="278892"/>
          </a:xfrm>
          <a:prstGeom prst="rect">
            <a:avLst/>
          </a:prstGeom>
          <a:solidFill>
            <a:srgbClr val="000000"/>
          </a:solidFill>
          <a:ln w="12700">
            <a:solidFill>
              <a:srgbClr val="000000"/>
            </a:solidFill>
            <a:prstDash val="solid"/>
          </a:ln>
        </p:spPr>
        <p:txBody>
          <a:bodyPr/>
          <a:lstStyle/>
          <a:p>
            <a:endParaRPr lang="en-PT"/>
          </a:p>
        </p:txBody>
      </p:sp>
      <p:sp>
        <p:nvSpPr>
          <p:cNvPr id="51" name="Text 49"/>
          <p:cNvSpPr/>
          <p:nvPr/>
        </p:nvSpPr>
        <p:spPr>
          <a:xfrm>
            <a:off x="274320" y="4873752"/>
            <a:ext cx="8046720" cy="246888"/>
          </a:xfrm>
          <a:prstGeom prst="rect">
            <a:avLst/>
          </a:prstGeom>
          <a:noFill/>
          <a:ln/>
        </p:spPr>
        <p:txBody>
          <a:bodyPr wrap="square" rtlCol="0" anchor="ctr"/>
          <a:lstStyle/>
          <a:p>
            <a:pPr marL="0" indent="0">
              <a:buNone/>
            </a:pPr>
            <a:r>
              <a:rPr lang="en-US" sz="800">
                <a:solidFill>
                  <a:srgbClr val="999999"/>
                </a:solidFill>
                <a:latin typeface="Calibri" pitchFamily="34" charset="0"/>
                <a:ea typeface="Calibri" pitchFamily="34" charset="-122"/>
                <a:cs typeface="Calibri" pitchFamily="34" charset="-120"/>
              </a:rPr>
              <a:t>Team 14 — TXB  |  NovaCred Credit Governance  |  DEGO 2606, Nova SBE</a:t>
            </a:r>
            <a:endParaRPr lang="en-US" sz="800"/>
          </a:p>
        </p:txBody>
      </p:sp>
      <p:sp>
        <p:nvSpPr>
          <p:cNvPr id="52" name="Text 50"/>
          <p:cNvSpPr/>
          <p:nvPr/>
        </p:nvSpPr>
        <p:spPr>
          <a:xfrm>
            <a:off x="8686800" y="4873752"/>
            <a:ext cx="365760" cy="246888"/>
          </a:xfrm>
          <a:prstGeom prst="rect">
            <a:avLst/>
          </a:prstGeom>
          <a:noFill/>
          <a:ln/>
        </p:spPr>
        <p:txBody>
          <a:bodyPr wrap="square" rtlCol="0" anchor="ctr"/>
          <a:lstStyle/>
          <a:p>
            <a:pPr marL="0" indent="0" algn="r">
              <a:buNone/>
            </a:pPr>
            <a:r>
              <a:rPr lang="it-IT" sz="950" dirty="0"/>
              <a:t>8</a:t>
            </a:r>
            <a:endParaRPr lang="en-US" sz="950" dirty="0"/>
          </a:p>
        </p:txBody>
      </p:sp>
      <p:sp>
        <p:nvSpPr>
          <p:cNvPr id="20" name="Text 29">
            <a:extLst>
              <a:ext uri="{FF2B5EF4-FFF2-40B4-BE49-F238E27FC236}">
                <a16:creationId xmlns:a16="http://schemas.microsoft.com/office/drawing/2014/main" id="{10E91421-2C02-5916-CE2B-3C5DF1E95D2E}"/>
              </a:ext>
            </a:extLst>
          </p:cNvPr>
          <p:cNvSpPr/>
          <p:nvPr/>
        </p:nvSpPr>
        <p:spPr>
          <a:xfrm>
            <a:off x="8694683" y="4880610"/>
            <a:ext cx="365760" cy="246888"/>
          </a:xfrm>
          <a:prstGeom prst="rect">
            <a:avLst/>
          </a:prstGeom>
          <a:noFill/>
          <a:ln/>
        </p:spPr>
        <p:txBody>
          <a:bodyPr wrap="square" rtlCol="0" anchor="ctr"/>
          <a:lstStyle/>
          <a:p>
            <a:pPr marL="0" indent="0" algn="r">
              <a:buNone/>
            </a:pPr>
            <a:r>
              <a:rPr lang="it-IT" sz="950" dirty="0">
                <a:solidFill>
                  <a:srgbClr val="999999"/>
                </a:solidFill>
                <a:latin typeface="Calibri" pitchFamily="34" charset="0"/>
                <a:ea typeface="Calibri" pitchFamily="34" charset="-122"/>
                <a:cs typeface="Calibri" pitchFamily="34" charset="-120"/>
              </a:rPr>
              <a:t>8</a:t>
            </a:r>
            <a:endParaRPr lang="en-US" sz="950" dirty="0"/>
          </a:p>
        </p:txBody>
      </p:sp>
      <p:sp>
        <p:nvSpPr>
          <p:cNvPr id="46" name="Shape 4">
            <a:extLst>
              <a:ext uri="{FF2B5EF4-FFF2-40B4-BE49-F238E27FC236}">
                <a16:creationId xmlns:a16="http://schemas.microsoft.com/office/drawing/2014/main" id="{A24C9537-2343-8525-AD83-4C4A9C618122}"/>
              </a:ext>
            </a:extLst>
          </p:cNvPr>
          <p:cNvSpPr/>
          <p:nvPr/>
        </p:nvSpPr>
        <p:spPr>
          <a:xfrm>
            <a:off x="274320" y="1002927"/>
            <a:ext cx="3246120" cy="3493008"/>
          </a:xfrm>
          <a:prstGeom prst="rect">
            <a:avLst/>
          </a:prstGeom>
          <a:solidFill>
            <a:srgbClr val="FFFFFF"/>
          </a:solidFill>
          <a:ln w="12700">
            <a:solidFill>
              <a:srgbClr val="D5DCE8"/>
            </a:solidFill>
            <a:prstDash val="solid"/>
          </a:ln>
          <a:effectLst>
            <a:outerShdw blurRad="63500" dist="25400" dir="8100000" algn="bl" rotWithShape="0">
              <a:srgbClr val="000000">
                <a:alpha val="8000"/>
              </a:srgbClr>
            </a:outerShdw>
          </a:effectLst>
        </p:spPr>
        <p:txBody>
          <a:bodyPr/>
          <a:lstStyle/>
          <a:p>
            <a:endParaRPr lang="en-US"/>
          </a:p>
        </p:txBody>
      </p:sp>
      <p:sp>
        <p:nvSpPr>
          <p:cNvPr id="47" name="Text 5">
            <a:extLst>
              <a:ext uri="{FF2B5EF4-FFF2-40B4-BE49-F238E27FC236}">
                <a16:creationId xmlns:a16="http://schemas.microsoft.com/office/drawing/2014/main" id="{E0F63B7E-13D1-5AE2-A83F-5026BC4379D9}"/>
              </a:ext>
            </a:extLst>
          </p:cNvPr>
          <p:cNvSpPr/>
          <p:nvPr/>
        </p:nvSpPr>
        <p:spPr>
          <a:xfrm>
            <a:off x="438912" y="1167519"/>
            <a:ext cx="2990088" cy="320040"/>
          </a:xfrm>
          <a:prstGeom prst="rect">
            <a:avLst/>
          </a:prstGeom>
          <a:noFill/>
          <a:ln/>
        </p:spPr>
        <p:txBody>
          <a:bodyPr wrap="square" lIns="0" tIns="0" rIns="0" bIns="0" rtlCol="0" anchor="ctr"/>
          <a:lstStyle/>
          <a:p>
            <a:pPr marL="0" indent="0">
              <a:buNone/>
            </a:pPr>
            <a:r>
              <a:rPr lang="en-US" sz="1300" b="1" dirty="0">
                <a:solidFill>
                  <a:srgbClr val="2C3E50"/>
                </a:solidFill>
                <a:latin typeface="Calibri" pitchFamily="34" charset="0"/>
                <a:ea typeface="Calibri" pitchFamily="34" charset="-122"/>
                <a:cs typeface="Calibri" pitchFamily="34" charset="-120"/>
              </a:rPr>
              <a:t>What is a Proxy Variable?</a:t>
            </a:r>
            <a:endParaRPr lang="en-US" sz="1300" dirty="0"/>
          </a:p>
        </p:txBody>
      </p:sp>
      <p:sp>
        <p:nvSpPr>
          <p:cNvPr id="48" name="Text 6">
            <a:extLst>
              <a:ext uri="{FF2B5EF4-FFF2-40B4-BE49-F238E27FC236}">
                <a16:creationId xmlns:a16="http://schemas.microsoft.com/office/drawing/2014/main" id="{E7F0B1FE-778C-BEE0-E5BF-00EFE5CA451B}"/>
              </a:ext>
            </a:extLst>
          </p:cNvPr>
          <p:cNvSpPr/>
          <p:nvPr/>
        </p:nvSpPr>
        <p:spPr>
          <a:xfrm>
            <a:off x="438912" y="1551567"/>
            <a:ext cx="2990088" cy="1005840"/>
          </a:xfrm>
          <a:prstGeom prst="rect">
            <a:avLst/>
          </a:prstGeom>
          <a:noFill/>
          <a:ln/>
        </p:spPr>
        <p:txBody>
          <a:bodyPr wrap="square" lIns="0" tIns="0" rIns="0" bIns="0" rtlCol="0" anchor="ctr"/>
          <a:lstStyle/>
          <a:p>
            <a:pPr marL="0" indent="0">
              <a:buNone/>
            </a:pPr>
            <a:r>
              <a:rPr lang="en-US" sz="1050" dirty="0">
                <a:solidFill>
                  <a:srgbClr val="2C3E50"/>
                </a:solidFill>
                <a:latin typeface="Calibri" pitchFamily="34" charset="0"/>
                <a:ea typeface="Calibri" pitchFamily="34" charset="-122"/>
                <a:cs typeface="Calibri" pitchFamily="34" charset="-120"/>
              </a:rPr>
              <a:t>A variable that is not itself a protected attribute but correlates strongly with one (gender, age) and with the outcome. Including it in a model can reproduce discriminatory patterns indirectly.</a:t>
            </a:r>
            <a:endParaRPr lang="en-US" sz="1050" dirty="0"/>
          </a:p>
          <a:p>
            <a:pPr marL="0" indent="0">
              <a:buNone/>
            </a:pPr>
            <a:r>
              <a:rPr lang="en-US" sz="1050" dirty="0">
                <a:solidFill>
                  <a:srgbClr val="2C3E50"/>
                </a:solidFill>
                <a:latin typeface="Calibri" pitchFamily="34" charset="0"/>
                <a:ea typeface="Calibri" pitchFamily="34" charset="-122"/>
                <a:cs typeface="Calibri" pitchFamily="34" charset="-120"/>
              </a:rPr>
              <a:t>Two combinations were tested as potential gender proxies: </a:t>
            </a:r>
            <a:endParaRPr lang="en-US" sz="1050" dirty="0"/>
          </a:p>
        </p:txBody>
      </p:sp>
      <p:sp>
        <p:nvSpPr>
          <p:cNvPr id="49" name="Text 7">
            <a:extLst>
              <a:ext uri="{FF2B5EF4-FFF2-40B4-BE49-F238E27FC236}">
                <a16:creationId xmlns:a16="http://schemas.microsoft.com/office/drawing/2014/main" id="{BD073893-A177-1632-0841-004BBA17FE32}"/>
              </a:ext>
            </a:extLst>
          </p:cNvPr>
          <p:cNvSpPr/>
          <p:nvPr/>
        </p:nvSpPr>
        <p:spPr>
          <a:xfrm>
            <a:off x="438912" y="2484255"/>
            <a:ext cx="2990088" cy="347472"/>
          </a:xfrm>
          <a:prstGeom prst="rect">
            <a:avLst/>
          </a:prstGeom>
          <a:noFill/>
          <a:ln/>
        </p:spPr>
        <p:txBody>
          <a:bodyPr wrap="square" lIns="0" tIns="0" rIns="0" bIns="0" rtlCol="0" anchor="ctr"/>
          <a:lstStyle/>
          <a:p>
            <a:pPr marL="0" indent="0">
              <a:buNone/>
            </a:pPr>
            <a:r>
              <a:rPr lang="en-US" sz="1050" b="1" u="sng" dirty="0">
                <a:solidFill>
                  <a:srgbClr val="2C3E50"/>
                </a:solidFill>
                <a:latin typeface="Calibri" pitchFamily="34" charset="0"/>
                <a:ea typeface="Calibri" pitchFamily="34" charset="-122"/>
                <a:cs typeface="Calibri" pitchFamily="34" charset="-120"/>
              </a:rPr>
              <a:t>zip_code</a:t>
            </a:r>
            <a:r>
              <a:rPr lang="en-US" sz="1050" dirty="0">
                <a:solidFill>
                  <a:srgbClr val="2C3E50"/>
                </a:solidFill>
                <a:latin typeface="Calibri" pitchFamily="34" charset="0"/>
                <a:ea typeface="Calibri" pitchFamily="34" charset="-122"/>
                <a:cs typeface="Calibri" pitchFamily="34" charset="-120"/>
              </a:rPr>
              <a:t> × </a:t>
            </a:r>
            <a:r>
              <a:rPr lang="en-US" sz="1050" b="1" u="sng" dirty="0">
                <a:solidFill>
                  <a:srgbClr val="2C3E50"/>
                </a:solidFill>
                <a:latin typeface="Calibri" pitchFamily="34" charset="0"/>
                <a:ea typeface="Calibri" pitchFamily="34" charset="-122"/>
                <a:cs typeface="Calibri" pitchFamily="34" charset="-120"/>
              </a:rPr>
              <a:t>loan_approval</a:t>
            </a:r>
            <a:r>
              <a:rPr lang="en-US" sz="1050" dirty="0">
                <a:solidFill>
                  <a:srgbClr val="2C3E50"/>
                </a:solidFill>
                <a:latin typeface="Calibri" pitchFamily="34" charset="0"/>
                <a:ea typeface="Calibri" pitchFamily="34" charset="-122"/>
                <a:cs typeface="Calibri" pitchFamily="34" charset="-120"/>
              </a:rPr>
              <a:t> and </a:t>
            </a:r>
            <a:r>
              <a:rPr lang="en-US" sz="1050" b="1" u="sng" dirty="0">
                <a:solidFill>
                  <a:srgbClr val="2C3E50"/>
                </a:solidFill>
                <a:latin typeface="Calibri" pitchFamily="34" charset="0"/>
                <a:ea typeface="Calibri" pitchFamily="34" charset="-122"/>
                <a:cs typeface="Calibri" pitchFamily="34" charset="-120"/>
              </a:rPr>
              <a:t>spending_behavior</a:t>
            </a:r>
            <a:r>
              <a:rPr lang="en-US" sz="1050" dirty="0">
                <a:solidFill>
                  <a:srgbClr val="2C3E50"/>
                </a:solidFill>
                <a:latin typeface="Calibri" pitchFamily="34" charset="0"/>
                <a:ea typeface="Calibri" pitchFamily="34" charset="-122"/>
                <a:cs typeface="Calibri" pitchFamily="34" charset="-120"/>
              </a:rPr>
              <a:t> × </a:t>
            </a:r>
            <a:r>
              <a:rPr lang="en-US" sz="1050" b="1" u="sng" dirty="0">
                <a:solidFill>
                  <a:srgbClr val="2C3E50"/>
                </a:solidFill>
                <a:latin typeface="Calibri" pitchFamily="34" charset="0"/>
                <a:ea typeface="Calibri" pitchFamily="34" charset="-122"/>
                <a:cs typeface="Calibri" pitchFamily="34" charset="-120"/>
              </a:rPr>
              <a:t>income.</a:t>
            </a:r>
            <a:endParaRPr lang="en-US" sz="1050" dirty="0"/>
          </a:p>
        </p:txBody>
      </p:sp>
      <p:sp>
        <p:nvSpPr>
          <p:cNvPr id="53" name="Text 8">
            <a:extLst>
              <a:ext uri="{FF2B5EF4-FFF2-40B4-BE49-F238E27FC236}">
                <a16:creationId xmlns:a16="http://schemas.microsoft.com/office/drawing/2014/main" id="{8E137F50-5CBE-8DC1-9B80-8C5A6E3196B3}"/>
              </a:ext>
            </a:extLst>
          </p:cNvPr>
          <p:cNvSpPr/>
          <p:nvPr/>
        </p:nvSpPr>
        <p:spPr>
          <a:xfrm>
            <a:off x="438912" y="3014607"/>
            <a:ext cx="2990088" cy="256032"/>
          </a:xfrm>
          <a:prstGeom prst="rect">
            <a:avLst/>
          </a:prstGeom>
          <a:noFill/>
          <a:ln/>
        </p:spPr>
        <p:txBody>
          <a:bodyPr wrap="square" lIns="0" tIns="0" rIns="0" bIns="0" rtlCol="0" anchor="ctr"/>
          <a:lstStyle/>
          <a:p>
            <a:pPr marL="0" indent="0">
              <a:buNone/>
            </a:pPr>
            <a:r>
              <a:rPr lang="en-US" sz="1050" dirty="0">
                <a:solidFill>
                  <a:srgbClr val="2C3E50"/>
                </a:solidFill>
                <a:latin typeface="Calibri" pitchFamily="34" charset="0"/>
                <a:ea typeface="Calibri" pitchFamily="34" charset="-122"/>
                <a:cs typeface="Calibri" pitchFamily="34" charset="-120"/>
              </a:rPr>
              <a:t>Legend:</a:t>
            </a:r>
            <a:endParaRPr lang="en-US" sz="1050" dirty="0"/>
          </a:p>
        </p:txBody>
      </p:sp>
      <p:sp>
        <p:nvSpPr>
          <p:cNvPr id="54" name="Shape 9">
            <a:extLst>
              <a:ext uri="{FF2B5EF4-FFF2-40B4-BE49-F238E27FC236}">
                <a16:creationId xmlns:a16="http://schemas.microsoft.com/office/drawing/2014/main" id="{3F815B7B-AB6E-01EA-C1EF-A4C7687CE80C}"/>
              </a:ext>
            </a:extLst>
          </p:cNvPr>
          <p:cNvSpPr/>
          <p:nvPr/>
        </p:nvSpPr>
        <p:spPr>
          <a:xfrm>
            <a:off x="438912" y="3362079"/>
            <a:ext cx="201168" cy="201168"/>
          </a:xfrm>
          <a:prstGeom prst="rect">
            <a:avLst/>
          </a:prstGeom>
          <a:solidFill>
            <a:srgbClr val="C0392B"/>
          </a:solidFill>
          <a:ln w="12700">
            <a:solidFill>
              <a:srgbClr val="C0392B"/>
            </a:solidFill>
            <a:prstDash val="solid"/>
          </a:ln>
        </p:spPr>
        <p:txBody>
          <a:bodyPr/>
          <a:lstStyle/>
          <a:p>
            <a:endParaRPr lang="en-US"/>
          </a:p>
        </p:txBody>
      </p:sp>
      <p:sp>
        <p:nvSpPr>
          <p:cNvPr id="55" name="Text 10">
            <a:extLst>
              <a:ext uri="{FF2B5EF4-FFF2-40B4-BE49-F238E27FC236}">
                <a16:creationId xmlns:a16="http://schemas.microsoft.com/office/drawing/2014/main" id="{F1B2A6FE-E985-301C-793F-8DC59230E046}"/>
              </a:ext>
            </a:extLst>
          </p:cNvPr>
          <p:cNvSpPr/>
          <p:nvPr/>
        </p:nvSpPr>
        <p:spPr>
          <a:xfrm>
            <a:off x="694944" y="3343791"/>
            <a:ext cx="1097280" cy="256032"/>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Gender proxy test</a:t>
            </a:r>
            <a:endParaRPr lang="en-US" sz="950" dirty="0"/>
          </a:p>
        </p:txBody>
      </p:sp>
      <p:sp>
        <p:nvSpPr>
          <p:cNvPr id="56" name="Shape 11">
            <a:extLst>
              <a:ext uri="{FF2B5EF4-FFF2-40B4-BE49-F238E27FC236}">
                <a16:creationId xmlns:a16="http://schemas.microsoft.com/office/drawing/2014/main" id="{A7A83581-A62B-9DD9-89D1-585B8142B80D}"/>
              </a:ext>
            </a:extLst>
          </p:cNvPr>
          <p:cNvSpPr/>
          <p:nvPr/>
        </p:nvSpPr>
        <p:spPr>
          <a:xfrm>
            <a:off x="1856232" y="3362079"/>
            <a:ext cx="201168" cy="201168"/>
          </a:xfrm>
          <a:prstGeom prst="rect">
            <a:avLst/>
          </a:prstGeom>
          <a:solidFill>
            <a:srgbClr val="E67E22"/>
          </a:solidFill>
          <a:ln w="12700">
            <a:solidFill>
              <a:srgbClr val="E67E22"/>
            </a:solidFill>
            <a:prstDash val="solid"/>
          </a:ln>
        </p:spPr>
        <p:txBody>
          <a:bodyPr/>
          <a:lstStyle/>
          <a:p>
            <a:endParaRPr lang="en-US"/>
          </a:p>
        </p:txBody>
      </p:sp>
      <p:sp>
        <p:nvSpPr>
          <p:cNvPr id="57" name="Text 12">
            <a:extLst>
              <a:ext uri="{FF2B5EF4-FFF2-40B4-BE49-F238E27FC236}">
                <a16:creationId xmlns:a16="http://schemas.microsoft.com/office/drawing/2014/main" id="{D1FF8A9D-67A8-747F-233C-9C5F37F67E94}"/>
              </a:ext>
            </a:extLst>
          </p:cNvPr>
          <p:cNvSpPr/>
          <p:nvPr/>
        </p:nvSpPr>
        <p:spPr>
          <a:xfrm>
            <a:off x="2112264" y="3343791"/>
            <a:ext cx="1097280" cy="256032"/>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Statistical test</a:t>
            </a:r>
            <a:endParaRPr lang="en-US" sz="950" dirty="0"/>
          </a:p>
        </p:txBody>
      </p:sp>
      <p:sp>
        <p:nvSpPr>
          <p:cNvPr id="58" name="Shape 13">
            <a:extLst>
              <a:ext uri="{FF2B5EF4-FFF2-40B4-BE49-F238E27FC236}">
                <a16:creationId xmlns:a16="http://schemas.microsoft.com/office/drawing/2014/main" id="{88FFCAE7-9F88-02C4-35A4-332AF53975BC}"/>
              </a:ext>
            </a:extLst>
          </p:cNvPr>
          <p:cNvSpPr/>
          <p:nvPr/>
        </p:nvSpPr>
        <p:spPr>
          <a:xfrm>
            <a:off x="438912" y="3718695"/>
            <a:ext cx="201168" cy="201168"/>
          </a:xfrm>
          <a:prstGeom prst="rect">
            <a:avLst/>
          </a:prstGeom>
          <a:solidFill>
            <a:srgbClr val="1B2A4A"/>
          </a:solidFill>
          <a:ln w="12700">
            <a:solidFill>
              <a:srgbClr val="1B2A4A"/>
            </a:solidFill>
            <a:prstDash val="solid"/>
          </a:ln>
        </p:spPr>
        <p:txBody>
          <a:bodyPr/>
          <a:lstStyle/>
          <a:p>
            <a:endParaRPr lang="en-US"/>
          </a:p>
        </p:txBody>
      </p:sp>
      <p:sp>
        <p:nvSpPr>
          <p:cNvPr id="59" name="Text 14">
            <a:extLst>
              <a:ext uri="{FF2B5EF4-FFF2-40B4-BE49-F238E27FC236}">
                <a16:creationId xmlns:a16="http://schemas.microsoft.com/office/drawing/2014/main" id="{025D13CC-E0DD-A940-71DF-5C36EAA5C2E1}"/>
              </a:ext>
            </a:extLst>
          </p:cNvPr>
          <p:cNvSpPr/>
          <p:nvPr/>
        </p:nvSpPr>
        <p:spPr>
          <a:xfrm>
            <a:off x="694944" y="3700407"/>
            <a:ext cx="1097280" cy="256032"/>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Combined result</a:t>
            </a:r>
            <a:endParaRPr lang="en-US" sz="950" dirty="0"/>
          </a:p>
        </p:txBody>
      </p:sp>
      <p:sp>
        <p:nvSpPr>
          <p:cNvPr id="60" name="Shape 15">
            <a:extLst>
              <a:ext uri="{FF2B5EF4-FFF2-40B4-BE49-F238E27FC236}">
                <a16:creationId xmlns:a16="http://schemas.microsoft.com/office/drawing/2014/main" id="{890F6C4E-7BBC-EB40-77B7-46808ECE4D9D}"/>
              </a:ext>
            </a:extLst>
          </p:cNvPr>
          <p:cNvSpPr/>
          <p:nvPr/>
        </p:nvSpPr>
        <p:spPr>
          <a:xfrm>
            <a:off x="1856232" y="3718695"/>
            <a:ext cx="201168" cy="201168"/>
          </a:xfrm>
          <a:prstGeom prst="rect">
            <a:avLst/>
          </a:prstGeom>
          <a:solidFill>
            <a:srgbClr val="9B9B9B"/>
          </a:solidFill>
          <a:ln w="12700">
            <a:solidFill>
              <a:srgbClr val="9B9B9B"/>
            </a:solidFill>
            <a:prstDash val="solid"/>
          </a:ln>
        </p:spPr>
        <p:txBody>
          <a:bodyPr/>
          <a:lstStyle/>
          <a:p>
            <a:endParaRPr lang="en-US"/>
          </a:p>
        </p:txBody>
      </p:sp>
      <p:sp>
        <p:nvSpPr>
          <p:cNvPr id="61" name="Text 16">
            <a:extLst>
              <a:ext uri="{FF2B5EF4-FFF2-40B4-BE49-F238E27FC236}">
                <a16:creationId xmlns:a16="http://schemas.microsoft.com/office/drawing/2014/main" id="{19FF6A76-24D5-1B06-9641-FB313B0D6BC0}"/>
              </a:ext>
            </a:extLst>
          </p:cNvPr>
          <p:cNvSpPr/>
          <p:nvPr/>
        </p:nvSpPr>
        <p:spPr>
          <a:xfrm>
            <a:off x="2112264" y="3700407"/>
            <a:ext cx="1097280" cy="256032"/>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Not significant (—)</a:t>
            </a:r>
            <a:endParaRPr lang="en-US" sz="950" dirty="0"/>
          </a:p>
        </p:txBody>
      </p:sp>
      <p:sp>
        <p:nvSpPr>
          <p:cNvPr id="62" name="Shape 17">
            <a:extLst>
              <a:ext uri="{FF2B5EF4-FFF2-40B4-BE49-F238E27FC236}">
                <a16:creationId xmlns:a16="http://schemas.microsoft.com/office/drawing/2014/main" id="{219344CC-3C70-C0DA-DB57-4D07AA113043}"/>
              </a:ext>
            </a:extLst>
          </p:cNvPr>
          <p:cNvSpPr/>
          <p:nvPr/>
        </p:nvSpPr>
        <p:spPr>
          <a:xfrm>
            <a:off x="3767328" y="917313"/>
            <a:ext cx="5120640" cy="1901952"/>
          </a:xfrm>
          <a:prstGeom prst="rect">
            <a:avLst/>
          </a:prstGeom>
          <a:solidFill>
            <a:srgbClr val="FFFFFF"/>
          </a:solidFill>
          <a:ln w="12700">
            <a:solidFill>
              <a:srgbClr val="D5DCE8"/>
            </a:solidFill>
            <a:prstDash val="solid"/>
          </a:ln>
          <a:effectLst>
            <a:outerShdw blurRad="63500" dist="25400" dir="8100000" algn="bl" rotWithShape="0">
              <a:srgbClr val="000000">
                <a:alpha val="8000"/>
              </a:srgbClr>
            </a:outerShdw>
          </a:effectLst>
        </p:spPr>
        <p:txBody>
          <a:bodyPr/>
          <a:lstStyle/>
          <a:p>
            <a:endParaRPr lang="en-US"/>
          </a:p>
        </p:txBody>
      </p:sp>
      <p:sp>
        <p:nvSpPr>
          <p:cNvPr id="63" name="Shape 18">
            <a:extLst>
              <a:ext uri="{FF2B5EF4-FFF2-40B4-BE49-F238E27FC236}">
                <a16:creationId xmlns:a16="http://schemas.microsoft.com/office/drawing/2014/main" id="{D7E2F3C1-1F84-509B-5410-9050DDEDDF70}"/>
              </a:ext>
            </a:extLst>
          </p:cNvPr>
          <p:cNvSpPr/>
          <p:nvPr/>
        </p:nvSpPr>
        <p:spPr>
          <a:xfrm>
            <a:off x="3767328" y="917313"/>
            <a:ext cx="5120640" cy="438912"/>
          </a:xfrm>
          <a:prstGeom prst="rect">
            <a:avLst/>
          </a:prstGeom>
          <a:solidFill>
            <a:srgbClr val="1A2744"/>
          </a:solidFill>
          <a:ln w="12700">
            <a:solidFill>
              <a:srgbClr val="2C3E6B"/>
            </a:solidFill>
            <a:prstDash val="solid"/>
          </a:ln>
        </p:spPr>
        <p:txBody>
          <a:bodyPr/>
          <a:lstStyle/>
          <a:p>
            <a:endParaRPr lang="en-US"/>
          </a:p>
        </p:txBody>
      </p:sp>
      <p:sp>
        <p:nvSpPr>
          <p:cNvPr id="64" name="Text 19">
            <a:extLst>
              <a:ext uri="{FF2B5EF4-FFF2-40B4-BE49-F238E27FC236}">
                <a16:creationId xmlns:a16="http://schemas.microsoft.com/office/drawing/2014/main" id="{E56941F7-2893-DEE3-C040-CB2443864B0A}"/>
              </a:ext>
            </a:extLst>
          </p:cNvPr>
          <p:cNvSpPr/>
          <p:nvPr/>
        </p:nvSpPr>
        <p:spPr>
          <a:xfrm>
            <a:off x="3931920" y="917313"/>
            <a:ext cx="2816352" cy="43891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zip_code x loan_approval</a:t>
            </a:r>
            <a:endParaRPr lang="en-US" sz="1100" dirty="0"/>
          </a:p>
        </p:txBody>
      </p:sp>
      <p:sp>
        <p:nvSpPr>
          <p:cNvPr id="65" name="Text 20">
            <a:extLst>
              <a:ext uri="{FF2B5EF4-FFF2-40B4-BE49-F238E27FC236}">
                <a16:creationId xmlns:a16="http://schemas.microsoft.com/office/drawing/2014/main" id="{00867F86-7F66-05DC-5D22-A8B931EA1152}"/>
              </a:ext>
            </a:extLst>
          </p:cNvPr>
          <p:cNvSpPr/>
          <p:nvPr/>
        </p:nvSpPr>
        <p:spPr>
          <a:xfrm>
            <a:off x="6583680" y="917313"/>
            <a:ext cx="2201875" cy="438912"/>
          </a:xfrm>
          <a:prstGeom prst="rect">
            <a:avLst/>
          </a:prstGeom>
          <a:noFill/>
          <a:ln/>
        </p:spPr>
        <p:txBody>
          <a:bodyPr wrap="square" lIns="0" tIns="0" rIns="0" bIns="0" rtlCol="0" anchor="ctr"/>
          <a:lstStyle/>
          <a:p>
            <a:pPr marL="0" indent="0" algn="r">
              <a:buNone/>
            </a:pPr>
            <a:r>
              <a:rPr lang="en-US" sz="950" b="1" dirty="0">
                <a:solidFill>
                  <a:srgbClr val="FFFFFF"/>
                </a:solidFill>
                <a:latin typeface="Calibri" pitchFamily="34" charset="0"/>
                <a:ea typeface="Calibri" pitchFamily="34" charset="-122"/>
                <a:cs typeface="Calibri" pitchFamily="34" charset="-120"/>
              </a:rPr>
              <a:t>⚠ PROXY DETECTED</a:t>
            </a:r>
            <a:endParaRPr lang="en-US" sz="950" dirty="0"/>
          </a:p>
        </p:txBody>
      </p:sp>
      <p:sp>
        <p:nvSpPr>
          <p:cNvPr id="66" name="Text 22">
            <a:extLst>
              <a:ext uri="{FF2B5EF4-FFF2-40B4-BE49-F238E27FC236}">
                <a16:creationId xmlns:a16="http://schemas.microsoft.com/office/drawing/2014/main" id="{9DD35AFA-D0DF-091E-7E38-F1D0460EC024}"/>
              </a:ext>
            </a:extLst>
          </p:cNvPr>
          <p:cNvSpPr/>
          <p:nvPr/>
        </p:nvSpPr>
        <p:spPr>
          <a:xfrm>
            <a:off x="3931920" y="1520817"/>
            <a:ext cx="1597152" cy="475488"/>
          </a:xfrm>
          <a:prstGeom prst="rect">
            <a:avLst/>
          </a:prstGeom>
          <a:noFill/>
          <a:ln/>
        </p:spPr>
        <p:txBody>
          <a:bodyPr wrap="square" lIns="50800" tIns="50800" rIns="50800" bIns="5080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AUC (zip only): 0.864</a:t>
            </a:r>
            <a:endParaRPr lang="en-US" sz="900" dirty="0"/>
          </a:p>
        </p:txBody>
      </p:sp>
      <p:sp>
        <p:nvSpPr>
          <p:cNvPr id="67" name="Text 24">
            <a:extLst>
              <a:ext uri="{FF2B5EF4-FFF2-40B4-BE49-F238E27FC236}">
                <a16:creationId xmlns:a16="http://schemas.microsoft.com/office/drawing/2014/main" id="{A65F6F06-6CD6-48A1-A1BA-5AF8459B1D7C}"/>
              </a:ext>
            </a:extLst>
          </p:cNvPr>
          <p:cNvSpPr/>
          <p:nvPr/>
        </p:nvSpPr>
        <p:spPr>
          <a:xfrm>
            <a:off x="5529072" y="1520817"/>
            <a:ext cx="1597152" cy="475488"/>
          </a:xfrm>
          <a:prstGeom prst="rect">
            <a:avLst/>
          </a:prstGeom>
          <a:noFill/>
          <a:ln/>
        </p:spPr>
        <p:txBody>
          <a:bodyPr wrap="square" lIns="50800" tIns="50800" rIns="50800" bIns="5080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AUC (approval only): 0.576</a:t>
            </a:r>
            <a:endParaRPr lang="en-US" sz="900" dirty="0"/>
          </a:p>
        </p:txBody>
      </p:sp>
      <p:sp>
        <p:nvSpPr>
          <p:cNvPr id="68" name="Text 26">
            <a:extLst>
              <a:ext uri="{FF2B5EF4-FFF2-40B4-BE49-F238E27FC236}">
                <a16:creationId xmlns:a16="http://schemas.microsoft.com/office/drawing/2014/main" id="{0D8B61FE-39DB-4BD2-91D7-42B1CEB50613}"/>
              </a:ext>
            </a:extLst>
          </p:cNvPr>
          <p:cNvSpPr/>
          <p:nvPr/>
        </p:nvSpPr>
        <p:spPr>
          <a:xfrm>
            <a:off x="7126224" y="1520817"/>
            <a:ext cx="1597152" cy="475488"/>
          </a:xfrm>
          <a:prstGeom prst="rect">
            <a:avLst/>
          </a:prstGeom>
          <a:noFill/>
          <a:ln/>
        </p:spPr>
        <p:txBody>
          <a:bodyPr wrap="square" lIns="50800" tIns="50800" rIns="50800" bIns="5080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Mean CV AUC (combined): 0.849</a:t>
            </a:r>
            <a:endParaRPr lang="en-US" sz="900" dirty="0"/>
          </a:p>
        </p:txBody>
      </p:sp>
      <p:sp>
        <p:nvSpPr>
          <p:cNvPr id="69" name="Text 27">
            <a:extLst>
              <a:ext uri="{FF2B5EF4-FFF2-40B4-BE49-F238E27FC236}">
                <a16:creationId xmlns:a16="http://schemas.microsoft.com/office/drawing/2014/main" id="{9C086ACE-137F-DA62-7D32-362EF9E5081B}"/>
              </a:ext>
            </a:extLst>
          </p:cNvPr>
          <p:cNvSpPr/>
          <p:nvPr/>
        </p:nvSpPr>
        <p:spPr>
          <a:xfrm>
            <a:off x="3931920" y="2124321"/>
            <a:ext cx="4864608" cy="585216"/>
          </a:xfrm>
          <a:prstGeom prst="rect">
            <a:avLst/>
          </a:prstGeom>
          <a:noFill/>
          <a:ln/>
        </p:spPr>
        <p:txBody>
          <a:bodyPr wrap="square" lIns="0" tIns="0" rIns="0" bIns="0" rtlCol="0" anchor="ctr"/>
          <a:lstStyle/>
          <a:p>
            <a:r>
              <a:rPr lang="en-US" sz="950" dirty="0">
                <a:solidFill>
                  <a:srgbClr val="2C3E50"/>
                </a:solidFill>
                <a:latin typeface="Calibri" pitchFamily="34" charset="0"/>
                <a:ea typeface="Calibri" pitchFamily="34" charset="-122"/>
                <a:cs typeface="Calibri" pitchFamily="34" charset="-120"/>
              </a:rPr>
              <a:t>Main findings:
</a:t>
            </a:r>
            <a:r>
              <a:rPr lang="en-US" sz="950" b="1" u="sng" dirty="0">
                <a:solidFill>
                  <a:srgbClr val="2C3E50"/>
                </a:solidFill>
                <a:latin typeface="Calibri" pitchFamily="34" charset="0"/>
                <a:ea typeface="Calibri" pitchFamily="34" charset="-122"/>
                <a:cs typeface="Calibri" pitchFamily="34" charset="-120"/>
              </a:rPr>
              <a:t>zip_code</a:t>
            </a:r>
            <a:r>
              <a:rPr lang="en-US" sz="950" dirty="0">
                <a:solidFill>
                  <a:srgbClr val="2C3E50"/>
                </a:solidFill>
                <a:latin typeface="Calibri" pitchFamily="34" charset="0"/>
                <a:ea typeface="Calibri" pitchFamily="34" charset="-122"/>
                <a:cs typeface="Calibri" pitchFamily="34" charset="-120"/>
              </a:rPr>
              <a:t> alone has strong gender proxy — it predicts gender with AUC = 0.864, well above the 0.7 risk threshold. This reflects geographic segregation patterns encoded in residential areas.
</a:t>
            </a:r>
            <a:r>
              <a:rPr lang="en-US" sz="950" b="1" u="sng" dirty="0">
                <a:solidFill>
                  <a:srgbClr val="2C3E50"/>
                </a:solidFill>
                <a:latin typeface="Calibri" pitchFamily="34" charset="0"/>
                <a:ea typeface="Calibri" pitchFamily="34" charset="-122"/>
                <a:cs typeface="Calibri" pitchFamily="34" charset="-120"/>
              </a:rPr>
              <a:t>loan_approval</a:t>
            </a:r>
            <a:r>
              <a:rPr lang="en-US" sz="950" dirty="0">
                <a:solidFill>
                  <a:srgbClr val="2C3E50"/>
                </a:solidFill>
                <a:latin typeface="Calibri" pitchFamily="34" charset="0"/>
                <a:ea typeface="Calibri" pitchFamily="34" charset="-122"/>
                <a:cs typeface="Calibri" pitchFamily="34" charset="-120"/>
              </a:rPr>
              <a:t> alone has weak predictive power — (AUC = 0.576) proxy effect is driven by geographic information. Must be excluded or transformed before model use.</a:t>
            </a:r>
            <a:endParaRPr lang="en-US" sz="950" dirty="0"/>
          </a:p>
        </p:txBody>
      </p:sp>
      <p:sp>
        <p:nvSpPr>
          <p:cNvPr id="70" name="Shape 28">
            <a:extLst>
              <a:ext uri="{FF2B5EF4-FFF2-40B4-BE49-F238E27FC236}">
                <a16:creationId xmlns:a16="http://schemas.microsoft.com/office/drawing/2014/main" id="{A932AF4C-DB05-1A23-C6A5-BE4785B3BF35}"/>
              </a:ext>
            </a:extLst>
          </p:cNvPr>
          <p:cNvSpPr/>
          <p:nvPr/>
        </p:nvSpPr>
        <p:spPr>
          <a:xfrm>
            <a:off x="3767328" y="2947281"/>
            <a:ext cx="5120640" cy="1627632"/>
          </a:xfrm>
          <a:prstGeom prst="rect">
            <a:avLst/>
          </a:prstGeom>
          <a:solidFill>
            <a:srgbClr val="FFFFFF"/>
          </a:solidFill>
          <a:ln w="12700">
            <a:solidFill>
              <a:srgbClr val="D5DCE8"/>
            </a:solidFill>
            <a:prstDash val="solid"/>
          </a:ln>
          <a:effectLst>
            <a:outerShdw blurRad="63500" dist="25400" dir="8100000" algn="bl" rotWithShape="0">
              <a:srgbClr val="000000">
                <a:alpha val="8000"/>
              </a:srgbClr>
            </a:outerShdw>
          </a:effectLst>
        </p:spPr>
        <p:txBody>
          <a:bodyPr/>
          <a:lstStyle/>
          <a:p>
            <a:endParaRPr lang="en-US"/>
          </a:p>
        </p:txBody>
      </p:sp>
      <p:sp>
        <p:nvSpPr>
          <p:cNvPr id="71" name="Shape 29">
            <a:extLst>
              <a:ext uri="{FF2B5EF4-FFF2-40B4-BE49-F238E27FC236}">
                <a16:creationId xmlns:a16="http://schemas.microsoft.com/office/drawing/2014/main" id="{14B8EA21-4063-13AF-CC1E-96A2226E8FE3}"/>
              </a:ext>
            </a:extLst>
          </p:cNvPr>
          <p:cNvSpPr/>
          <p:nvPr/>
        </p:nvSpPr>
        <p:spPr>
          <a:xfrm>
            <a:off x="3767328" y="2947281"/>
            <a:ext cx="5120640" cy="438912"/>
          </a:xfrm>
          <a:prstGeom prst="rect">
            <a:avLst/>
          </a:prstGeom>
          <a:solidFill>
            <a:srgbClr val="1A2744"/>
          </a:solidFill>
          <a:ln w="12700">
            <a:solidFill>
              <a:srgbClr val="2C3E6B"/>
            </a:solidFill>
            <a:prstDash val="solid"/>
          </a:ln>
        </p:spPr>
        <p:txBody>
          <a:bodyPr/>
          <a:lstStyle/>
          <a:p>
            <a:endParaRPr lang="en-US"/>
          </a:p>
        </p:txBody>
      </p:sp>
      <p:sp>
        <p:nvSpPr>
          <p:cNvPr id="72" name="Text 30">
            <a:extLst>
              <a:ext uri="{FF2B5EF4-FFF2-40B4-BE49-F238E27FC236}">
                <a16:creationId xmlns:a16="http://schemas.microsoft.com/office/drawing/2014/main" id="{F6EBEA6C-37E4-D8DE-F4FD-0AEEDFA25C10}"/>
              </a:ext>
            </a:extLst>
          </p:cNvPr>
          <p:cNvSpPr/>
          <p:nvPr/>
        </p:nvSpPr>
        <p:spPr>
          <a:xfrm>
            <a:off x="3931920" y="2947281"/>
            <a:ext cx="2816352" cy="43891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spending_behavior × income</a:t>
            </a:r>
            <a:endParaRPr lang="en-US" sz="1100" dirty="0"/>
          </a:p>
        </p:txBody>
      </p:sp>
      <p:sp>
        <p:nvSpPr>
          <p:cNvPr id="73" name="Text 31">
            <a:extLst>
              <a:ext uri="{FF2B5EF4-FFF2-40B4-BE49-F238E27FC236}">
                <a16:creationId xmlns:a16="http://schemas.microsoft.com/office/drawing/2014/main" id="{6E33B982-2CF9-36EE-200E-732F9796D430}"/>
              </a:ext>
            </a:extLst>
          </p:cNvPr>
          <p:cNvSpPr/>
          <p:nvPr/>
        </p:nvSpPr>
        <p:spPr>
          <a:xfrm>
            <a:off x="6583680" y="2947281"/>
            <a:ext cx="2201875" cy="438912"/>
          </a:xfrm>
          <a:prstGeom prst="rect">
            <a:avLst/>
          </a:prstGeom>
          <a:noFill/>
          <a:ln/>
        </p:spPr>
        <p:txBody>
          <a:bodyPr wrap="square" lIns="0" tIns="0" rIns="0" bIns="0" rtlCol="0" anchor="ctr"/>
          <a:lstStyle/>
          <a:p>
            <a:pPr marL="0" indent="0" algn="r">
              <a:buNone/>
            </a:pPr>
            <a:r>
              <a:rPr lang="en-US" sz="950" b="1" dirty="0">
                <a:solidFill>
                  <a:srgbClr val="FFFFFF"/>
                </a:solidFill>
                <a:latin typeface="Calibri" pitchFamily="34" charset="0"/>
                <a:ea typeface="Calibri" pitchFamily="34" charset="-122"/>
                <a:cs typeface="Calibri" pitchFamily="34" charset="-120"/>
              </a:rPr>
              <a:t>✓ NOT A PROXY</a:t>
            </a:r>
            <a:endParaRPr lang="en-US" sz="950" dirty="0"/>
          </a:p>
        </p:txBody>
      </p:sp>
      <p:sp>
        <p:nvSpPr>
          <p:cNvPr id="74" name="Text 33">
            <a:extLst>
              <a:ext uri="{FF2B5EF4-FFF2-40B4-BE49-F238E27FC236}">
                <a16:creationId xmlns:a16="http://schemas.microsoft.com/office/drawing/2014/main" id="{5CEE1E8C-7CE4-7701-A7A9-581650AC47C7}"/>
              </a:ext>
            </a:extLst>
          </p:cNvPr>
          <p:cNvSpPr/>
          <p:nvPr/>
        </p:nvSpPr>
        <p:spPr>
          <a:xfrm>
            <a:off x="3931920" y="3550785"/>
            <a:ext cx="1597152" cy="475488"/>
          </a:xfrm>
          <a:prstGeom prst="rect">
            <a:avLst/>
          </a:prstGeom>
          <a:noFill/>
          <a:ln/>
        </p:spPr>
        <p:txBody>
          <a:bodyPr wrap="square" lIns="50800" tIns="50800" rIns="50800" bIns="5080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Not significant</a:t>
            </a:r>
            <a:endParaRPr lang="en-US" sz="900" dirty="0"/>
          </a:p>
        </p:txBody>
      </p:sp>
      <p:sp>
        <p:nvSpPr>
          <p:cNvPr id="75" name="Shape 32">
            <a:extLst>
              <a:ext uri="{FF2B5EF4-FFF2-40B4-BE49-F238E27FC236}">
                <a16:creationId xmlns:a16="http://schemas.microsoft.com/office/drawing/2014/main" id="{0A10AE35-E88D-EE6A-0C4A-A41E1482E473}"/>
              </a:ext>
            </a:extLst>
          </p:cNvPr>
          <p:cNvSpPr/>
          <p:nvPr/>
        </p:nvSpPr>
        <p:spPr>
          <a:xfrm>
            <a:off x="5529072" y="3583044"/>
            <a:ext cx="1534939" cy="365857"/>
          </a:xfrm>
          <a:prstGeom prst="rect">
            <a:avLst/>
          </a:prstGeom>
          <a:solidFill>
            <a:srgbClr val="E67E22"/>
          </a:solidFill>
          <a:ln w="12700">
            <a:solidFill>
              <a:srgbClr val="E67E22"/>
            </a:solidFill>
            <a:prstDash val="solid"/>
          </a:ln>
        </p:spPr>
        <p:txBody>
          <a:bodyPr/>
          <a:lstStyle/>
          <a:p>
            <a:endParaRPr lang="en-PT"/>
          </a:p>
        </p:txBody>
      </p:sp>
      <p:sp>
        <p:nvSpPr>
          <p:cNvPr id="76" name="Text 35">
            <a:extLst>
              <a:ext uri="{FF2B5EF4-FFF2-40B4-BE49-F238E27FC236}">
                <a16:creationId xmlns:a16="http://schemas.microsoft.com/office/drawing/2014/main" id="{DD09F318-A1D2-F47A-AF11-9F9AEFE65D8F}"/>
              </a:ext>
            </a:extLst>
          </p:cNvPr>
          <p:cNvSpPr/>
          <p:nvPr/>
        </p:nvSpPr>
        <p:spPr>
          <a:xfrm>
            <a:off x="5508989" y="3591582"/>
            <a:ext cx="1534939" cy="357320"/>
          </a:xfrm>
          <a:prstGeom prst="rect">
            <a:avLst/>
          </a:prstGeom>
          <a:noFill/>
          <a:ln/>
        </p:spPr>
        <p:txBody>
          <a:bodyPr wrap="square" lIns="50800" tIns="50800" rIns="50800" bIns="5080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Binomial test: p &gt; 0.05</a:t>
            </a:r>
            <a:endParaRPr lang="en-US" sz="900" dirty="0"/>
          </a:p>
        </p:txBody>
      </p:sp>
      <p:sp>
        <p:nvSpPr>
          <p:cNvPr id="77" name="Text 38">
            <a:extLst>
              <a:ext uri="{FF2B5EF4-FFF2-40B4-BE49-F238E27FC236}">
                <a16:creationId xmlns:a16="http://schemas.microsoft.com/office/drawing/2014/main" id="{AF493427-4395-52F5-7A5A-C5BECC95A936}"/>
              </a:ext>
            </a:extLst>
          </p:cNvPr>
          <p:cNvSpPr/>
          <p:nvPr/>
        </p:nvSpPr>
        <p:spPr>
          <a:xfrm>
            <a:off x="3931920" y="4154289"/>
            <a:ext cx="4864608" cy="310896"/>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Spending habits × income tested as gender proxy. Gender distribution per spending category and income group examined via binomial tests. No statistically significant associations found (all p &gt; 0.05) — spending behavior does not reliably predict gender in this dataset.</a:t>
            </a:r>
            <a:endParaRPr lang="en-US" sz="950" dirty="0"/>
          </a:p>
        </p:txBody>
      </p:sp>
      <p:sp>
        <p:nvSpPr>
          <p:cNvPr id="78" name="Shape 19">
            <a:extLst>
              <a:ext uri="{FF2B5EF4-FFF2-40B4-BE49-F238E27FC236}">
                <a16:creationId xmlns:a16="http://schemas.microsoft.com/office/drawing/2014/main" id="{0BA312EE-28E4-06CF-90AE-6DCB44177992}"/>
              </a:ext>
            </a:extLst>
          </p:cNvPr>
          <p:cNvSpPr/>
          <p:nvPr/>
        </p:nvSpPr>
        <p:spPr>
          <a:xfrm>
            <a:off x="3870689" y="1565927"/>
            <a:ext cx="1534939" cy="348691"/>
          </a:xfrm>
          <a:prstGeom prst="rect">
            <a:avLst/>
          </a:prstGeom>
          <a:solidFill>
            <a:srgbClr val="C0392B"/>
          </a:solidFill>
          <a:ln w="12700">
            <a:solidFill>
              <a:srgbClr val="C0392B"/>
            </a:solidFill>
            <a:prstDash val="solid"/>
          </a:ln>
        </p:spPr>
        <p:txBody>
          <a:bodyPr/>
          <a:lstStyle/>
          <a:p>
            <a:endParaRPr lang="en-PT"/>
          </a:p>
        </p:txBody>
      </p:sp>
      <p:sp>
        <p:nvSpPr>
          <p:cNvPr id="79" name="Shape 21">
            <a:extLst>
              <a:ext uri="{FF2B5EF4-FFF2-40B4-BE49-F238E27FC236}">
                <a16:creationId xmlns:a16="http://schemas.microsoft.com/office/drawing/2014/main" id="{D4CAB2FE-B0E4-D81D-89BC-F2BC0E1F9276}"/>
              </a:ext>
            </a:extLst>
          </p:cNvPr>
          <p:cNvSpPr/>
          <p:nvPr/>
        </p:nvSpPr>
        <p:spPr>
          <a:xfrm>
            <a:off x="5529072" y="1561515"/>
            <a:ext cx="1534939" cy="361541"/>
          </a:xfrm>
          <a:prstGeom prst="rect">
            <a:avLst/>
          </a:prstGeom>
          <a:solidFill>
            <a:srgbClr val="BBBBBB"/>
          </a:solidFill>
          <a:ln w="12700">
            <a:solidFill>
              <a:srgbClr val="BBBBBB"/>
            </a:solidFill>
            <a:prstDash val="solid"/>
          </a:ln>
        </p:spPr>
        <p:txBody>
          <a:bodyPr/>
          <a:lstStyle/>
          <a:p>
            <a:endParaRPr lang="en-PT"/>
          </a:p>
        </p:txBody>
      </p:sp>
      <p:sp>
        <p:nvSpPr>
          <p:cNvPr id="80" name="Shape 23">
            <a:extLst>
              <a:ext uri="{FF2B5EF4-FFF2-40B4-BE49-F238E27FC236}">
                <a16:creationId xmlns:a16="http://schemas.microsoft.com/office/drawing/2014/main" id="{697D1ECB-F2EF-EDE2-7C7D-DAEE2BB864F5}"/>
              </a:ext>
            </a:extLst>
          </p:cNvPr>
          <p:cNvSpPr/>
          <p:nvPr/>
        </p:nvSpPr>
        <p:spPr>
          <a:xfrm>
            <a:off x="7170149" y="1557296"/>
            <a:ext cx="1534939" cy="365760"/>
          </a:xfrm>
          <a:prstGeom prst="rect">
            <a:avLst/>
          </a:prstGeom>
          <a:solidFill>
            <a:srgbClr val="243660"/>
          </a:solidFill>
          <a:ln w="12700">
            <a:solidFill>
              <a:srgbClr val="243660"/>
            </a:solidFill>
            <a:prstDash val="solid"/>
          </a:ln>
        </p:spPr>
        <p:txBody>
          <a:bodyPr/>
          <a:lstStyle/>
          <a:p>
            <a:endParaRPr lang="en-PT"/>
          </a:p>
        </p:txBody>
      </p:sp>
      <p:sp>
        <p:nvSpPr>
          <p:cNvPr id="81" name="Shape 21">
            <a:extLst>
              <a:ext uri="{FF2B5EF4-FFF2-40B4-BE49-F238E27FC236}">
                <a16:creationId xmlns:a16="http://schemas.microsoft.com/office/drawing/2014/main" id="{5924987E-0C55-D4A9-6881-8778FEA8A8AE}"/>
              </a:ext>
            </a:extLst>
          </p:cNvPr>
          <p:cNvSpPr/>
          <p:nvPr/>
        </p:nvSpPr>
        <p:spPr>
          <a:xfrm>
            <a:off x="3870689" y="3587361"/>
            <a:ext cx="1534939" cy="361541"/>
          </a:xfrm>
          <a:prstGeom prst="rect">
            <a:avLst/>
          </a:prstGeom>
          <a:solidFill>
            <a:srgbClr val="BBBBBB"/>
          </a:solidFill>
          <a:ln w="12700">
            <a:solidFill>
              <a:srgbClr val="BBBBBB"/>
            </a:solidFill>
            <a:prstDash val="solid"/>
          </a:ln>
        </p:spPr>
        <p:txBody>
          <a:bodyPr/>
          <a:lstStyle/>
          <a:p>
            <a:endParaRPr lang="en-PT"/>
          </a:p>
        </p:txBody>
      </p:sp>
      <p:sp>
        <p:nvSpPr>
          <p:cNvPr id="82" name="Shape 23">
            <a:extLst>
              <a:ext uri="{FF2B5EF4-FFF2-40B4-BE49-F238E27FC236}">
                <a16:creationId xmlns:a16="http://schemas.microsoft.com/office/drawing/2014/main" id="{B7725D6D-DAEB-E2DA-D52F-9B2D3E791633}"/>
              </a:ext>
            </a:extLst>
          </p:cNvPr>
          <p:cNvSpPr/>
          <p:nvPr/>
        </p:nvSpPr>
        <p:spPr>
          <a:xfrm>
            <a:off x="7188437" y="3585251"/>
            <a:ext cx="1534939" cy="365760"/>
          </a:xfrm>
          <a:prstGeom prst="rect">
            <a:avLst/>
          </a:prstGeom>
          <a:solidFill>
            <a:srgbClr val="243660"/>
          </a:solidFill>
          <a:ln w="12700">
            <a:solidFill>
              <a:srgbClr val="243660"/>
            </a:solidFill>
            <a:prstDash val="solid"/>
          </a:ln>
        </p:spPr>
        <p:txBody>
          <a:bodyPr/>
          <a:lstStyle/>
          <a:p>
            <a:endParaRPr lang="en-PT"/>
          </a:p>
        </p:txBody>
      </p:sp>
      <p:sp>
        <p:nvSpPr>
          <p:cNvPr id="83" name="Text 20">
            <a:extLst>
              <a:ext uri="{FF2B5EF4-FFF2-40B4-BE49-F238E27FC236}">
                <a16:creationId xmlns:a16="http://schemas.microsoft.com/office/drawing/2014/main" id="{228F3B4F-527E-977B-4631-20466B9E537E}"/>
              </a:ext>
            </a:extLst>
          </p:cNvPr>
          <p:cNvSpPr/>
          <p:nvPr/>
        </p:nvSpPr>
        <p:spPr>
          <a:xfrm>
            <a:off x="3852401" y="1575681"/>
            <a:ext cx="1534939" cy="316992"/>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AUC (zip only): 0.864</a:t>
            </a:r>
            <a:endParaRPr lang="en-US" sz="950" dirty="0"/>
          </a:p>
        </p:txBody>
      </p:sp>
      <p:sp>
        <p:nvSpPr>
          <p:cNvPr id="84" name="Text 22">
            <a:extLst>
              <a:ext uri="{FF2B5EF4-FFF2-40B4-BE49-F238E27FC236}">
                <a16:creationId xmlns:a16="http://schemas.microsoft.com/office/drawing/2014/main" id="{04355AA2-9BE0-D3E3-060D-E5DDF73760C5}"/>
              </a:ext>
            </a:extLst>
          </p:cNvPr>
          <p:cNvSpPr/>
          <p:nvPr/>
        </p:nvSpPr>
        <p:spPr>
          <a:xfrm>
            <a:off x="5529071" y="1493385"/>
            <a:ext cx="1534939" cy="47548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AUC (approval only): 0.576</a:t>
            </a:r>
            <a:endParaRPr lang="en-US" sz="950" dirty="0"/>
          </a:p>
        </p:txBody>
      </p:sp>
      <p:sp>
        <p:nvSpPr>
          <p:cNvPr id="85" name="Text 24">
            <a:extLst>
              <a:ext uri="{FF2B5EF4-FFF2-40B4-BE49-F238E27FC236}">
                <a16:creationId xmlns:a16="http://schemas.microsoft.com/office/drawing/2014/main" id="{491FFC22-C1F3-7908-5560-61275AC82458}"/>
              </a:ext>
            </a:extLst>
          </p:cNvPr>
          <p:cNvSpPr/>
          <p:nvPr/>
        </p:nvSpPr>
        <p:spPr>
          <a:xfrm>
            <a:off x="7175618" y="1603113"/>
            <a:ext cx="1566046" cy="298704"/>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Mean CV AUC (combined): 0.849</a:t>
            </a:r>
            <a:endParaRPr lang="en-US" sz="950" dirty="0"/>
          </a:p>
        </p:txBody>
      </p:sp>
      <p:sp>
        <p:nvSpPr>
          <p:cNvPr id="86" name="Text 31">
            <a:extLst>
              <a:ext uri="{FF2B5EF4-FFF2-40B4-BE49-F238E27FC236}">
                <a16:creationId xmlns:a16="http://schemas.microsoft.com/office/drawing/2014/main" id="{3783D01D-DDA3-5D7E-45C9-2BF0195167A3}"/>
              </a:ext>
            </a:extLst>
          </p:cNvPr>
          <p:cNvSpPr/>
          <p:nvPr/>
        </p:nvSpPr>
        <p:spPr>
          <a:xfrm>
            <a:off x="3880730" y="3674532"/>
            <a:ext cx="1534939" cy="18288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Not significant</a:t>
            </a:r>
            <a:endParaRPr lang="en-US" sz="950" dirty="0"/>
          </a:p>
        </p:txBody>
      </p:sp>
      <p:sp>
        <p:nvSpPr>
          <p:cNvPr id="87" name="Text 35">
            <a:extLst>
              <a:ext uri="{FF2B5EF4-FFF2-40B4-BE49-F238E27FC236}">
                <a16:creationId xmlns:a16="http://schemas.microsoft.com/office/drawing/2014/main" id="{1DF1C13D-BE1A-F646-7B87-265F0CE14686}"/>
              </a:ext>
            </a:extLst>
          </p:cNvPr>
          <p:cNvSpPr/>
          <p:nvPr/>
        </p:nvSpPr>
        <p:spPr>
          <a:xfrm>
            <a:off x="7206725" y="3677202"/>
            <a:ext cx="1534939" cy="18288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All pairs: </a:t>
            </a:r>
            <a:r>
              <a:rPr lang="en-US" sz="950" b="1" dirty="0" err="1">
                <a:solidFill>
                  <a:srgbClr val="FFFFFF"/>
                </a:solidFill>
                <a:latin typeface="Calibri" pitchFamily="34" charset="0"/>
                <a:ea typeface="Calibri" pitchFamily="34" charset="-122"/>
                <a:cs typeface="Calibri" pitchFamily="34" charset="-120"/>
              </a:rPr>
              <a:t>n.s</a:t>
            </a:r>
            <a:r>
              <a:rPr lang="en-US" sz="950" b="1" dirty="0">
                <a:solidFill>
                  <a:srgbClr val="FFFFFF"/>
                </a:solidFill>
                <a:latin typeface="Calibri" pitchFamily="34" charset="0"/>
                <a:ea typeface="Calibri" pitchFamily="34" charset="-122"/>
                <a:cs typeface="Calibri" pitchFamily="34" charset="-120"/>
              </a:rPr>
              <a:t>.</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A2744"/>
          </a:solidFill>
          <a:ln w="12700">
            <a:solidFill>
              <a:srgbClr val="1A2744"/>
            </a:solidFill>
            <a:prstDash val="solid"/>
          </a:ln>
        </p:spPr>
        <p:txBody>
          <a:bodyPr/>
          <a:lstStyle/>
          <a:p>
            <a:endParaRPr lang="en-PT"/>
          </a:p>
        </p:txBody>
      </p:sp>
      <p:sp>
        <p:nvSpPr>
          <p:cNvPr id="3" name="Shape 1"/>
          <p:cNvSpPr/>
          <p:nvPr/>
        </p:nvSpPr>
        <p:spPr>
          <a:xfrm>
            <a:off x="0" y="0"/>
            <a:ext cx="274320" cy="713232"/>
          </a:xfrm>
          <a:prstGeom prst="rect">
            <a:avLst/>
          </a:prstGeom>
          <a:solidFill>
            <a:srgbClr val="C0392B"/>
          </a:solidFill>
          <a:ln w="12700">
            <a:solidFill>
              <a:srgbClr val="C0392B"/>
            </a:solidFill>
            <a:prstDash val="solid"/>
          </a:ln>
        </p:spPr>
        <p:txBody>
          <a:bodyPr/>
          <a:lstStyle/>
          <a:p>
            <a:endParaRPr lang="en-PT"/>
          </a:p>
        </p:txBody>
      </p:sp>
      <p:sp>
        <p:nvSpPr>
          <p:cNvPr id="4" name="Text 2"/>
          <p:cNvSpPr/>
          <p:nvPr/>
        </p:nvSpPr>
        <p:spPr>
          <a:xfrm>
            <a:off x="411480" y="73152"/>
            <a:ext cx="8503920" cy="411480"/>
          </a:xfrm>
          <a:prstGeom prst="rect">
            <a:avLst/>
          </a:prstGeom>
          <a:noFill/>
          <a:ln/>
        </p:spPr>
        <p:txBody>
          <a:bodyPr wrap="square" rtlCol="0" anchor="ctr"/>
          <a:lstStyle/>
          <a:p>
            <a:pPr marL="0" indent="0">
              <a:buNone/>
            </a:pPr>
            <a:r>
              <a:rPr lang="en-US" sz="2200" b="1">
                <a:solidFill>
                  <a:srgbClr val="FFFFFF"/>
                </a:solidFill>
                <a:latin typeface="Georgia" pitchFamily="34" charset="0"/>
                <a:ea typeface="Georgia" pitchFamily="34" charset="-122"/>
                <a:cs typeface="Georgia" pitchFamily="34" charset="-120"/>
              </a:rPr>
              <a:t>PII Identification &amp; Classification</a:t>
            </a:r>
            <a:endParaRPr lang="en-US" sz="2200"/>
          </a:p>
        </p:txBody>
      </p:sp>
      <p:sp>
        <p:nvSpPr>
          <p:cNvPr id="5" name="Text 3"/>
          <p:cNvSpPr/>
          <p:nvPr/>
        </p:nvSpPr>
        <p:spPr>
          <a:xfrm>
            <a:off x="411480" y="475488"/>
            <a:ext cx="8503920" cy="201168"/>
          </a:xfrm>
          <a:prstGeom prst="rect">
            <a:avLst/>
          </a:prstGeom>
          <a:noFill/>
          <a:ln/>
        </p:spPr>
        <p:txBody>
          <a:bodyPr wrap="square" rtlCol="0" anchor="ctr"/>
          <a:lstStyle/>
          <a:p>
            <a:pPr marL="0" indent="0">
              <a:buNone/>
            </a:pPr>
            <a:r>
              <a:rPr lang="en-US" sz="1100" i="1">
                <a:solidFill>
                  <a:srgbClr val="AABBD0"/>
                </a:solidFill>
                <a:latin typeface="Calibri" pitchFamily="34" charset="0"/>
                <a:ea typeface="Calibri" pitchFamily="34" charset="-122"/>
                <a:cs typeface="Calibri" pitchFamily="34" charset="-120"/>
              </a:rPr>
              <a:t>Notebook 03  |  Lucas Galilei — Governance Officer  </a:t>
            </a:r>
            <a:endParaRPr lang="en-US" sz="1100"/>
          </a:p>
        </p:txBody>
      </p:sp>
      <p:sp>
        <p:nvSpPr>
          <p:cNvPr id="6" name="Shape 4"/>
          <p:cNvSpPr/>
          <p:nvPr/>
        </p:nvSpPr>
        <p:spPr>
          <a:xfrm>
            <a:off x="320040" y="868680"/>
            <a:ext cx="109728" cy="594360"/>
          </a:xfrm>
          <a:prstGeom prst="rect">
            <a:avLst/>
          </a:prstGeom>
          <a:solidFill>
            <a:srgbClr val="C0392B"/>
          </a:solidFill>
          <a:ln w="12700">
            <a:solidFill>
              <a:srgbClr val="C0392B"/>
            </a:solidFill>
            <a:prstDash val="solid"/>
          </a:ln>
        </p:spPr>
        <p:txBody>
          <a:bodyPr/>
          <a:lstStyle/>
          <a:p>
            <a:endParaRPr lang="en-PT"/>
          </a:p>
        </p:txBody>
      </p:sp>
      <p:sp>
        <p:nvSpPr>
          <p:cNvPr id="7" name="Text 5"/>
          <p:cNvSpPr/>
          <p:nvPr/>
        </p:nvSpPr>
        <p:spPr>
          <a:xfrm>
            <a:off x="493776" y="868680"/>
            <a:ext cx="3108960" cy="237744"/>
          </a:xfrm>
          <a:prstGeom prst="rect">
            <a:avLst/>
          </a:prstGeom>
          <a:noFill/>
          <a:ln/>
        </p:spPr>
        <p:txBody>
          <a:bodyPr wrap="square" rtlCol="0" anchor="ctr"/>
          <a:lstStyle/>
          <a:p>
            <a:pPr marL="0" indent="0">
              <a:buNone/>
            </a:pPr>
            <a:r>
              <a:rPr lang="en-US" sz="1000" b="1">
                <a:solidFill>
                  <a:srgbClr val="1A2744"/>
                </a:solidFill>
                <a:latin typeface="Calibri" pitchFamily="34" charset="0"/>
                <a:ea typeface="Calibri" pitchFamily="34" charset="-122"/>
                <a:cs typeface="Calibri" pitchFamily="34" charset="-120"/>
              </a:rPr>
              <a:t>Direct Identifier</a:t>
            </a:r>
            <a:endParaRPr lang="en-US" sz="1000"/>
          </a:p>
        </p:txBody>
      </p:sp>
      <p:sp>
        <p:nvSpPr>
          <p:cNvPr id="8" name="Text 6"/>
          <p:cNvSpPr/>
          <p:nvPr/>
        </p:nvSpPr>
        <p:spPr>
          <a:xfrm>
            <a:off x="493776" y="1088136"/>
            <a:ext cx="3108960" cy="182880"/>
          </a:xfrm>
          <a:prstGeom prst="rect">
            <a:avLst/>
          </a:prstGeom>
          <a:noFill/>
          <a:ln/>
        </p:spPr>
        <p:txBody>
          <a:bodyPr wrap="square" rtlCol="0" anchor="ctr"/>
          <a:lstStyle/>
          <a:p>
            <a:pPr marL="0" indent="0">
              <a:buNone/>
            </a:pPr>
            <a:r>
              <a:rPr lang="en-US" sz="1000">
                <a:solidFill>
                  <a:srgbClr val="3D4A5C"/>
                </a:solidFill>
                <a:latin typeface="Calibri" pitchFamily="34" charset="0"/>
                <a:ea typeface="Calibri" pitchFamily="34" charset="-122"/>
                <a:cs typeface="Calibri" pitchFamily="34" charset="-120"/>
              </a:rPr>
              <a:t>Uniquely identifies a person alone</a:t>
            </a:r>
            <a:endParaRPr lang="en-US" sz="1000"/>
          </a:p>
        </p:txBody>
      </p:sp>
      <p:sp>
        <p:nvSpPr>
          <p:cNvPr id="9" name="Text 7"/>
          <p:cNvSpPr/>
          <p:nvPr/>
        </p:nvSpPr>
        <p:spPr>
          <a:xfrm>
            <a:off x="493776" y="1261872"/>
            <a:ext cx="3108960" cy="164592"/>
          </a:xfrm>
          <a:prstGeom prst="rect">
            <a:avLst/>
          </a:prstGeom>
          <a:noFill/>
          <a:ln/>
        </p:spPr>
        <p:txBody>
          <a:bodyPr wrap="square" rtlCol="0" anchor="ctr"/>
          <a:lstStyle/>
          <a:p>
            <a:pPr marL="0" indent="0">
              <a:buNone/>
            </a:pPr>
            <a:r>
              <a:rPr lang="en-US" sz="950" i="1">
                <a:solidFill>
                  <a:srgbClr val="C0392B"/>
                </a:solidFill>
                <a:latin typeface="Calibri" pitchFamily="34" charset="0"/>
                <a:ea typeface="Calibri" pitchFamily="34" charset="-122"/>
                <a:cs typeface="Calibri" pitchFamily="34" charset="-120"/>
              </a:rPr>
              <a:t>e.g. full_name · ssn · email</a:t>
            </a:r>
            <a:endParaRPr lang="en-US" sz="950"/>
          </a:p>
        </p:txBody>
      </p:sp>
      <p:sp>
        <p:nvSpPr>
          <p:cNvPr id="10" name="Shape 8"/>
          <p:cNvSpPr/>
          <p:nvPr/>
        </p:nvSpPr>
        <p:spPr>
          <a:xfrm>
            <a:off x="320040" y="1618488"/>
            <a:ext cx="109728" cy="594360"/>
          </a:xfrm>
          <a:prstGeom prst="rect">
            <a:avLst/>
          </a:prstGeom>
          <a:solidFill>
            <a:srgbClr val="E67E22"/>
          </a:solidFill>
          <a:ln w="12700">
            <a:solidFill>
              <a:srgbClr val="E67E22"/>
            </a:solidFill>
            <a:prstDash val="solid"/>
          </a:ln>
        </p:spPr>
        <p:txBody>
          <a:bodyPr/>
          <a:lstStyle/>
          <a:p>
            <a:endParaRPr lang="en-PT"/>
          </a:p>
        </p:txBody>
      </p:sp>
      <p:sp>
        <p:nvSpPr>
          <p:cNvPr id="11" name="Text 9"/>
          <p:cNvSpPr/>
          <p:nvPr/>
        </p:nvSpPr>
        <p:spPr>
          <a:xfrm>
            <a:off x="493776" y="1618488"/>
            <a:ext cx="3108960" cy="237744"/>
          </a:xfrm>
          <a:prstGeom prst="rect">
            <a:avLst/>
          </a:prstGeom>
          <a:noFill/>
          <a:ln/>
        </p:spPr>
        <p:txBody>
          <a:bodyPr wrap="square" rtlCol="0" anchor="ctr"/>
          <a:lstStyle/>
          <a:p>
            <a:pPr marL="0" indent="0">
              <a:buNone/>
            </a:pPr>
            <a:r>
              <a:rPr lang="en-US" sz="1000" b="1">
                <a:solidFill>
                  <a:srgbClr val="1A2744"/>
                </a:solidFill>
                <a:latin typeface="Calibri" pitchFamily="34" charset="0"/>
                <a:ea typeface="Calibri" pitchFamily="34" charset="-122"/>
                <a:cs typeface="Calibri" pitchFamily="34" charset="-120"/>
              </a:rPr>
              <a:t>Quasi-Identifier</a:t>
            </a:r>
            <a:endParaRPr lang="en-US" sz="1000"/>
          </a:p>
        </p:txBody>
      </p:sp>
      <p:sp>
        <p:nvSpPr>
          <p:cNvPr id="12" name="Text 10"/>
          <p:cNvSpPr/>
          <p:nvPr/>
        </p:nvSpPr>
        <p:spPr>
          <a:xfrm>
            <a:off x="493776" y="1837944"/>
            <a:ext cx="3108960" cy="182880"/>
          </a:xfrm>
          <a:prstGeom prst="rect">
            <a:avLst/>
          </a:prstGeom>
          <a:noFill/>
          <a:ln/>
        </p:spPr>
        <p:txBody>
          <a:bodyPr wrap="square" rtlCol="0" anchor="ctr"/>
          <a:lstStyle/>
          <a:p>
            <a:pPr marL="0" indent="0">
              <a:buNone/>
            </a:pPr>
            <a:r>
              <a:rPr lang="en-US" sz="1000">
                <a:solidFill>
                  <a:srgbClr val="3D4A5C"/>
                </a:solidFill>
                <a:latin typeface="Calibri" pitchFamily="34" charset="0"/>
                <a:ea typeface="Calibri" pitchFamily="34" charset="-122"/>
                <a:cs typeface="Calibri" pitchFamily="34" charset="-120"/>
              </a:rPr>
              <a:t>Re-identification risk when combined</a:t>
            </a:r>
            <a:endParaRPr lang="en-US" sz="1000"/>
          </a:p>
        </p:txBody>
      </p:sp>
      <p:sp>
        <p:nvSpPr>
          <p:cNvPr id="13" name="Text 11"/>
          <p:cNvSpPr/>
          <p:nvPr/>
        </p:nvSpPr>
        <p:spPr>
          <a:xfrm>
            <a:off x="493776" y="2011680"/>
            <a:ext cx="3108960" cy="164592"/>
          </a:xfrm>
          <a:prstGeom prst="rect">
            <a:avLst/>
          </a:prstGeom>
          <a:noFill/>
          <a:ln/>
        </p:spPr>
        <p:txBody>
          <a:bodyPr wrap="square" rtlCol="0" anchor="ctr"/>
          <a:lstStyle/>
          <a:p>
            <a:pPr marL="0" indent="0">
              <a:buNone/>
            </a:pPr>
            <a:r>
              <a:rPr lang="en-US" sz="950" i="1">
                <a:solidFill>
                  <a:srgbClr val="E67E22"/>
                </a:solidFill>
                <a:latin typeface="Calibri" pitchFamily="34" charset="0"/>
                <a:ea typeface="Calibri" pitchFamily="34" charset="-122"/>
                <a:cs typeface="Calibri" pitchFamily="34" charset="-120"/>
              </a:rPr>
              <a:t>e.g. date_of_birth · zip_code</a:t>
            </a:r>
            <a:endParaRPr lang="en-US" sz="950"/>
          </a:p>
        </p:txBody>
      </p:sp>
      <p:sp>
        <p:nvSpPr>
          <p:cNvPr id="14" name="Shape 12"/>
          <p:cNvSpPr/>
          <p:nvPr/>
        </p:nvSpPr>
        <p:spPr>
          <a:xfrm>
            <a:off x="320040" y="2368296"/>
            <a:ext cx="109728" cy="594360"/>
          </a:xfrm>
          <a:prstGeom prst="rect">
            <a:avLst/>
          </a:prstGeom>
          <a:solidFill>
            <a:srgbClr val="243660"/>
          </a:solidFill>
          <a:ln w="12700">
            <a:solidFill>
              <a:srgbClr val="243660"/>
            </a:solidFill>
            <a:prstDash val="solid"/>
          </a:ln>
        </p:spPr>
        <p:txBody>
          <a:bodyPr/>
          <a:lstStyle/>
          <a:p>
            <a:endParaRPr lang="en-PT"/>
          </a:p>
        </p:txBody>
      </p:sp>
      <p:sp>
        <p:nvSpPr>
          <p:cNvPr id="15" name="Text 13"/>
          <p:cNvSpPr/>
          <p:nvPr/>
        </p:nvSpPr>
        <p:spPr>
          <a:xfrm>
            <a:off x="493776" y="2368296"/>
            <a:ext cx="3108960" cy="237744"/>
          </a:xfrm>
          <a:prstGeom prst="rect">
            <a:avLst/>
          </a:prstGeom>
          <a:noFill/>
          <a:ln/>
        </p:spPr>
        <p:txBody>
          <a:bodyPr wrap="square" rtlCol="0" anchor="ctr"/>
          <a:lstStyle/>
          <a:p>
            <a:pPr marL="0" indent="0">
              <a:buNone/>
            </a:pPr>
            <a:r>
              <a:rPr lang="en-US" sz="1000" b="1">
                <a:solidFill>
                  <a:srgbClr val="1A2744"/>
                </a:solidFill>
                <a:latin typeface="Calibri" pitchFamily="34" charset="0"/>
                <a:ea typeface="Calibri" pitchFamily="34" charset="-122"/>
                <a:cs typeface="Calibri" pitchFamily="34" charset="-120"/>
              </a:rPr>
              <a:t>Technical ID</a:t>
            </a:r>
            <a:endParaRPr lang="en-US" sz="1000"/>
          </a:p>
        </p:txBody>
      </p:sp>
      <p:sp>
        <p:nvSpPr>
          <p:cNvPr id="16" name="Text 14"/>
          <p:cNvSpPr/>
          <p:nvPr/>
        </p:nvSpPr>
        <p:spPr>
          <a:xfrm>
            <a:off x="493776" y="2587752"/>
            <a:ext cx="3108960" cy="182880"/>
          </a:xfrm>
          <a:prstGeom prst="rect">
            <a:avLst/>
          </a:prstGeom>
          <a:noFill/>
          <a:ln/>
        </p:spPr>
        <p:txBody>
          <a:bodyPr wrap="square" rtlCol="0" anchor="ctr"/>
          <a:lstStyle/>
          <a:p>
            <a:pPr marL="0" indent="0">
              <a:buNone/>
            </a:pPr>
            <a:r>
              <a:rPr lang="en-US" sz="1000">
                <a:solidFill>
                  <a:srgbClr val="3D4A5C"/>
                </a:solidFill>
                <a:latin typeface="Calibri" pitchFamily="34" charset="0"/>
                <a:ea typeface="Calibri" pitchFamily="34" charset="-122"/>
                <a:cs typeface="Calibri" pitchFamily="34" charset="-120"/>
              </a:rPr>
              <a:t>Identifies a device or session</a:t>
            </a:r>
            <a:endParaRPr lang="en-US" sz="1000"/>
          </a:p>
        </p:txBody>
      </p:sp>
      <p:sp>
        <p:nvSpPr>
          <p:cNvPr id="17" name="Text 15"/>
          <p:cNvSpPr/>
          <p:nvPr/>
        </p:nvSpPr>
        <p:spPr>
          <a:xfrm>
            <a:off x="493776" y="2761488"/>
            <a:ext cx="3108960" cy="164592"/>
          </a:xfrm>
          <a:prstGeom prst="rect">
            <a:avLst/>
          </a:prstGeom>
          <a:noFill/>
          <a:ln/>
        </p:spPr>
        <p:txBody>
          <a:bodyPr wrap="square" rtlCol="0" anchor="ctr"/>
          <a:lstStyle/>
          <a:p>
            <a:pPr marL="0" indent="0">
              <a:buNone/>
            </a:pPr>
            <a:r>
              <a:rPr lang="en-US" sz="950" i="1">
                <a:solidFill>
                  <a:srgbClr val="243660"/>
                </a:solidFill>
                <a:latin typeface="Calibri" pitchFamily="34" charset="0"/>
                <a:ea typeface="Calibri" pitchFamily="34" charset="-122"/>
                <a:cs typeface="Calibri" pitchFamily="34" charset="-120"/>
              </a:rPr>
              <a:t>e.g. ip_address</a:t>
            </a:r>
            <a:endParaRPr lang="en-US" sz="950"/>
          </a:p>
        </p:txBody>
      </p:sp>
      <p:sp>
        <p:nvSpPr>
          <p:cNvPr id="18" name="Shape 16"/>
          <p:cNvSpPr/>
          <p:nvPr/>
        </p:nvSpPr>
        <p:spPr>
          <a:xfrm>
            <a:off x="320040" y="3118104"/>
            <a:ext cx="109728" cy="594360"/>
          </a:xfrm>
          <a:prstGeom prst="rect">
            <a:avLst/>
          </a:prstGeom>
          <a:solidFill>
            <a:srgbClr val="27AE60"/>
          </a:solidFill>
          <a:ln w="12700">
            <a:solidFill>
              <a:srgbClr val="27AE60"/>
            </a:solidFill>
            <a:prstDash val="solid"/>
          </a:ln>
        </p:spPr>
        <p:txBody>
          <a:bodyPr/>
          <a:lstStyle/>
          <a:p>
            <a:endParaRPr lang="en-PT"/>
          </a:p>
        </p:txBody>
      </p:sp>
      <p:sp>
        <p:nvSpPr>
          <p:cNvPr id="19" name="Text 17"/>
          <p:cNvSpPr/>
          <p:nvPr/>
        </p:nvSpPr>
        <p:spPr>
          <a:xfrm>
            <a:off x="493776" y="3118104"/>
            <a:ext cx="3108960" cy="237744"/>
          </a:xfrm>
          <a:prstGeom prst="rect">
            <a:avLst/>
          </a:prstGeom>
          <a:noFill/>
          <a:ln/>
        </p:spPr>
        <p:txBody>
          <a:bodyPr wrap="square" rtlCol="0" anchor="ctr"/>
          <a:lstStyle/>
          <a:p>
            <a:pPr marL="0" indent="0">
              <a:buNone/>
            </a:pPr>
            <a:r>
              <a:rPr lang="en-US" sz="1000" b="1">
                <a:solidFill>
                  <a:srgbClr val="1A2744"/>
                </a:solidFill>
                <a:latin typeface="Calibri" pitchFamily="34" charset="0"/>
                <a:ea typeface="Calibri" pitchFamily="34" charset="-122"/>
                <a:cs typeface="Calibri" pitchFamily="34" charset="-120"/>
              </a:rPr>
              <a:t>Non-Personal</a:t>
            </a:r>
            <a:endParaRPr lang="en-US" sz="1000"/>
          </a:p>
        </p:txBody>
      </p:sp>
      <p:sp>
        <p:nvSpPr>
          <p:cNvPr id="20" name="Text 18"/>
          <p:cNvSpPr/>
          <p:nvPr/>
        </p:nvSpPr>
        <p:spPr>
          <a:xfrm>
            <a:off x="493776" y="3337560"/>
            <a:ext cx="3108960" cy="182880"/>
          </a:xfrm>
          <a:prstGeom prst="rect">
            <a:avLst/>
          </a:prstGeom>
          <a:noFill/>
          <a:ln/>
        </p:spPr>
        <p:txBody>
          <a:bodyPr wrap="square" rtlCol="0" anchor="ctr"/>
          <a:lstStyle/>
          <a:p>
            <a:pPr marL="0" indent="0">
              <a:buNone/>
            </a:pPr>
            <a:r>
              <a:rPr lang="en-US" sz="1000">
                <a:solidFill>
                  <a:srgbClr val="3D4A5C"/>
                </a:solidFill>
                <a:latin typeface="Calibri" pitchFamily="34" charset="0"/>
                <a:ea typeface="Calibri" pitchFamily="34" charset="-122"/>
                <a:cs typeface="Calibri" pitchFamily="34" charset="-120"/>
              </a:rPr>
              <a:t>System outputs — no direct link</a:t>
            </a:r>
            <a:endParaRPr lang="en-US" sz="1000"/>
          </a:p>
        </p:txBody>
      </p:sp>
      <p:sp>
        <p:nvSpPr>
          <p:cNvPr id="21" name="Text 19"/>
          <p:cNvSpPr/>
          <p:nvPr/>
        </p:nvSpPr>
        <p:spPr>
          <a:xfrm>
            <a:off x="493776" y="3511296"/>
            <a:ext cx="3108960" cy="164592"/>
          </a:xfrm>
          <a:prstGeom prst="rect">
            <a:avLst/>
          </a:prstGeom>
          <a:noFill/>
          <a:ln/>
        </p:spPr>
        <p:txBody>
          <a:bodyPr wrap="square" rtlCol="0" anchor="ctr"/>
          <a:lstStyle/>
          <a:p>
            <a:pPr marL="0" indent="0">
              <a:buNone/>
            </a:pPr>
            <a:r>
              <a:rPr lang="en-US" sz="950" i="1">
                <a:solidFill>
                  <a:srgbClr val="27AE60"/>
                </a:solidFill>
                <a:latin typeface="Calibri" pitchFamily="34" charset="0"/>
                <a:ea typeface="Calibri" pitchFamily="34" charset="-122"/>
                <a:cs typeface="Calibri" pitchFamily="34" charset="-120"/>
              </a:rPr>
              <a:t>e.g. loan_approved</a:t>
            </a:r>
            <a:endParaRPr lang="en-US" sz="950"/>
          </a:p>
        </p:txBody>
      </p:sp>
      <p:sp>
        <p:nvSpPr>
          <p:cNvPr id="22" name="Shape 20"/>
          <p:cNvSpPr/>
          <p:nvPr/>
        </p:nvSpPr>
        <p:spPr>
          <a:xfrm>
            <a:off x="320040" y="3913632"/>
            <a:ext cx="3291840" cy="502920"/>
          </a:xfrm>
          <a:prstGeom prst="rect">
            <a:avLst/>
          </a:prstGeom>
          <a:solidFill>
            <a:srgbClr val="FFFFFF"/>
          </a:solidFill>
          <a:ln w="12700">
            <a:solidFill>
              <a:srgbClr val="D0D7E0"/>
            </a:solidFill>
            <a:prstDash val="solid"/>
          </a:ln>
          <a:effectLst>
            <a:outerShdw blurRad="76200" dist="25400" dir="8100000" algn="bl" rotWithShape="0">
              <a:srgbClr val="000000">
                <a:alpha val="10000"/>
              </a:srgbClr>
            </a:outerShdw>
          </a:effectLst>
        </p:spPr>
        <p:txBody>
          <a:bodyPr/>
          <a:lstStyle/>
          <a:p>
            <a:endParaRPr lang="en-PT"/>
          </a:p>
        </p:txBody>
      </p:sp>
      <p:sp>
        <p:nvSpPr>
          <p:cNvPr id="23" name="Shape 21"/>
          <p:cNvSpPr/>
          <p:nvPr/>
        </p:nvSpPr>
        <p:spPr>
          <a:xfrm>
            <a:off x="411480" y="3977640"/>
            <a:ext cx="978408" cy="256032"/>
          </a:xfrm>
          <a:prstGeom prst="rect">
            <a:avLst/>
          </a:prstGeom>
          <a:solidFill>
            <a:srgbClr val="C0392B"/>
          </a:solidFill>
          <a:ln w="12700">
            <a:solidFill>
              <a:srgbClr val="C0392B"/>
            </a:solidFill>
            <a:prstDash val="solid"/>
          </a:ln>
        </p:spPr>
        <p:txBody>
          <a:bodyPr/>
          <a:lstStyle/>
          <a:p>
            <a:endParaRPr lang="en-PT"/>
          </a:p>
        </p:txBody>
      </p:sp>
      <p:sp>
        <p:nvSpPr>
          <p:cNvPr id="24" name="Text 22"/>
          <p:cNvSpPr/>
          <p:nvPr/>
        </p:nvSpPr>
        <p:spPr>
          <a:xfrm>
            <a:off x="411480" y="3986784"/>
            <a:ext cx="978408" cy="237744"/>
          </a:xfrm>
          <a:prstGeom prst="rect">
            <a:avLst/>
          </a:prstGeom>
          <a:noFill/>
          <a:ln/>
        </p:spPr>
        <p:txBody>
          <a:bodyPr wrap="square"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5 High Risk</a:t>
            </a:r>
            <a:endParaRPr lang="en-US" sz="1000"/>
          </a:p>
        </p:txBody>
      </p:sp>
      <p:sp>
        <p:nvSpPr>
          <p:cNvPr id="25" name="Shape 23"/>
          <p:cNvSpPr/>
          <p:nvPr/>
        </p:nvSpPr>
        <p:spPr>
          <a:xfrm>
            <a:off x="1481328" y="3977640"/>
            <a:ext cx="978408" cy="256032"/>
          </a:xfrm>
          <a:prstGeom prst="rect">
            <a:avLst/>
          </a:prstGeom>
          <a:solidFill>
            <a:srgbClr val="E67E22"/>
          </a:solidFill>
          <a:ln w="12700">
            <a:solidFill>
              <a:srgbClr val="E67E22"/>
            </a:solidFill>
            <a:prstDash val="solid"/>
          </a:ln>
        </p:spPr>
        <p:txBody>
          <a:bodyPr/>
          <a:lstStyle/>
          <a:p>
            <a:endParaRPr lang="en-PT"/>
          </a:p>
        </p:txBody>
      </p:sp>
      <p:sp>
        <p:nvSpPr>
          <p:cNvPr id="26" name="Text 24"/>
          <p:cNvSpPr/>
          <p:nvPr/>
        </p:nvSpPr>
        <p:spPr>
          <a:xfrm>
            <a:off x="1481328" y="3986784"/>
            <a:ext cx="978408" cy="237744"/>
          </a:xfrm>
          <a:prstGeom prst="rect">
            <a:avLst/>
          </a:prstGeom>
          <a:noFill/>
          <a:ln/>
        </p:spPr>
        <p:txBody>
          <a:bodyPr wrap="square"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3 Medium</a:t>
            </a:r>
            <a:endParaRPr lang="en-US" sz="1000"/>
          </a:p>
        </p:txBody>
      </p:sp>
      <p:sp>
        <p:nvSpPr>
          <p:cNvPr id="27" name="Shape 25"/>
          <p:cNvSpPr/>
          <p:nvPr/>
        </p:nvSpPr>
        <p:spPr>
          <a:xfrm>
            <a:off x="2551176" y="3977640"/>
            <a:ext cx="978408" cy="256032"/>
          </a:xfrm>
          <a:prstGeom prst="rect">
            <a:avLst/>
          </a:prstGeom>
          <a:solidFill>
            <a:srgbClr val="27AE60"/>
          </a:solidFill>
          <a:ln w="12700">
            <a:solidFill>
              <a:srgbClr val="27AE60"/>
            </a:solidFill>
            <a:prstDash val="solid"/>
          </a:ln>
        </p:spPr>
        <p:txBody>
          <a:bodyPr/>
          <a:lstStyle/>
          <a:p>
            <a:endParaRPr lang="en-PT"/>
          </a:p>
        </p:txBody>
      </p:sp>
      <p:sp>
        <p:nvSpPr>
          <p:cNvPr id="28" name="Text 26"/>
          <p:cNvSpPr/>
          <p:nvPr/>
        </p:nvSpPr>
        <p:spPr>
          <a:xfrm>
            <a:off x="2551176" y="3986784"/>
            <a:ext cx="978408" cy="237744"/>
          </a:xfrm>
          <a:prstGeom prst="rect">
            <a:avLst/>
          </a:prstGeom>
          <a:noFill/>
          <a:ln/>
        </p:spPr>
        <p:txBody>
          <a:bodyPr wrap="square"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2 Low</a:t>
            </a:r>
            <a:endParaRPr lang="en-US" sz="1000"/>
          </a:p>
        </p:txBody>
      </p:sp>
      <p:graphicFrame>
        <p:nvGraphicFramePr>
          <p:cNvPr id="29" name="Table 0"/>
          <p:cNvGraphicFramePr>
            <a:graphicFrameLocks noGrp="1"/>
          </p:cNvGraphicFramePr>
          <p:nvPr>
            <p:extLst>
              <p:ext uri="{D42A27DB-BD31-4B8C-83A1-F6EECF244321}">
                <p14:modId xmlns:p14="http://schemas.microsoft.com/office/powerpoint/2010/main" val="171484137"/>
              </p:ext>
            </p:extLst>
          </p:nvPr>
        </p:nvGraphicFramePr>
        <p:xfrm>
          <a:off x="3703319" y="786385"/>
          <a:ext cx="5276558" cy="4126884"/>
        </p:xfrm>
        <a:graphic>
          <a:graphicData uri="http://schemas.openxmlformats.org/drawingml/2006/table">
            <a:tbl>
              <a:tblPr/>
              <a:tblGrid>
                <a:gridCol w="1554700">
                  <a:extLst>
                    <a:ext uri="{9D8B030D-6E8A-4147-A177-3AD203B41FA5}">
                      <a16:colId xmlns:a16="http://schemas.microsoft.com/office/drawing/2014/main" val="20000"/>
                    </a:ext>
                  </a:extLst>
                </a:gridCol>
                <a:gridCol w="1088073">
                  <a:extLst>
                    <a:ext uri="{9D8B030D-6E8A-4147-A177-3AD203B41FA5}">
                      <a16:colId xmlns:a16="http://schemas.microsoft.com/office/drawing/2014/main" val="20001"/>
                    </a:ext>
                  </a:extLst>
                </a:gridCol>
                <a:gridCol w="593970">
                  <a:extLst>
                    <a:ext uri="{9D8B030D-6E8A-4147-A177-3AD203B41FA5}">
                      <a16:colId xmlns:a16="http://schemas.microsoft.com/office/drawing/2014/main" val="20002"/>
                    </a:ext>
                  </a:extLst>
                </a:gridCol>
                <a:gridCol w="2039815">
                  <a:extLst>
                    <a:ext uri="{9D8B030D-6E8A-4147-A177-3AD203B41FA5}">
                      <a16:colId xmlns:a16="http://schemas.microsoft.com/office/drawing/2014/main" val="20003"/>
                    </a:ext>
                  </a:extLst>
                </a:gridCol>
              </a:tblGrid>
              <a:tr h="245651">
                <a:tc>
                  <a:txBody>
                    <a:bodyPr/>
                    <a:lstStyle/>
                    <a:p>
                      <a:pPr marL="0" indent="0">
                        <a:buNone/>
                      </a:pPr>
                      <a:r>
                        <a:rPr lang="en-US" sz="900" b="1">
                          <a:solidFill>
                            <a:srgbClr val="FFFFFF"/>
                          </a:solidFill>
                        </a:rPr>
                        <a:t>Field</a:t>
                      </a:r>
                      <a:endParaRPr lang="en-US" sz="9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1A2744"/>
                    </a:solidFill>
                  </a:tcPr>
                </a:tc>
                <a:tc>
                  <a:txBody>
                    <a:bodyPr/>
                    <a:lstStyle/>
                    <a:p>
                      <a:pPr marL="0" indent="0">
                        <a:buNone/>
                      </a:pPr>
                      <a:r>
                        <a:rPr lang="en-US" sz="900" b="1">
                          <a:solidFill>
                            <a:srgbClr val="FFFFFF"/>
                          </a:solidFill>
                        </a:rPr>
                        <a:t>Category</a:t>
                      </a:r>
                      <a:endParaRPr lang="en-US" sz="9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1A2744"/>
                    </a:solidFill>
                  </a:tcPr>
                </a:tc>
                <a:tc>
                  <a:txBody>
                    <a:bodyPr/>
                    <a:lstStyle/>
                    <a:p>
                      <a:pPr marL="0" indent="0">
                        <a:buNone/>
                      </a:pPr>
                      <a:r>
                        <a:rPr lang="en-US" sz="900" b="1">
                          <a:solidFill>
                            <a:srgbClr val="FFFFFF"/>
                          </a:solidFill>
                        </a:rPr>
                        <a:t>Risk</a:t>
                      </a:r>
                      <a:endParaRPr lang="en-US" sz="9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1A2744"/>
                    </a:solidFill>
                  </a:tcPr>
                </a:tc>
                <a:tc>
                  <a:txBody>
                    <a:bodyPr/>
                    <a:lstStyle/>
                    <a:p>
                      <a:pPr marL="0" indent="0">
                        <a:buNone/>
                      </a:pPr>
                      <a:r>
                        <a:rPr lang="en-US" sz="900" b="1">
                          <a:solidFill>
                            <a:srgbClr val="FFFFFF"/>
                          </a:solidFill>
                        </a:rPr>
                        <a:t>Key Finding &amp; Action</a:t>
                      </a:r>
                      <a:endParaRPr lang="en-US" sz="9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solidFill>
                      <a:srgbClr val="1A2744"/>
                    </a:solidFill>
                  </a:tcPr>
                </a:tc>
                <a:extLst>
                  <a:ext uri="{0D108BD9-81ED-4DB2-BD59-A6C34878D82A}">
                    <a16:rowId xmlns:a16="http://schemas.microsoft.com/office/drawing/2014/main" val="10000"/>
                  </a:ext>
                </a:extLst>
              </a:tr>
              <a:tr h="644889">
                <a:tc>
                  <a:txBody>
                    <a:bodyPr/>
                    <a:lstStyle/>
                    <a:p>
                      <a:pPr marL="0" indent="0">
                        <a:buNone/>
                      </a:pPr>
                      <a:r>
                        <a:rPr lang="en-US" sz="1000" b="1">
                          <a:solidFill>
                            <a:srgbClr val="000000"/>
                          </a:solidFill>
                        </a:rPr>
                        <a:t>full_name, ssn, email</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a:solidFill>
                            <a:srgbClr val="000000"/>
                          </a:solidFill>
                        </a:rPr>
                        <a:t>Direct Identifier</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b="1">
                          <a:solidFill>
                            <a:srgbClr val="C0392B"/>
                          </a:solidFill>
                        </a:rPr>
                        <a:t>● High</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950">
                          <a:solidFill>
                            <a:srgbClr val="000000"/>
                          </a:solidFill>
                        </a:rPr>
                        <a:t>Stored in plaintext — pseudonymise SSN; remove name and email from the analytical layer</a:t>
                      </a:r>
                      <a:endParaRPr lang="en-US" sz="95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extLst>
                  <a:ext uri="{0D108BD9-81ED-4DB2-BD59-A6C34878D82A}">
                    <a16:rowId xmlns:a16="http://schemas.microsoft.com/office/drawing/2014/main" val="10001"/>
                  </a:ext>
                </a:extLst>
              </a:tr>
              <a:tr h="381044">
                <a:tc>
                  <a:txBody>
                    <a:bodyPr/>
                    <a:lstStyle/>
                    <a:p>
                      <a:pPr marL="0" indent="0">
                        <a:buNone/>
                      </a:pPr>
                      <a:r>
                        <a:rPr lang="en-US" sz="1000">
                          <a:solidFill>
                            <a:srgbClr val="000000"/>
                          </a:solidFill>
                        </a:rPr>
                        <a:t>ip_address</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a:solidFill>
                            <a:srgbClr val="000000"/>
                          </a:solidFill>
                        </a:rPr>
                        <a:t>Technical Identifier</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b="1">
                          <a:solidFill>
                            <a:srgbClr val="C0392B"/>
                          </a:solidFill>
                        </a:rPr>
                        <a:t>● High</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950">
                          <a:solidFill>
                            <a:srgbClr val="000000"/>
                          </a:solidFill>
                        </a:rPr>
                        <a:t>No analytical value — delete from dataset (GDPR Art. 4(1))</a:t>
                      </a:r>
                      <a:endParaRPr lang="en-US" sz="95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extLst>
                  <a:ext uri="{0D108BD9-81ED-4DB2-BD59-A6C34878D82A}">
                    <a16:rowId xmlns:a16="http://schemas.microsoft.com/office/drawing/2014/main" val="10002"/>
                  </a:ext>
                </a:extLst>
              </a:tr>
              <a:tr h="381044">
                <a:tc>
                  <a:txBody>
                    <a:bodyPr/>
                    <a:lstStyle/>
                    <a:p>
                      <a:pPr marL="0" indent="0">
                        <a:buNone/>
                      </a:pPr>
                      <a:r>
                        <a:rPr lang="en-US" sz="1000">
                          <a:solidFill>
                            <a:srgbClr val="000000"/>
                          </a:solidFill>
                        </a:rPr>
                        <a:t>gender</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a:solidFill>
                            <a:srgbClr val="000000"/>
                          </a:solidFill>
                        </a:rPr>
                        <a:t>Protected Attribute</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b="1">
                          <a:solidFill>
                            <a:srgbClr val="C0392B"/>
                          </a:solidFill>
                        </a:rPr>
                        <a:t>● High</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950">
                          <a:solidFill>
                            <a:srgbClr val="000000"/>
                          </a:solidFill>
                        </a:rPr>
                        <a:t>DI = 0.77 confirmed — exclude from all model inputs</a:t>
                      </a:r>
                      <a:endParaRPr lang="en-US" sz="95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extLst>
                  <a:ext uri="{0D108BD9-81ED-4DB2-BD59-A6C34878D82A}">
                    <a16:rowId xmlns:a16="http://schemas.microsoft.com/office/drawing/2014/main" val="10003"/>
                  </a:ext>
                </a:extLst>
              </a:tr>
              <a:tr h="505652">
                <a:tc>
                  <a:txBody>
                    <a:bodyPr/>
                    <a:lstStyle/>
                    <a:p>
                      <a:pPr marL="0" indent="0">
                        <a:buNone/>
                      </a:pPr>
                      <a:r>
                        <a:rPr lang="en-US" sz="1000">
                          <a:solidFill>
                            <a:srgbClr val="000000"/>
                          </a:solidFill>
                        </a:rPr>
                        <a:t>zip_code</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a:solidFill>
                            <a:srgbClr val="000000"/>
                          </a:solidFill>
                        </a:rPr>
                        <a:t>Quasi-Identifier</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b="1">
                          <a:solidFill>
                            <a:srgbClr val="C0392B"/>
                          </a:solidFill>
                        </a:rPr>
                        <a:t>● High</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950">
                          <a:solidFill>
                            <a:srgbClr val="000000"/>
                          </a:solidFill>
                        </a:rPr>
                        <a:t>Gender proxy AUC = 0.864 — transform to NUTS-2 region or exclude</a:t>
                      </a:r>
                      <a:endParaRPr lang="en-US" sz="95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extLst>
                  <a:ext uri="{0D108BD9-81ED-4DB2-BD59-A6C34878D82A}">
                    <a16:rowId xmlns:a16="http://schemas.microsoft.com/office/drawing/2014/main" val="10004"/>
                  </a:ext>
                </a:extLst>
              </a:tr>
              <a:tr h="505652">
                <a:tc>
                  <a:txBody>
                    <a:bodyPr/>
                    <a:lstStyle/>
                    <a:p>
                      <a:pPr marL="0" indent="0">
                        <a:buNone/>
                      </a:pPr>
                      <a:r>
                        <a:rPr lang="en-US" sz="1000">
                          <a:solidFill>
                            <a:srgbClr val="000000"/>
                          </a:solidFill>
                        </a:rPr>
                        <a:t>date_of_birth</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a:solidFill>
                            <a:srgbClr val="000000"/>
                          </a:solidFill>
                        </a:rPr>
                        <a:t>Quasi-Identifier</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b="1">
                          <a:solidFill>
                            <a:srgbClr val="C0392B"/>
                          </a:solidFill>
                        </a:rPr>
                        <a:t>● High</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950">
                          <a:solidFill>
                            <a:srgbClr val="000000"/>
                          </a:solidFill>
                        </a:rPr>
                        <a:t>Exceeds data minimisation — generalise to age_group (GDPR Art. 5(1)(c))</a:t>
                      </a:r>
                      <a:endParaRPr lang="en-US" sz="95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extLst>
                  <a:ext uri="{0D108BD9-81ED-4DB2-BD59-A6C34878D82A}">
                    <a16:rowId xmlns:a16="http://schemas.microsoft.com/office/drawing/2014/main" val="10005"/>
                  </a:ext>
                </a:extLst>
              </a:tr>
              <a:tr h="366413">
                <a:tc>
                  <a:txBody>
                    <a:bodyPr/>
                    <a:lstStyle/>
                    <a:p>
                      <a:pPr marL="0" indent="0">
                        <a:buNone/>
                      </a:pPr>
                      <a:r>
                        <a:rPr lang="en-US" sz="1000">
                          <a:solidFill>
                            <a:srgbClr val="000000"/>
                          </a:solidFill>
                        </a:rPr>
                        <a:t>annual_income</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a:solidFill>
                            <a:srgbClr val="000000"/>
                          </a:solidFill>
                        </a:rPr>
                        <a:t>Quasi-Identifier</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b="1">
                          <a:solidFill>
                            <a:srgbClr val="E67E22"/>
                          </a:solidFill>
                        </a:rPr>
                        <a:t>◐ Med</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950">
                          <a:solidFill>
                            <a:srgbClr val="000000"/>
                          </a:solidFill>
                        </a:rPr>
                        <a:t>Merged from annual_salary; reconciliation not documented</a:t>
                      </a:r>
                      <a:endParaRPr lang="en-US" sz="95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extLst>
                  <a:ext uri="{0D108BD9-81ED-4DB2-BD59-A6C34878D82A}">
                    <a16:rowId xmlns:a16="http://schemas.microsoft.com/office/drawing/2014/main" val="10006"/>
                  </a:ext>
                </a:extLst>
              </a:tr>
              <a:tr h="505652">
                <a:tc>
                  <a:txBody>
                    <a:bodyPr/>
                    <a:lstStyle/>
                    <a:p>
                      <a:pPr marL="0" indent="0">
                        <a:buNone/>
                      </a:pPr>
                      <a:r>
                        <a:rPr lang="en-US" sz="1000">
                          <a:solidFill>
                            <a:srgbClr val="000000"/>
                          </a:solidFill>
                        </a:rPr>
                        <a:t>healthcare / gambling spend</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a:solidFill>
                            <a:srgbClr val="000000"/>
                          </a:solidFill>
                        </a:rPr>
                        <a:t>Sensitive Behavioural</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b="1">
                          <a:solidFill>
                            <a:srgbClr val="E67E22"/>
                          </a:solidFill>
                        </a:rPr>
                        <a:t>◐ Med</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950">
                          <a:solidFill>
                            <a:srgbClr val="000000"/>
                          </a:solidFill>
                        </a:rPr>
                        <a:t>Collection purpose undocumented — Art. 9 special-category risk applies</a:t>
                      </a:r>
                      <a:endParaRPr lang="en-US" sz="95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extLst>
                  <a:ext uri="{0D108BD9-81ED-4DB2-BD59-A6C34878D82A}">
                    <a16:rowId xmlns:a16="http://schemas.microsoft.com/office/drawing/2014/main" val="10007"/>
                  </a:ext>
                </a:extLst>
              </a:tr>
              <a:tr h="505652">
                <a:tc>
                  <a:txBody>
                    <a:bodyPr/>
                    <a:lstStyle/>
                    <a:p>
                      <a:pPr marL="0" indent="0">
                        <a:buNone/>
                      </a:pPr>
                      <a:r>
                        <a:rPr lang="en-US" sz="1000">
                          <a:solidFill>
                            <a:srgbClr val="000000"/>
                          </a:solidFill>
                        </a:rPr>
                        <a:t>loan_approved</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a:solidFill>
                            <a:srgbClr val="000000"/>
                          </a:solidFill>
                        </a:rPr>
                        <a:t>Decision Output</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1000" b="1">
                          <a:solidFill>
                            <a:srgbClr val="E67E22"/>
                          </a:solidFill>
                        </a:rPr>
                        <a:t>◐ Med</a:t>
                      </a:r>
                      <a:endParaRPr lang="en-US" sz="100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tc>
                  <a:txBody>
                    <a:bodyPr/>
                    <a:lstStyle/>
                    <a:p>
                      <a:pPr marL="0" indent="0">
                        <a:buNone/>
                      </a:pPr>
                      <a:r>
                        <a:rPr lang="en-US" sz="950">
                          <a:solidFill>
                            <a:srgbClr val="000000"/>
                          </a:solidFill>
                        </a:rPr>
                        <a:t>Automated decision output — Art. 22 and Annex III obligations apply</a:t>
                      </a:r>
                      <a:endParaRPr lang="en-US" sz="950"/>
                    </a:p>
                  </a:txBody>
                  <a:tcPr>
                    <a:lnL w="6350" cap="flat" cmpd="sng" algn="ctr">
                      <a:solidFill>
                        <a:srgbClr val="D0D7E0"/>
                      </a:solidFill>
                      <a:prstDash val="solid"/>
                      <a:round/>
                      <a:headEnd type="none" w="med" len="med"/>
                      <a:tailEnd type="none" w="med" len="med"/>
                    </a:lnL>
                    <a:lnR w="6350" cap="flat" cmpd="sng" algn="ctr">
                      <a:solidFill>
                        <a:srgbClr val="D0D7E0"/>
                      </a:solidFill>
                      <a:prstDash val="solid"/>
                      <a:round/>
                      <a:headEnd type="none" w="med" len="med"/>
                      <a:tailEnd type="none" w="med" len="med"/>
                    </a:lnR>
                    <a:lnT w="6350" cap="flat" cmpd="sng" algn="ctr">
                      <a:solidFill>
                        <a:srgbClr val="D0D7E0"/>
                      </a:solidFill>
                      <a:prstDash val="solid"/>
                      <a:round/>
                      <a:headEnd type="none" w="med" len="med"/>
                      <a:tailEnd type="none" w="med" len="med"/>
                    </a:lnT>
                    <a:lnB w="6350" cap="flat" cmpd="sng" algn="ctr">
                      <a:solidFill>
                        <a:srgbClr val="D0D7E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30" name="Shape 27"/>
          <p:cNvSpPr/>
          <p:nvPr/>
        </p:nvSpPr>
        <p:spPr>
          <a:xfrm>
            <a:off x="0" y="4864608"/>
            <a:ext cx="9144000" cy="278892"/>
          </a:xfrm>
          <a:prstGeom prst="rect">
            <a:avLst/>
          </a:prstGeom>
          <a:solidFill>
            <a:srgbClr val="000000"/>
          </a:solidFill>
          <a:ln w="12700">
            <a:solidFill>
              <a:srgbClr val="000000"/>
            </a:solidFill>
            <a:prstDash val="solid"/>
          </a:ln>
        </p:spPr>
        <p:txBody>
          <a:bodyPr/>
          <a:lstStyle/>
          <a:p>
            <a:endParaRPr lang="en-PT"/>
          </a:p>
        </p:txBody>
      </p:sp>
      <p:sp>
        <p:nvSpPr>
          <p:cNvPr id="31" name="Text 28"/>
          <p:cNvSpPr/>
          <p:nvPr/>
        </p:nvSpPr>
        <p:spPr>
          <a:xfrm>
            <a:off x="274320" y="4873752"/>
            <a:ext cx="8046720" cy="246888"/>
          </a:xfrm>
          <a:prstGeom prst="rect">
            <a:avLst/>
          </a:prstGeom>
          <a:noFill/>
          <a:ln/>
        </p:spPr>
        <p:txBody>
          <a:bodyPr wrap="square" rtlCol="0" anchor="ctr"/>
          <a:lstStyle/>
          <a:p>
            <a:pPr marL="0" indent="0">
              <a:buNone/>
            </a:pPr>
            <a:r>
              <a:rPr lang="en-US" sz="800">
                <a:solidFill>
                  <a:srgbClr val="999999"/>
                </a:solidFill>
                <a:latin typeface="Calibri" pitchFamily="34" charset="0"/>
                <a:ea typeface="Calibri" pitchFamily="34" charset="-122"/>
                <a:cs typeface="Calibri" pitchFamily="34" charset="-120"/>
              </a:rPr>
              <a:t>Team 14 — TXB  |  NovaCred Credit Governance  |  DEGO 2606, Nova SBE</a:t>
            </a:r>
            <a:endParaRPr lang="en-US" sz="800"/>
          </a:p>
        </p:txBody>
      </p:sp>
      <p:sp>
        <p:nvSpPr>
          <p:cNvPr id="32" name="Text 29"/>
          <p:cNvSpPr/>
          <p:nvPr/>
        </p:nvSpPr>
        <p:spPr>
          <a:xfrm>
            <a:off x="8686800" y="4873752"/>
            <a:ext cx="365760" cy="246888"/>
          </a:xfrm>
          <a:prstGeom prst="rect">
            <a:avLst/>
          </a:prstGeom>
          <a:noFill/>
          <a:ln/>
        </p:spPr>
        <p:txBody>
          <a:bodyPr wrap="square" rtlCol="0" anchor="ctr"/>
          <a:lstStyle/>
          <a:p>
            <a:pPr marL="0" indent="0" algn="r">
              <a:buNone/>
            </a:pPr>
            <a:r>
              <a:rPr lang="en-US" sz="950">
                <a:solidFill>
                  <a:srgbClr val="999999"/>
                </a:solidFill>
                <a:latin typeface="Calibri" pitchFamily="34" charset="0"/>
                <a:ea typeface="Calibri" pitchFamily="34" charset="-122"/>
                <a:cs typeface="Calibri" pitchFamily="34" charset="-120"/>
              </a:rPr>
              <a:t>9</a:t>
            </a:r>
            <a:endParaRPr lang="en-US" sz="95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A2744"/>
          </a:solidFill>
          <a:ln w="12700">
            <a:solidFill>
              <a:srgbClr val="1A2744"/>
            </a:solidFill>
            <a:prstDash val="solid"/>
          </a:ln>
        </p:spPr>
        <p:txBody>
          <a:bodyPr/>
          <a:lstStyle/>
          <a:p>
            <a:endParaRPr lang="en-PT"/>
          </a:p>
        </p:txBody>
      </p:sp>
      <p:sp>
        <p:nvSpPr>
          <p:cNvPr id="3" name="Shape 1"/>
          <p:cNvSpPr/>
          <p:nvPr/>
        </p:nvSpPr>
        <p:spPr>
          <a:xfrm>
            <a:off x="0" y="0"/>
            <a:ext cx="274320" cy="713232"/>
          </a:xfrm>
          <a:prstGeom prst="rect">
            <a:avLst/>
          </a:prstGeom>
          <a:solidFill>
            <a:srgbClr val="C0392B"/>
          </a:solidFill>
          <a:ln w="12700">
            <a:solidFill>
              <a:srgbClr val="C0392B"/>
            </a:solidFill>
            <a:prstDash val="solid"/>
          </a:ln>
        </p:spPr>
        <p:txBody>
          <a:bodyPr/>
          <a:lstStyle/>
          <a:p>
            <a:endParaRPr lang="en-PT"/>
          </a:p>
        </p:txBody>
      </p:sp>
      <p:sp>
        <p:nvSpPr>
          <p:cNvPr id="4" name="Text 2"/>
          <p:cNvSpPr/>
          <p:nvPr/>
        </p:nvSpPr>
        <p:spPr>
          <a:xfrm>
            <a:off x="411480" y="73152"/>
            <a:ext cx="8503920" cy="411480"/>
          </a:xfrm>
          <a:prstGeom prst="rect">
            <a:avLst/>
          </a:prstGeom>
          <a:noFill/>
          <a:ln/>
        </p:spPr>
        <p:txBody>
          <a:bodyPr wrap="square" rtlCol="0" anchor="ctr"/>
          <a:lstStyle/>
          <a:p>
            <a:pPr marL="0" indent="0">
              <a:buNone/>
            </a:pPr>
            <a:r>
              <a:rPr lang="en-US" sz="2200" b="1">
                <a:solidFill>
                  <a:srgbClr val="FFFFFF"/>
                </a:solidFill>
                <a:latin typeface="Georgia" pitchFamily="34" charset="0"/>
                <a:ea typeface="Georgia" pitchFamily="34" charset="-122"/>
                <a:cs typeface="Georgia" pitchFamily="34" charset="-120"/>
              </a:rPr>
              <a:t>Governance Gaps &amp; Recommendations</a:t>
            </a:r>
            <a:endParaRPr lang="en-US" sz="2200"/>
          </a:p>
        </p:txBody>
      </p:sp>
      <p:sp>
        <p:nvSpPr>
          <p:cNvPr id="5" name="Text 3"/>
          <p:cNvSpPr/>
          <p:nvPr/>
        </p:nvSpPr>
        <p:spPr>
          <a:xfrm>
            <a:off x="411480" y="475488"/>
            <a:ext cx="8503920" cy="201168"/>
          </a:xfrm>
          <a:prstGeom prst="rect">
            <a:avLst/>
          </a:prstGeom>
          <a:noFill/>
          <a:ln/>
        </p:spPr>
        <p:txBody>
          <a:bodyPr wrap="square" rtlCol="0" anchor="ctr"/>
          <a:lstStyle/>
          <a:p>
            <a:r>
              <a:rPr lang="en-US" sz="1100" i="1">
                <a:solidFill>
                  <a:srgbClr val="AABBD0"/>
                </a:solidFill>
                <a:latin typeface="Calibri" pitchFamily="34" charset="0"/>
                <a:ea typeface="Calibri" pitchFamily="34" charset="-122"/>
                <a:cs typeface="Calibri" pitchFamily="34" charset="-120"/>
              </a:rPr>
              <a:t>Notebook 03  | Lucas Galilei — Governance Officer </a:t>
            </a:r>
            <a:endParaRPr lang="en-US" sz="1100"/>
          </a:p>
        </p:txBody>
      </p:sp>
      <p:sp>
        <p:nvSpPr>
          <p:cNvPr id="6" name="Shape 4"/>
          <p:cNvSpPr/>
          <p:nvPr/>
        </p:nvSpPr>
        <p:spPr>
          <a:xfrm>
            <a:off x="274320" y="804672"/>
            <a:ext cx="4297680" cy="886968"/>
          </a:xfrm>
          <a:prstGeom prst="rect">
            <a:avLst/>
          </a:prstGeom>
          <a:solidFill>
            <a:srgbClr val="FFFFFF"/>
          </a:solidFill>
          <a:ln w="12700">
            <a:solidFill>
              <a:srgbClr val="D0D7E0"/>
            </a:solidFill>
            <a:prstDash val="solid"/>
          </a:ln>
          <a:effectLst>
            <a:outerShdw blurRad="76200" dist="25400" dir="8100000" algn="bl" rotWithShape="0">
              <a:srgbClr val="000000">
                <a:alpha val="10000"/>
              </a:srgbClr>
            </a:outerShdw>
          </a:effectLst>
        </p:spPr>
        <p:txBody>
          <a:bodyPr/>
          <a:lstStyle/>
          <a:p>
            <a:endParaRPr lang="en-PT"/>
          </a:p>
        </p:txBody>
      </p:sp>
      <p:sp>
        <p:nvSpPr>
          <p:cNvPr id="7" name="Shape 5"/>
          <p:cNvSpPr/>
          <p:nvPr/>
        </p:nvSpPr>
        <p:spPr>
          <a:xfrm>
            <a:off x="274320" y="804672"/>
            <a:ext cx="347472" cy="886968"/>
          </a:xfrm>
          <a:prstGeom prst="rect">
            <a:avLst/>
          </a:prstGeom>
          <a:solidFill>
            <a:srgbClr val="C0392B"/>
          </a:solidFill>
          <a:ln w="12700">
            <a:solidFill>
              <a:srgbClr val="C0392B"/>
            </a:solidFill>
            <a:prstDash val="solid"/>
          </a:ln>
        </p:spPr>
        <p:txBody>
          <a:bodyPr/>
          <a:lstStyle/>
          <a:p>
            <a:endParaRPr lang="en-PT"/>
          </a:p>
        </p:txBody>
      </p:sp>
      <p:sp>
        <p:nvSpPr>
          <p:cNvPr id="8" name="Text 6"/>
          <p:cNvSpPr/>
          <p:nvPr/>
        </p:nvSpPr>
        <p:spPr>
          <a:xfrm>
            <a:off x="301752" y="1115568"/>
            <a:ext cx="301752" cy="256032"/>
          </a:xfrm>
          <a:prstGeom prst="rect">
            <a:avLst/>
          </a:prstGeom>
          <a:noFill/>
          <a:ln/>
        </p:spPr>
        <p:txBody>
          <a:bodyPr wrap="square"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01</a:t>
            </a:r>
            <a:endParaRPr lang="en-US" sz="1200"/>
          </a:p>
        </p:txBody>
      </p:sp>
      <p:sp>
        <p:nvSpPr>
          <p:cNvPr id="9" name="Text 7"/>
          <p:cNvSpPr/>
          <p:nvPr/>
        </p:nvSpPr>
        <p:spPr>
          <a:xfrm>
            <a:off x="685800" y="841248"/>
            <a:ext cx="3822192" cy="228600"/>
          </a:xfrm>
          <a:prstGeom prst="rect">
            <a:avLst/>
          </a:prstGeom>
          <a:noFill/>
          <a:ln/>
        </p:spPr>
        <p:txBody>
          <a:bodyPr wrap="square" rtlCol="0" anchor="ctr"/>
          <a:lstStyle/>
          <a:p>
            <a:pPr marL="0" indent="0">
              <a:buNone/>
            </a:pPr>
            <a:r>
              <a:rPr lang="en-US" sz="1100" b="1">
                <a:solidFill>
                  <a:srgbClr val="C0392B"/>
                </a:solidFill>
                <a:latin typeface="Calibri" pitchFamily="34" charset="0"/>
                <a:ea typeface="Calibri" pitchFamily="34" charset="-122"/>
                <a:cs typeface="Calibri" pitchFamily="34" charset="-120"/>
              </a:rPr>
              <a:t>No lawful basis or consent tracking</a:t>
            </a:r>
            <a:endParaRPr lang="en-US" sz="1100"/>
          </a:p>
        </p:txBody>
      </p:sp>
      <p:sp>
        <p:nvSpPr>
          <p:cNvPr id="10" name="Shape 8"/>
          <p:cNvSpPr/>
          <p:nvPr/>
        </p:nvSpPr>
        <p:spPr>
          <a:xfrm>
            <a:off x="685800" y="1078992"/>
            <a:ext cx="3822192" cy="164592"/>
          </a:xfrm>
          <a:prstGeom prst="rect">
            <a:avLst/>
          </a:prstGeom>
          <a:solidFill>
            <a:srgbClr val="FEE2E2"/>
          </a:solidFill>
          <a:ln w="12700">
            <a:solidFill>
              <a:srgbClr val="FCA5A5"/>
            </a:solidFill>
            <a:prstDash val="solid"/>
          </a:ln>
        </p:spPr>
        <p:txBody>
          <a:bodyPr/>
          <a:lstStyle/>
          <a:p>
            <a:endParaRPr lang="en-PT"/>
          </a:p>
        </p:txBody>
      </p:sp>
      <p:sp>
        <p:nvSpPr>
          <p:cNvPr id="11" name="Text 9"/>
          <p:cNvSpPr/>
          <p:nvPr/>
        </p:nvSpPr>
        <p:spPr>
          <a:xfrm>
            <a:off x="713232" y="1088136"/>
            <a:ext cx="3767328" cy="146304"/>
          </a:xfrm>
          <a:prstGeom prst="rect">
            <a:avLst/>
          </a:prstGeom>
          <a:noFill/>
          <a:ln/>
        </p:spPr>
        <p:txBody>
          <a:bodyPr wrap="square" rtlCol="0" anchor="ctr"/>
          <a:lstStyle/>
          <a:p>
            <a:pPr marL="0" indent="0">
              <a:buNone/>
            </a:pPr>
            <a:r>
              <a:rPr lang="en-US" sz="850" b="1">
                <a:solidFill>
                  <a:srgbClr val="C0392B"/>
                </a:solidFill>
                <a:latin typeface="Calibri" pitchFamily="34" charset="0"/>
                <a:ea typeface="Calibri" pitchFamily="34" charset="-122"/>
                <a:cs typeface="Calibri" pitchFamily="34" charset="-120"/>
              </a:rPr>
              <a:t>GDPR Art. 6 · Art. 7</a:t>
            </a:r>
            <a:endParaRPr lang="en-US" sz="850"/>
          </a:p>
        </p:txBody>
      </p:sp>
      <p:sp>
        <p:nvSpPr>
          <p:cNvPr id="12" name="Text 10"/>
          <p:cNvSpPr/>
          <p:nvPr/>
        </p:nvSpPr>
        <p:spPr>
          <a:xfrm>
            <a:off x="685800" y="1271016"/>
            <a:ext cx="3822192" cy="384048"/>
          </a:xfrm>
          <a:prstGeom prst="rect">
            <a:avLst/>
          </a:prstGeom>
          <a:noFill/>
          <a:ln/>
        </p:spPr>
        <p:txBody>
          <a:bodyPr wrap="square" rtlCol="0" anchor="t"/>
          <a:lstStyle/>
          <a:p>
            <a:pPr marL="0" indent="0">
              <a:buNone/>
            </a:pPr>
            <a:r>
              <a:rPr lang="en-US" sz="950">
                <a:solidFill>
                  <a:srgbClr val="3D4A5C"/>
                </a:solidFill>
                <a:latin typeface="Calibri" pitchFamily="34" charset="0"/>
                <a:ea typeface="Calibri" pitchFamily="34" charset="-122"/>
                <a:cs typeface="Calibri" pitchFamily="34" charset="-120"/>
              </a:rPr>
              <a:t>Add consent_timestamp. Document lawful basis per processing activity prior to any model reuse.</a:t>
            </a:r>
            <a:endParaRPr lang="en-US" sz="950"/>
          </a:p>
        </p:txBody>
      </p:sp>
      <p:sp>
        <p:nvSpPr>
          <p:cNvPr id="13" name="Shape 11"/>
          <p:cNvSpPr/>
          <p:nvPr/>
        </p:nvSpPr>
        <p:spPr>
          <a:xfrm>
            <a:off x="274320" y="1783080"/>
            <a:ext cx="4297680" cy="886968"/>
          </a:xfrm>
          <a:prstGeom prst="rect">
            <a:avLst/>
          </a:prstGeom>
          <a:solidFill>
            <a:srgbClr val="FFFFFF"/>
          </a:solidFill>
          <a:ln w="12700">
            <a:solidFill>
              <a:srgbClr val="D0D7E0"/>
            </a:solidFill>
            <a:prstDash val="solid"/>
          </a:ln>
          <a:effectLst>
            <a:outerShdw blurRad="76200" dist="25400" dir="8100000" algn="bl" rotWithShape="0">
              <a:srgbClr val="000000">
                <a:alpha val="10000"/>
              </a:srgbClr>
            </a:outerShdw>
          </a:effectLst>
        </p:spPr>
        <p:txBody>
          <a:bodyPr/>
          <a:lstStyle/>
          <a:p>
            <a:endParaRPr lang="en-PT"/>
          </a:p>
        </p:txBody>
      </p:sp>
      <p:sp>
        <p:nvSpPr>
          <p:cNvPr id="14" name="Shape 12"/>
          <p:cNvSpPr/>
          <p:nvPr/>
        </p:nvSpPr>
        <p:spPr>
          <a:xfrm>
            <a:off x="274320" y="1783080"/>
            <a:ext cx="347472" cy="886968"/>
          </a:xfrm>
          <a:prstGeom prst="rect">
            <a:avLst/>
          </a:prstGeom>
          <a:solidFill>
            <a:srgbClr val="C0392B"/>
          </a:solidFill>
          <a:ln w="12700">
            <a:solidFill>
              <a:srgbClr val="C0392B"/>
            </a:solidFill>
            <a:prstDash val="solid"/>
          </a:ln>
        </p:spPr>
        <p:txBody>
          <a:bodyPr/>
          <a:lstStyle/>
          <a:p>
            <a:endParaRPr lang="en-PT"/>
          </a:p>
        </p:txBody>
      </p:sp>
      <p:sp>
        <p:nvSpPr>
          <p:cNvPr id="15" name="Text 13"/>
          <p:cNvSpPr/>
          <p:nvPr/>
        </p:nvSpPr>
        <p:spPr>
          <a:xfrm>
            <a:off x="301752" y="2093976"/>
            <a:ext cx="301752" cy="256032"/>
          </a:xfrm>
          <a:prstGeom prst="rect">
            <a:avLst/>
          </a:prstGeom>
          <a:noFill/>
          <a:ln/>
        </p:spPr>
        <p:txBody>
          <a:bodyPr wrap="square"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02</a:t>
            </a:r>
            <a:endParaRPr lang="en-US" sz="1200"/>
          </a:p>
        </p:txBody>
      </p:sp>
      <p:sp>
        <p:nvSpPr>
          <p:cNvPr id="16" name="Text 14"/>
          <p:cNvSpPr/>
          <p:nvPr/>
        </p:nvSpPr>
        <p:spPr>
          <a:xfrm>
            <a:off x="685800" y="1819656"/>
            <a:ext cx="3822192" cy="228600"/>
          </a:xfrm>
          <a:prstGeom prst="rect">
            <a:avLst/>
          </a:prstGeom>
          <a:noFill/>
          <a:ln/>
        </p:spPr>
        <p:txBody>
          <a:bodyPr wrap="square" rtlCol="0" anchor="ctr"/>
          <a:lstStyle/>
          <a:p>
            <a:pPr marL="0" indent="0">
              <a:buNone/>
            </a:pPr>
            <a:r>
              <a:rPr lang="en-US" sz="1100" b="1">
                <a:solidFill>
                  <a:srgbClr val="C0392B"/>
                </a:solidFill>
                <a:latin typeface="Calibri" pitchFamily="34" charset="0"/>
                <a:ea typeface="Calibri" pitchFamily="34" charset="-122"/>
                <a:cs typeface="Calibri" pitchFamily="34" charset="-120"/>
              </a:rPr>
              <a:t>PII stored in plaintext — no encryption</a:t>
            </a:r>
            <a:endParaRPr lang="en-US" sz="1100"/>
          </a:p>
        </p:txBody>
      </p:sp>
      <p:sp>
        <p:nvSpPr>
          <p:cNvPr id="17" name="Shape 15"/>
          <p:cNvSpPr/>
          <p:nvPr/>
        </p:nvSpPr>
        <p:spPr>
          <a:xfrm>
            <a:off x="685800" y="2057400"/>
            <a:ext cx="3822192" cy="164592"/>
          </a:xfrm>
          <a:prstGeom prst="rect">
            <a:avLst/>
          </a:prstGeom>
          <a:solidFill>
            <a:srgbClr val="FEE2E2"/>
          </a:solidFill>
          <a:ln w="12700">
            <a:solidFill>
              <a:srgbClr val="FCA5A5"/>
            </a:solidFill>
            <a:prstDash val="solid"/>
          </a:ln>
        </p:spPr>
        <p:txBody>
          <a:bodyPr/>
          <a:lstStyle/>
          <a:p>
            <a:endParaRPr lang="en-PT"/>
          </a:p>
        </p:txBody>
      </p:sp>
      <p:sp>
        <p:nvSpPr>
          <p:cNvPr id="18" name="Text 16"/>
          <p:cNvSpPr/>
          <p:nvPr/>
        </p:nvSpPr>
        <p:spPr>
          <a:xfrm>
            <a:off x="713232" y="2066544"/>
            <a:ext cx="3767328" cy="146304"/>
          </a:xfrm>
          <a:prstGeom prst="rect">
            <a:avLst/>
          </a:prstGeom>
          <a:noFill/>
          <a:ln/>
        </p:spPr>
        <p:txBody>
          <a:bodyPr wrap="square" rtlCol="0" anchor="ctr"/>
          <a:lstStyle/>
          <a:p>
            <a:pPr marL="0" indent="0">
              <a:buNone/>
            </a:pPr>
            <a:r>
              <a:rPr lang="en-US" sz="850" b="1">
                <a:solidFill>
                  <a:srgbClr val="C0392B"/>
                </a:solidFill>
                <a:latin typeface="Calibri" pitchFamily="34" charset="0"/>
                <a:ea typeface="Calibri" pitchFamily="34" charset="-122"/>
                <a:cs typeface="Calibri" pitchFamily="34" charset="-120"/>
              </a:rPr>
              <a:t>GDPR Art. 5(1)(f) · Art. 32</a:t>
            </a:r>
            <a:endParaRPr lang="en-US" sz="850"/>
          </a:p>
        </p:txBody>
      </p:sp>
      <p:sp>
        <p:nvSpPr>
          <p:cNvPr id="19" name="Text 17"/>
          <p:cNvSpPr/>
          <p:nvPr/>
        </p:nvSpPr>
        <p:spPr>
          <a:xfrm>
            <a:off x="685800" y="2249424"/>
            <a:ext cx="3822192" cy="384048"/>
          </a:xfrm>
          <a:prstGeom prst="rect">
            <a:avLst/>
          </a:prstGeom>
          <a:noFill/>
          <a:ln/>
        </p:spPr>
        <p:txBody>
          <a:bodyPr wrap="square" rtlCol="0" anchor="t"/>
          <a:lstStyle/>
          <a:p>
            <a:pPr marL="0" indent="0">
              <a:buNone/>
            </a:pPr>
            <a:r>
              <a:rPr lang="en-US" sz="950">
                <a:solidFill>
                  <a:srgbClr val="3D4A5C"/>
                </a:solidFill>
                <a:latin typeface="Calibri" pitchFamily="34" charset="0"/>
                <a:ea typeface="Calibri" pitchFamily="34" charset="-122"/>
                <a:cs typeface="Calibri" pitchFamily="34" charset="-120"/>
              </a:rPr>
              <a:t>Apply SHA-256 pseudonymisation (demonstrated in Notebook 03). Encrypt data at rest; enforce role-based access.</a:t>
            </a:r>
            <a:endParaRPr lang="en-US" sz="950"/>
          </a:p>
        </p:txBody>
      </p:sp>
      <p:sp>
        <p:nvSpPr>
          <p:cNvPr id="20" name="Shape 18"/>
          <p:cNvSpPr/>
          <p:nvPr/>
        </p:nvSpPr>
        <p:spPr>
          <a:xfrm>
            <a:off x="274320" y="2761488"/>
            <a:ext cx="4297680" cy="886968"/>
          </a:xfrm>
          <a:prstGeom prst="rect">
            <a:avLst/>
          </a:prstGeom>
          <a:solidFill>
            <a:srgbClr val="FFFFFF"/>
          </a:solidFill>
          <a:ln w="12700">
            <a:solidFill>
              <a:srgbClr val="D0D7E0"/>
            </a:solidFill>
            <a:prstDash val="solid"/>
          </a:ln>
          <a:effectLst>
            <a:outerShdw blurRad="76200" dist="25400" dir="8100000" algn="bl" rotWithShape="0">
              <a:srgbClr val="000000">
                <a:alpha val="10000"/>
              </a:srgbClr>
            </a:outerShdw>
          </a:effectLst>
        </p:spPr>
        <p:txBody>
          <a:bodyPr/>
          <a:lstStyle/>
          <a:p>
            <a:endParaRPr lang="en-PT"/>
          </a:p>
        </p:txBody>
      </p:sp>
      <p:sp>
        <p:nvSpPr>
          <p:cNvPr id="21" name="Shape 19"/>
          <p:cNvSpPr/>
          <p:nvPr/>
        </p:nvSpPr>
        <p:spPr>
          <a:xfrm>
            <a:off x="274320" y="2761488"/>
            <a:ext cx="347472" cy="886968"/>
          </a:xfrm>
          <a:prstGeom prst="rect">
            <a:avLst/>
          </a:prstGeom>
          <a:solidFill>
            <a:srgbClr val="C0392B"/>
          </a:solidFill>
          <a:ln w="12700">
            <a:solidFill>
              <a:srgbClr val="C0392B"/>
            </a:solidFill>
            <a:prstDash val="solid"/>
          </a:ln>
        </p:spPr>
        <p:txBody>
          <a:bodyPr/>
          <a:lstStyle/>
          <a:p>
            <a:endParaRPr lang="en-PT"/>
          </a:p>
        </p:txBody>
      </p:sp>
      <p:sp>
        <p:nvSpPr>
          <p:cNvPr id="22" name="Text 20"/>
          <p:cNvSpPr/>
          <p:nvPr/>
        </p:nvSpPr>
        <p:spPr>
          <a:xfrm>
            <a:off x="301752" y="3072384"/>
            <a:ext cx="301752" cy="256032"/>
          </a:xfrm>
          <a:prstGeom prst="rect">
            <a:avLst/>
          </a:prstGeom>
          <a:noFill/>
          <a:ln/>
        </p:spPr>
        <p:txBody>
          <a:bodyPr wrap="square"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03</a:t>
            </a:r>
            <a:endParaRPr lang="en-US" sz="1200"/>
          </a:p>
        </p:txBody>
      </p:sp>
      <p:sp>
        <p:nvSpPr>
          <p:cNvPr id="23" name="Text 21"/>
          <p:cNvSpPr/>
          <p:nvPr/>
        </p:nvSpPr>
        <p:spPr>
          <a:xfrm>
            <a:off x="685800" y="2798064"/>
            <a:ext cx="3822192" cy="228600"/>
          </a:xfrm>
          <a:prstGeom prst="rect">
            <a:avLst/>
          </a:prstGeom>
          <a:noFill/>
          <a:ln/>
        </p:spPr>
        <p:txBody>
          <a:bodyPr wrap="square" rtlCol="0" anchor="ctr"/>
          <a:lstStyle/>
          <a:p>
            <a:pPr marL="0" indent="0">
              <a:buNone/>
            </a:pPr>
            <a:r>
              <a:rPr lang="en-US" sz="1100" b="1">
                <a:solidFill>
                  <a:srgbClr val="C0392B"/>
                </a:solidFill>
                <a:latin typeface="Calibri" pitchFamily="34" charset="0"/>
                <a:ea typeface="Calibri" pitchFamily="34" charset="-122"/>
                <a:cs typeface="Calibri" pitchFamily="34" charset="-120"/>
              </a:rPr>
              <a:t>No data retention policy or timestamps</a:t>
            </a:r>
            <a:endParaRPr lang="en-US" sz="1100"/>
          </a:p>
        </p:txBody>
      </p:sp>
      <p:sp>
        <p:nvSpPr>
          <p:cNvPr id="24" name="Shape 22"/>
          <p:cNvSpPr/>
          <p:nvPr/>
        </p:nvSpPr>
        <p:spPr>
          <a:xfrm>
            <a:off x="685800" y="3035808"/>
            <a:ext cx="3822192" cy="164592"/>
          </a:xfrm>
          <a:prstGeom prst="rect">
            <a:avLst/>
          </a:prstGeom>
          <a:solidFill>
            <a:srgbClr val="FEE2E2"/>
          </a:solidFill>
          <a:ln w="12700">
            <a:solidFill>
              <a:srgbClr val="FCA5A5"/>
            </a:solidFill>
            <a:prstDash val="solid"/>
          </a:ln>
        </p:spPr>
        <p:txBody>
          <a:bodyPr/>
          <a:lstStyle/>
          <a:p>
            <a:endParaRPr lang="en-PT"/>
          </a:p>
        </p:txBody>
      </p:sp>
      <p:sp>
        <p:nvSpPr>
          <p:cNvPr id="25" name="Text 23"/>
          <p:cNvSpPr/>
          <p:nvPr/>
        </p:nvSpPr>
        <p:spPr>
          <a:xfrm>
            <a:off x="713232" y="3044952"/>
            <a:ext cx="3767328" cy="146304"/>
          </a:xfrm>
          <a:prstGeom prst="rect">
            <a:avLst/>
          </a:prstGeom>
          <a:noFill/>
          <a:ln/>
        </p:spPr>
        <p:txBody>
          <a:bodyPr wrap="square" rtlCol="0" anchor="ctr"/>
          <a:lstStyle/>
          <a:p>
            <a:pPr marL="0" indent="0">
              <a:buNone/>
            </a:pPr>
            <a:r>
              <a:rPr lang="en-US" sz="850" b="1">
                <a:solidFill>
                  <a:srgbClr val="C0392B"/>
                </a:solidFill>
                <a:latin typeface="Calibri" pitchFamily="34" charset="0"/>
                <a:ea typeface="Calibri" pitchFamily="34" charset="-122"/>
                <a:cs typeface="Calibri" pitchFamily="34" charset="-120"/>
              </a:rPr>
              <a:t>GDPR Art. 5(1)(e) · Art. 17</a:t>
            </a:r>
            <a:endParaRPr lang="en-US" sz="850"/>
          </a:p>
        </p:txBody>
      </p:sp>
      <p:sp>
        <p:nvSpPr>
          <p:cNvPr id="26" name="Text 24"/>
          <p:cNvSpPr/>
          <p:nvPr/>
        </p:nvSpPr>
        <p:spPr>
          <a:xfrm>
            <a:off x="685800" y="3227832"/>
            <a:ext cx="3822192" cy="384048"/>
          </a:xfrm>
          <a:prstGeom prst="rect">
            <a:avLst/>
          </a:prstGeom>
          <a:noFill/>
          <a:ln/>
        </p:spPr>
        <p:txBody>
          <a:bodyPr wrap="square" rtlCol="0" anchor="t"/>
          <a:lstStyle/>
          <a:p>
            <a:pPr marL="0" indent="0">
              <a:buNone/>
            </a:pPr>
            <a:r>
              <a:rPr lang="en-US" sz="950">
                <a:solidFill>
                  <a:srgbClr val="3D4A5C"/>
                </a:solidFill>
                <a:latin typeface="Calibri" pitchFamily="34" charset="0"/>
                <a:ea typeface="Calibri" pitchFamily="34" charset="-122"/>
                <a:cs typeface="Calibri" pitchFamily="34" charset="-120"/>
              </a:rPr>
              <a:t>Restore processing_timestamp. Define and automate a data retention and deletion schedule.</a:t>
            </a:r>
            <a:endParaRPr lang="en-US" sz="950"/>
          </a:p>
        </p:txBody>
      </p:sp>
      <p:sp>
        <p:nvSpPr>
          <p:cNvPr id="27" name="Shape 25"/>
          <p:cNvSpPr/>
          <p:nvPr/>
        </p:nvSpPr>
        <p:spPr>
          <a:xfrm>
            <a:off x="274320" y="3739896"/>
            <a:ext cx="4297680" cy="886968"/>
          </a:xfrm>
          <a:prstGeom prst="rect">
            <a:avLst/>
          </a:prstGeom>
          <a:solidFill>
            <a:srgbClr val="FFFFFF"/>
          </a:solidFill>
          <a:ln w="12700">
            <a:solidFill>
              <a:srgbClr val="D0D7E0"/>
            </a:solidFill>
            <a:prstDash val="solid"/>
          </a:ln>
          <a:effectLst>
            <a:outerShdw blurRad="76200" dist="25400" dir="8100000" algn="bl" rotWithShape="0">
              <a:srgbClr val="000000">
                <a:alpha val="10000"/>
              </a:srgbClr>
            </a:outerShdw>
          </a:effectLst>
        </p:spPr>
        <p:txBody>
          <a:bodyPr/>
          <a:lstStyle/>
          <a:p>
            <a:endParaRPr lang="en-PT"/>
          </a:p>
        </p:txBody>
      </p:sp>
      <p:sp>
        <p:nvSpPr>
          <p:cNvPr id="28" name="Shape 26"/>
          <p:cNvSpPr/>
          <p:nvPr/>
        </p:nvSpPr>
        <p:spPr>
          <a:xfrm>
            <a:off x="274320" y="3739896"/>
            <a:ext cx="347472" cy="886968"/>
          </a:xfrm>
          <a:prstGeom prst="rect">
            <a:avLst/>
          </a:prstGeom>
          <a:solidFill>
            <a:srgbClr val="C0392B"/>
          </a:solidFill>
          <a:ln w="12700">
            <a:solidFill>
              <a:srgbClr val="C0392B"/>
            </a:solidFill>
            <a:prstDash val="solid"/>
          </a:ln>
        </p:spPr>
        <p:txBody>
          <a:bodyPr/>
          <a:lstStyle/>
          <a:p>
            <a:endParaRPr lang="en-PT"/>
          </a:p>
        </p:txBody>
      </p:sp>
      <p:sp>
        <p:nvSpPr>
          <p:cNvPr id="29" name="Text 27"/>
          <p:cNvSpPr/>
          <p:nvPr/>
        </p:nvSpPr>
        <p:spPr>
          <a:xfrm>
            <a:off x="301752" y="4050792"/>
            <a:ext cx="301752" cy="256032"/>
          </a:xfrm>
          <a:prstGeom prst="rect">
            <a:avLst/>
          </a:prstGeom>
          <a:noFill/>
          <a:ln/>
        </p:spPr>
        <p:txBody>
          <a:bodyPr wrap="square"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04</a:t>
            </a:r>
            <a:endParaRPr lang="en-US" sz="1200"/>
          </a:p>
        </p:txBody>
      </p:sp>
      <p:sp>
        <p:nvSpPr>
          <p:cNvPr id="30" name="Text 28"/>
          <p:cNvSpPr/>
          <p:nvPr/>
        </p:nvSpPr>
        <p:spPr>
          <a:xfrm>
            <a:off x="685800" y="3776472"/>
            <a:ext cx="3822192" cy="228600"/>
          </a:xfrm>
          <a:prstGeom prst="rect">
            <a:avLst/>
          </a:prstGeom>
          <a:noFill/>
          <a:ln/>
        </p:spPr>
        <p:txBody>
          <a:bodyPr wrap="square" rtlCol="0" anchor="ctr"/>
          <a:lstStyle/>
          <a:p>
            <a:pPr marL="0" indent="0">
              <a:buNone/>
            </a:pPr>
            <a:r>
              <a:rPr lang="en-US" sz="1100" b="1">
                <a:solidFill>
                  <a:srgbClr val="C0392B"/>
                </a:solidFill>
                <a:latin typeface="Calibri" pitchFamily="34" charset="0"/>
                <a:ea typeface="Calibri" pitchFamily="34" charset="-122"/>
                <a:cs typeface="Calibri" pitchFamily="34" charset="-120"/>
              </a:rPr>
              <a:t>Behavioural data — no documented purpose</a:t>
            </a:r>
            <a:endParaRPr lang="en-US" sz="1100"/>
          </a:p>
        </p:txBody>
      </p:sp>
      <p:sp>
        <p:nvSpPr>
          <p:cNvPr id="31" name="Shape 29"/>
          <p:cNvSpPr/>
          <p:nvPr/>
        </p:nvSpPr>
        <p:spPr>
          <a:xfrm>
            <a:off x="685800" y="4014216"/>
            <a:ext cx="3822192" cy="164592"/>
          </a:xfrm>
          <a:prstGeom prst="rect">
            <a:avLst/>
          </a:prstGeom>
          <a:solidFill>
            <a:srgbClr val="FEE2E2"/>
          </a:solidFill>
          <a:ln w="12700">
            <a:solidFill>
              <a:srgbClr val="FCA5A5"/>
            </a:solidFill>
            <a:prstDash val="solid"/>
          </a:ln>
        </p:spPr>
        <p:txBody>
          <a:bodyPr/>
          <a:lstStyle/>
          <a:p>
            <a:endParaRPr lang="en-PT"/>
          </a:p>
        </p:txBody>
      </p:sp>
      <p:sp>
        <p:nvSpPr>
          <p:cNvPr id="32" name="Text 30"/>
          <p:cNvSpPr/>
          <p:nvPr/>
        </p:nvSpPr>
        <p:spPr>
          <a:xfrm>
            <a:off x="713232" y="4023360"/>
            <a:ext cx="3767328" cy="146304"/>
          </a:xfrm>
          <a:prstGeom prst="rect">
            <a:avLst/>
          </a:prstGeom>
          <a:noFill/>
          <a:ln/>
        </p:spPr>
        <p:txBody>
          <a:bodyPr wrap="square" rtlCol="0" anchor="ctr"/>
          <a:lstStyle/>
          <a:p>
            <a:pPr marL="0" indent="0">
              <a:buNone/>
            </a:pPr>
            <a:r>
              <a:rPr lang="en-US" sz="850" b="1">
                <a:solidFill>
                  <a:srgbClr val="C0392B"/>
                </a:solidFill>
                <a:latin typeface="Calibri" pitchFamily="34" charset="0"/>
                <a:ea typeface="Calibri" pitchFamily="34" charset="-122"/>
                <a:cs typeface="Calibri" pitchFamily="34" charset="-120"/>
              </a:rPr>
              <a:t>GDPR Art. 5(1)(b)(c) · Art. 22</a:t>
            </a:r>
            <a:endParaRPr lang="en-US" sz="850"/>
          </a:p>
        </p:txBody>
      </p:sp>
      <p:sp>
        <p:nvSpPr>
          <p:cNvPr id="33" name="Text 31"/>
          <p:cNvSpPr/>
          <p:nvPr/>
        </p:nvSpPr>
        <p:spPr>
          <a:xfrm>
            <a:off x="685800" y="4206240"/>
            <a:ext cx="3822192" cy="384048"/>
          </a:xfrm>
          <a:prstGeom prst="rect">
            <a:avLst/>
          </a:prstGeom>
          <a:noFill/>
          <a:ln/>
        </p:spPr>
        <p:txBody>
          <a:bodyPr wrap="square" rtlCol="0" anchor="t"/>
          <a:lstStyle/>
          <a:p>
            <a:pPr marL="0" indent="0">
              <a:buNone/>
            </a:pPr>
            <a:r>
              <a:rPr lang="en-US" sz="950">
                <a:solidFill>
                  <a:srgbClr val="3D4A5C"/>
                </a:solidFill>
                <a:latin typeface="Calibri" pitchFamily="34" charset="0"/>
                <a:ea typeface="Calibri" pitchFamily="34" charset="-122"/>
                <a:cs typeface="Calibri" pitchFamily="34" charset="-120"/>
              </a:rPr>
              <a:t>Document purpose per spending category. Confirm applicant notification. Remove fields with no modelling value.</a:t>
            </a:r>
            <a:endParaRPr lang="en-US" sz="950"/>
          </a:p>
        </p:txBody>
      </p:sp>
      <p:sp>
        <p:nvSpPr>
          <p:cNvPr id="34" name="Shape 32"/>
          <p:cNvSpPr/>
          <p:nvPr/>
        </p:nvSpPr>
        <p:spPr>
          <a:xfrm>
            <a:off x="4709160" y="804672"/>
            <a:ext cx="4297680" cy="886968"/>
          </a:xfrm>
          <a:prstGeom prst="rect">
            <a:avLst/>
          </a:prstGeom>
          <a:solidFill>
            <a:srgbClr val="FFFFFF"/>
          </a:solidFill>
          <a:ln w="12700">
            <a:solidFill>
              <a:srgbClr val="D0D7E0"/>
            </a:solidFill>
            <a:prstDash val="solid"/>
          </a:ln>
          <a:effectLst>
            <a:outerShdw blurRad="76200" dist="25400" dir="8100000" algn="bl" rotWithShape="0">
              <a:srgbClr val="000000">
                <a:alpha val="10000"/>
              </a:srgbClr>
            </a:outerShdw>
          </a:effectLst>
        </p:spPr>
        <p:txBody>
          <a:bodyPr/>
          <a:lstStyle/>
          <a:p>
            <a:endParaRPr lang="en-PT"/>
          </a:p>
        </p:txBody>
      </p:sp>
      <p:sp>
        <p:nvSpPr>
          <p:cNvPr id="35" name="Shape 33"/>
          <p:cNvSpPr/>
          <p:nvPr/>
        </p:nvSpPr>
        <p:spPr>
          <a:xfrm>
            <a:off x="4709160" y="804672"/>
            <a:ext cx="347472" cy="886968"/>
          </a:xfrm>
          <a:prstGeom prst="rect">
            <a:avLst/>
          </a:prstGeom>
          <a:solidFill>
            <a:srgbClr val="C0392B"/>
          </a:solidFill>
          <a:ln w="12700">
            <a:solidFill>
              <a:srgbClr val="C0392B"/>
            </a:solidFill>
            <a:prstDash val="solid"/>
          </a:ln>
        </p:spPr>
        <p:txBody>
          <a:bodyPr/>
          <a:lstStyle/>
          <a:p>
            <a:endParaRPr lang="en-PT"/>
          </a:p>
        </p:txBody>
      </p:sp>
      <p:sp>
        <p:nvSpPr>
          <p:cNvPr id="36" name="Text 34"/>
          <p:cNvSpPr/>
          <p:nvPr/>
        </p:nvSpPr>
        <p:spPr>
          <a:xfrm>
            <a:off x="4736592" y="1115568"/>
            <a:ext cx="301752" cy="256032"/>
          </a:xfrm>
          <a:prstGeom prst="rect">
            <a:avLst/>
          </a:prstGeom>
          <a:noFill/>
          <a:ln/>
        </p:spPr>
        <p:txBody>
          <a:bodyPr wrap="square"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05</a:t>
            </a:r>
            <a:endParaRPr lang="en-US" sz="1200"/>
          </a:p>
        </p:txBody>
      </p:sp>
      <p:sp>
        <p:nvSpPr>
          <p:cNvPr id="37" name="Text 35"/>
          <p:cNvSpPr/>
          <p:nvPr/>
        </p:nvSpPr>
        <p:spPr>
          <a:xfrm>
            <a:off x="5120640" y="841248"/>
            <a:ext cx="3822192" cy="228600"/>
          </a:xfrm>
          <a:prstGeom prst="rect">
            <a:avLst/>
          </a:prstGeom>
          <a:noFill/>
          <a:ln/>
        </p:spPr>
        <p:txBody>
          <a:bodyPr wrap="square" rtlCol="0" anchor="ctr"/>
          <a:lstStyle/>
          <a:p>
            <a:pPr marL="0" indent="0">
              <a:buNone/>
            </a:pPr>
            <a:r>
              <a:rPr lang="en-US" sz="1100" b="1">
                <a:solidFill>
                  <a:srgbClr val="C0392B"/>
                </a:solidFill>
                <a:latin typeface="Calibri" pitchFamily="34" charset="0"/>
                <a:ea typeface="Calibri" pitchFamily="34" charset="-122"/>
                <a:cs typeface="Calibri" pitchFamily="34" charset="-120"/>
              </a:rPr>
              <a:t>No audit trail — EU AI Act Art. 12 breach</a:t>
            </a:r>
            <a:endParaRPr lang="en-US" sz="1100"/>
          </a:p>
        </p:txBody>
      </p:sp>
      <p:sp>
        <p:nvSpPr>
          <p:cNvPr id="38" name="Shape 36"/>
          <p:cNvSpPr/>
          <p:nvPr/>
        </p:nvSpPr>
        <p:spPr>
          <a:xfrm>
            <a:off x="5120640" y="1078992"/>
            <a:ext cx="3822192" cy="164592"/>
          </a:xfrm>
          <a:prstGeom prst="rect">
            <a:avLst/>
          </a:prstGeom>
          <a:solidFill>
            <a:srgbClr val="FEE2E2"/>
          </a:solidFill>
          <a:ln w="12700">
            <a:solidFill>
              <a:srgbClr val="FCA5A5"/>
            </a:solidFill>
            <a:prstDash val="solid"/>
          </a:ln>
        </p:spPr>
        <p:txBody>
          <a:bodyPr/>
          <a:lstStyle/>
          <a:p>
            <a:endParaRPr lang="en-PT"/>
          </a:p>
        </p:txBody>
      </p:sp>
      <p:sp>
        <p:nvSpPr>
          <p:cNvPr id="39" name="Text 37"/>
          <p:cNvSpPr/>
          <p:nvPr/>
        </p:nvSpPr>
        <p:spPr>
          <a:xfrm>
            <a:off x="5148072" y="1088136"/>
            <a:ext cx="3767328" cy="146304"/>
          </a:xfrm>
          <a:prstGeom prst="rect">
            <a:avLst/>
          </a:prstGeom>
          <a:noFill/>
          <a:ln/>
        </p:spPr>
        <p:txBody>
          <a:bodyPr wrap="square" rtlCol="0" anchor="ctr"/>
          <a:lstStyle/>
          <a:p>
            <a:pPr marL="0" indent="0">
              <a:buNone/>
            </a:pPr>
            <a:r>
              <a:rPr lang="en-US" sz="850" b="1">
                <a:solidFill>
                  <a:srgbClr val="C0392B"/>
                </a:solidFill>
                <a:latin typeface="Calibri" pitchFamily="34" charset="0"/>
                <a:ea typeface="Calibri" pitchFamily="34" charset="-122"/>
                <a:cs typeface="Calibri" pitchFamily="34" charset="-120"/>
              </a:rPr>
              <a:t>EU AI Act Art. 12 · Art. 13</a:t>
            </a:r>
            <a:endParaRPr lang="en-US" sz="850"/>
          </a:p>
        </p:txBody>
      </p:sp>
      <p:sp>
        <p:nvSpPr>
          <p:cNvPr id="40" name="Text 38"/>
          <p:cNvSpPr/>
          <p:nvPr/>
        </p:nvSpPr>
        <p:spPr>
          <a:xfrm>
            <a:off x="5120640" y="1271016"/>
            <a:ext cx="3822192" cy="384048"/>
          </a:xfrm>
          <a:prstGeom prst="rect">
            <a:avLst/>
          </a:prstGeom>
          <a:noFill/>
          <a:ln/>
        </p:spPr>
        <p:txBody>
          <a:bodyPr wrap="square" rtlCol="0" anchor="t"/>
          <a:lstStyle/>
          <a:p>
            <a:pPr marL="0" indent="0">
              <a:buNone/>
            </a:pPr>
            <a:r>
              <a:rPr lang="en-US" sz="950">
                <a:solidFill>
                  <a:srgbClr val="3D4A5C"/>
                </a:solidFill>
                <a:latin typeface="Calibri" pitchFamily="34" charset="0"/>
                <a:ea typeface="Calibri" pitchFamily="34" charset="-122"/>
                <a:cs typeface="Calibri" pitchFamily="34" charset="-120"/>
              </a:rPr>
              <a:t>Introduce decision_id, model_version, and decision_timestamp. Maintain an append-only audit log.</a:t>
            </a:r>
            <a:endParaRPr lang="en-US" sz="950"/>
          </a:p>
        </p:txBody>
      </p:sp>
      <p:sp>
        <p:nvSpPr>
          <p:cNvPr id="41" name="Shape 39"/>
          <p:cNvSpPr/>
          <p:nvPr/>
        </p:nvSpPr>
        <p:spPr>
          <a:xfrm>
            <a:off x="4709160" y="1783080"/>
            <a:ext cx="4297680" cy="886968"/>
          </a:xfrm>
          <a:prstGeom prst="rect">
            <a:avLst/>
          </a:prstGeom>
          <a:solidFill>
            <a:srgbClr val="FFFFFF"/>
          </a:solidFill>
          <a:ln w="12700">
            <a:solidFill>
              <a:srgbClr val="D0D7E0"/>
            </a:solidFill>
            <a:prstDash val="solid"/>
          </a:ln>
          <a:effectLst>
            <a:outerShdw blurRad="76200" dist="25400" dir="8100000" algn="bl" rotWithShape="0">
              <a:srgbClr val="000000">
                <a:alpha val="10000"/>
              </a:srgbClr>
            </a:outerShdw>
          </a:effectLst>
        </p:spPr>
        <p:txBody>
          <a:bodyPr/>
          <a:lstStyle/>
          <a:p>
            <a:endParaRPr lang="en-PT"/>
          </a:p>
        </p:txBody>
      </p:sp>
      <p:sp>
        <p:nvSpPr>
          <p:cNvPr id="42" name="Shape 40"/>
          <p:cNvSpPr/>
          <p:nvPr/>
        </p:nvSpPr>
        <p:spPr>
          <a:xfrm>
            <a:off x="4709160" y="1783080"/>
            <a:ext cx="347472" cy="886968"/>
          </a:xfrm>
          <a:prstGeom prst="rect">
            <a:avLst/>
          </a:prstGeom>
          <a:solidFill>
            <a:srgbClr val="C0392B"/>
          </a:solidFill>
          <a:ln w="12700">
            <a:solidFill>
              <a:srgbClr val="C0392B"/>
            </a:solidFill>
            <a:prstDash val="solid"/>
          </a:ln>
        </p:spPr>
        <p:txBody>
          <a:bodyPr/>
          <a:lstStyle/>
          <a:p>
            <a:endParaRPr lang="en-PT"/>
          </a:p>
        </p:txBody>
      </p:sp>
      <p:sp>
        <p:nvSpPr>
          <p:cNvPr id="43" name="Text 41"/>
          <p:cNvSpPr/>
          <p:nvPr/>
        </p:nvSpPr>
        <p:spPr>
          <a:xfrm>
            <a:off x="4736592" y="2093976"/>
            <a:ext cx="301752" cy="256032"/>
          </a:xfrm>
          <a:prstGeom prst="rect">
            <a:avLst/>
          </a:prstGeom>
          <a:noFill/>
          <a:ln/>
        </p:spPr>
        <p:txBody>
          <a:bodyPr wrap="square"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06</a:t>
            </a:r>
            <a:endParaRPr lang="en-US" sz="1200"/>
          </a:p>
        </p:txBody>
      </p:sp>
      <p:sp>
        <p:nvSpPr>
          <p:cNvPr id="44" name="Text 42"/>
          <p:cNvSpPr/>
          <p:nvPr/>
        </p:nvSpPr>
        <p:spPr>
          <a:xfrm>
            <a:off x="5120640" y="1819656"/>
            <a:ext cx="3822192" cy="228600"/>
          </a:xfrm>
          <a:prstGeom prst="rect">
            <a:avLst/>
          </a:prstGeom>
          <a:noFill/>
          <a:ln/>
        </p:spPr>
        <p:txBody>
          <a:bodyPr wrap="square" rtlCol="0" anchor="ctr"/>
          <a:lstStyle/>
          <a:p>
            <a:pPr marL="0" indent="0">
              <a:buNone/>
            </a:pPr>
            <a:r>
              <a:rPr lang="en-US" sz="1100" b="1">
                <a:solidFill>
                  <a:srgbClr val="C0392B"/>
                </a:solidFill>
                <a:latin typeface="Calibri" pitchFamily="34" charset="0"/>
                <a:ea typeface="Calibri" pitchFamily="34" charset="-122"/>
                <a:cs typeface="Calibri" pitchFamily="34" charset="-120"/>
              </a:rPr>
              <a:t>169 automated rejections — no human review</a:t>
            </a:r>
            <a:endParaRPr lang="en-US" sz="1100"/>
          </a:p>
        </p:txBody>
      </p:sp>
      <p:sp>
        <p:nvSpPr>
          <p:cNvPr id="45" name="Shape 43"/>
          <p:cNvSpPr/>
          <p:nvPr/>
        </p:nvSpPr>
        <p:spPr>
          <a:xfrm>
            <a:off x="5120640" y="2057400"/>
            <a:ext cx="3822192" cy="164592"/>
          </a:xfrm>
          <a:prstGeom prst="rect">
            <a:avLst/>
          </a:prstGeom>
          <a:solidFill>
            <a:srgbClr val="FEE2E2"/>
          </a:solidFill>
          <a:ln w="12700">
            <a:solidFill>
              <a:srgbClr val="FCA5A5"/>
            </a:solidFill>
            <a:prstDash val="solid"/>
          </a:ln>
        </p:spPr>
        <p:txBody>
          <a:bodyPr/>
          <a:lstStyle/>
          <a:p>
            <a:endParaRPr lang="en-PT"/>
          </a:p>
        </p:txBody>
      </p:sp>
      <p:sp>
        <p:nvSpPr>
          <p:cNvPr id="46" name="Text 44"/>
          <p:cNvSpPr/>
          <p:nvPr/>
        </p:nvSpPr>
        <p:spPr>
          <a:xfrm>
            <a:off x="5148072" y="2066544"/>
            <a:ext cx="3767328" cy="146304"/>
          </a:xfrm>
          <a:prstGeom prst="rect">
            <a:avLst/>
          </a:prstGeom>
          <a:noFill/>
          <a:ln/>
        </p:spPr>
        <p:txBody>
          <a:bodyPr wrap="square" rtlCol="0" anchor="ctr"/>
          <a:lstStyle/>
          <a:p>
            <a:pPr marL="0" indent="0">
              <a:buNone/>
            </a:pPr>
            <a:r>
              <a:rPr lang="en-US" sz="850" b="1">
                <a:solidFill>
                  <a:srgbClr val="C0392B"/>
                </a:solidFill>
                <a:latin typeface="Calibri" pitchFamily="34" charset="0"/>
                <a:ea typeface="Calibri" pitchFamily="34" charset="-122"/>
                <a:cs typeface="Calibri" pitchFamily="34" charset="-120"/>
              </a:rPr>
              <a:t>GDPR Art. 22 · AI Act Art. 14</a:t>
            </a:r>
            <a:endParaRPr lang="en-US" sz="850"/>
          </a:p>
        </p:txBody>
      </p:sp>
      <p:sp>
        <p:nvSpPr>
          <p:cNvPr id="47" name="Text 45"/>
          <p:cNvSpPr/>
          <p:nvPr/>
        </p:nvSpPr>
        <p:spPr>
          <a:xfrm>
            <a:off x="5120640" y="2249424"/>
            <a:ext cx="3822192" cy="384048"/>
          </a:xfrm>
          <a:prstGeom prst="rect">
            <a:avLst/>
          </a:prstGeom>
          <a:noFill/>
          <a:ln/>
        </p:spPr>
        <p:txBody>
          <a:bodyPr wrap="square" rtlCol="0" anchor="t"/>
          <a:lstStyle/>
          <a:p>
            <a:pPr marL="0" indent="0">
              <a:buNone/>
            </a:pPr>
            <a:r>
              <a:rPr lang="en-US" sz="950">
                <a:solidFill>
                  <a:srgbClr val="3D4A5C"/>
                </a:solidFill>
                <a:latin typeface="Calibri" pitchFamily="34" charset="0"/>
                <a:ea typeface="Calibri" pitchFamily="34" charset="-122"/>
                <a:cs typeface="Calibri" pitchFamily="34" charset="-120"/>
              </a:rPr>
              <a:t>Require human review for all automated rejections. Establish a formal contestability pathway.</a:t>
            </a:r>
            <a:endParaRPr lang="en-US" sz="950"/>
          </a:p>
        </p:txBody>
      </p:sp>
      <p:sp>
        <p:nvSpPr>
          <p:cNvPr id="48" name="Shape 46"/>
          <p:cNvSpPr/>
          <p:nvPr/>
        </p:nvSpPr>
        <p:spPr>
          <a:xfrm>
            <a:off x="4709160" y="2761488"/>
            <a:ext cx="4297680" cy="886968"/>
          </a:xfrm>
          <a:prstGeom prst="rect">
            <a:avLst/>
          </a:prstGeom>
          <a:solidFill>
            <a:srgbClr val="FFFFFF"/>
          </a:solidFill>
          <a:ln w="12700">
            <a:solidFill>
              <a:srgbClr val="D0D7E0"/>
            </a:solidFill>
            <a:prstDash val="solid"/>
          </a:ln>
          <a:effectLst>
            <a:outerShdw blurRad="76200" dist="25400" dir="8100000" algn="bl" rotWithShape="0">
              <a:srgbClr val="000000">
                <a:alpha val="10000"/>
              </a:srgbClr>
            </a:outerShdw>
          </a:effectLst>
        </p:spPr>
        <p:txBody>
          <a:bodyPr/>
          <a:lstStyle/>
          <a:p>
            <a:endParaRPr lang="en-PT"/>
          </a:p>
        </p:txBody>
      </p:sp>
      <p:sp>
        <p:nvSpPr>
          <p:cNvPr id="49" name="Shape 47"/>
          <p:cNvSpPr/>
          <p:nvPr/>
        </p:nvSpPr>
        <p:spPr>
          <a:xfrm>
            <a:off x="4709160" y="2761488"/>
            <a:ext cx="347472" cy="886968"/>
          </a:xfrm>
          <a:prstGeom prst="rect">
            <a:avLst/>
          </a:prstGeom>
          <a:solidFill>
            <a:srgbClr val="C0392B"/>
          </a:solidFill>
          <a:ln w="12700">
            <a:solidFill>
              <a:srgbClr val="C0392B"/>
            </a:solidFill>
            <a:prstDash val="solid"/>
          </a:ln>
        </p:spPr>
        <p:txBody>
          <a:bodyPr/>
          <a:lstStyle/>
          <a:p>
            <a:endParaRPr lang="en-PT"/>
          </a:p>
        </p:txBody>
      </p:sp>
      <p:sp>
        <p:nvSpPr>
          <p:cNvPr id="50" name="Text 48"/>
          <p:cNvSpPr/>
          <p:nvPr/>
        </p:nvSpPr>
        <p:spPr>
          <a:xfrm>
            <a:off x="4736592" y="3072384"/>
            <a:ext cx="301752" cy="256032"/>
          </a:xfrm>
          <a:prstGeom prst="rect">
            <a:avLst/>
          </a:prstGeom>
          <a:noFill/>
          <a:ln/>
        </p:spPr>
        <p:txBody>
          <a:bodyPr wrap="square"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07</a:t>
            </a:r>
            <a:endParaRPr lang="en-US" sz="1200"/>
          </a:p>
        </p:txBody>
      </p:sp>
      <p:sp>
        <p:nvSpPr>
          <p:cNvPr id="51" name="Text 49"/>
          <p:cNvSpPr/>
          <p:nvPr/>
        </p:nvSpPr>
        <p:spPr>
          <a:xfrm>
            <a:off x="5120640" y="2798064"/>
            <a:ext cx="3822192" cy="228600"/>
          </a:xfrm>
          <a:prstGeom prst="rect">
            <a:avLst/>
          </a:prstGeom>
          <a:noFill/>
          <a:ln/>
        </p:spPr>
        <p:txBody>
          <a:bodyPr wrap="square" rtlCol="0" anchor="ctr"/>
          <a:lstStyle/>
          <a:p>
            <a:pPr marL="0" indent="0">
              <a:buNone/>
            </a:pPr>
            <a:r>
              <a:rPr lang="en-US" sz="1100" b="1">
                <a:solidFill>
                  <a:srgbClr val="C0392B"/>
                </a:solidFill>
                <a:latin typeface="Calibri" pitchFamily="34" charset="0"/>
                <a:ea typeface="Calibri" pitchFamily="34" charset="-122"/>
                <a:cs typeface="Calibri" pitchFamily="34" charset="-120"/>
              </a:rPr>
              <a:t>No explainability or appeal mechanism</a:t>
            </a:r>
            <a:endParaRPr lang="en-US" sz="1100"/>
          </a:p>
        </p:txBody>
      </p:sp>
      <p:sp>
        <p:nvSpPr>
          <p:cNvPr id="52" name="Shape 50"/>
          <p:cNvSpPr/>
          <p:nvPr/>
        </p:nvSpPr>
        <p:spPr>
          <a:xfrm>
            <a:off x="5120640" y="3035808"/>
            <a:ext cx="3822192" cy="164592"/>
          </a:xfrm>
          <a:prstGeom prst="rect">
            <a:avLst/>
          </a:prstGeom>
          <a:solidFill>
            <a:srgbClr val="FEE2E2"/>
          </a:solidFill>
          <a:ln w="12700">
            <a:solidFill>
              <a:srgbClr val="FCA5A5"/>
            </a:solidFill>
            <a:prstDash val="solid"/>
          </a:ln>
        </p:spPr>
        <p:txBody>
          <a:bodyPr/>
          <a:lstStyle/>
          <a:p>
            <a:endParaRPr lang="en-PT"/>
          </a:p>
        </p:txBody>
      </p:sp>
      <p:sp>
        <p:nvSpPr>
          <p:cNvPr id="53" name="Text 51"/>
          <p:cNvSpPr/>
          <p:nvPr/>
        </p:nvSpPr>
        <p:spPr>
          <a:xfrm>
            <a:off x="5148072" y="3044952"/>
            <a:ext cx="3767328" cy="146304"/>
          </a:xfrm>
          <a:prstGeom prst="rect">
            <a:avLst/>
          </a:prstGeom>
          <a:noFill/>
          <a:ln/>
        </p:spPr>
        <p:txBody>
          <a:bodyPr wrap="square" rtlCol="0" anchor="ctr"/>
          <a:lstStyle/>
          <a:p>
            <a:pPr marL="0" indent="0">
              <a:buNone/>
            </a:pPr>
            <a:r>
              <a:rPr lang="en-US" sz="850" b="1">
                <a:solidFill>
                  <a:srgbClr val="C0392B"/>
                </a:solidFill>
                <a:latin typeface="Calibri" pitchFamily="34" charset="0"/>
                <a:ea typeface="Calibri" pitchFamily="34" charset="-122"/>
                <a:cs typeface="Calibri" pitchFamily="34" charset="-120"/>
              </a:rPr>
              <a:t>GDPR Art. 22(3) · AI Act Art. 13</a:t>
            </a:r>
            <a:endParaRPr lang="en-US" sz="850"/>
          </a:p>
        </p:txBody>
      </p:sp>
      <p:sp>
        <p:nvSpPr>
          <p:cNvPr id="54" name="Text 52"/>
          <p:cNvSpPr/>
          <p:nvPr/>
        </p:nvSpPr>
        <p:spPr>
          <a:xfrm>
            <a:off x="5120640" y="3227832"/>
            <a:ext cx="3822192" cy="384048"/>
          </a:xfrm>
          <a:prstGeom prst="rect">
            <a:avLst/>
          </a:prstGeom>
          <a:noFill/>
          <a:ln/>
        </p:spPr>
        <p:txBody>
          <a:bodyPr wrap="square" rtlCol="0" anchor="t"/>
          <a:lstStyle/>
          <a:p>
            <a:pPr marL="0" indent="0">
              <a:buNone/>
            </a:pPr>
            <a:r>
              <a:rPr lang="en-US" sz="950">
                <a:solidFill>
                  <a:srgbClr val="3D4A5C"/>
                </a:solidFill>
                <a:latin typeface="Calibri" pitchFamily="34" charset="0"/>
                <a:ea typeface="Calibri" pitchFamily="34" charset="-122"/>
                <a:cs typeface="Calibri" pitchFamily="34" charset="-120"/>
              </a:rPr>
              <a:t>Deploy SHAP/LIME explanations for all decisions. Provide plain-language rationale and a documented appeal route.</a:t>
            </a:r>
            <a:endParaRPr lang="en-US" sz="950"/>
          </a:p>
        </p:txBody>
      </p:sp>
      <p:sp>
        <p:nvSpPr>
          <p:cNvPr id="55" name="Shape 53"/>
          <p:cNvSpPr/>
          <p:nvPr/>
        </p:nvSpPr>
        <p:spPr>
          <a:xfrm>
            <a:off x="4709160" y="3739896"/>
            <a:ext cx="4297680" cy="886968"/>
          </a:xfrm>
          <a:prstGeom prst="rect">
            <a:avLst/>
          </a:prstGeom>
          <a:solidFill>
            <a:srgbClr val="FFFFFF"/>
          </a:solidFill>
          <a:ln w="12700">
            <a:solidFill>
              <a:srgbClr val="D0D7E0"/>
            </a:solidFill>
            <a:prstDash val="solid"/>
          </a:ln>
          <a:effectLst>
            <a:outerShdw blurRad="76200" dist="25400" dir="8100000" algn="bl" rotWithShape="0">
              <a:srgbClr val="000000">
                <a:alpha val="10000"/>
              </a:srgbClr>
            </a:outerShdw>
          </a:effectLst>
        </p:spPr>
        <p:txBody>
          <a:bodyPr/>
          <a:lstStyle/>
          <a:p>
            <a:endParaRPr lang="en-PT"/>
          </a:p>
        </p:txBody>
      </p:sp>
      <p:sp>
        <p:nvSpPr>
          <p:cNvPr id="56" name="Shape 54"/>
          <p:cNvSpPr/>
          <p:nvPr/>
        </p:nvSpPr>
        <p:spPr>
          <a:xfrm>
            <a:off x="4709160" y="3739896"/>
            <a:ext cx="347472" cy="886968"/>
          </a:xfrm>
          <a:prstGeom prst="rect">
            <a:avLst/>
          </a:prstGeom>
          <a:solidFill>
            <a:srgbClr val="C0392B"/>
          </a:solidFill>
          <a:ln w="12700">
            <a:solidFill>
              <a:srgbClr val="C0392B"/>
            </a:solidFill>
            <a:prstDash val="solid"/>
          </a:ln>
        </p:spPr>
        <p:txBody>
          <a:bodyPr/>
          <a:lstStyle/>
          <a:p>
            <a:endParaRPr lang="en-PT"/>
          </a:p>
        </p:txBody>
      </p:sp>
      <p:sp>
        <p:nvSpPr>
          <p:cNvPr id="57" name="Text 55"/>
          <p:cNvSpPr/>
          <p:nvPr/>
        </p:nvSpPr>
        <p:spPr>
          <a:xfrm>
            <a:off x="4736592" y="4050792"/>
            <a:ext cx="301752" cy="256032"/>
          </a:xfrm>
          <a:prstGeom prst="rect">
            <a:avLst/>
          </a:prstGeom>
          <a:noFill/>
          <a:ln/>
        </p:spPr>
        <p:txBody>
          <a:bodyPr wrap="square"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08</a:t>
            </a:r>
            <a:endParaRPr lang="en-US" sz="1200"/>
          </a:p>
        </p:txBody>
      </p:sp>
      <p:sp>
        <p:nvSpPr>
          <p:cNvPr id="58" name="Text 56"/>
          <p:cNvSpPr/>
          <p:nvPr/>
        </p:nvSpPr>
        <p:spPr>
          <a:xfrm>
            <a:off x="5120640" y="3776472"/>
            <a:ext cx="3822192" cy="228600"/>
          </a:xfrm>
          <a:prstGeom prst="rect">
            <a:avLst/>
          </a:prstGeom>
          <a:noFill/>
          <a:ln/>
        </p:spPr>
        <p:txBody>
          <a:bodyPr wrap="square" lIns="91440" tIns="45720" rIns="91440" bIns="45720" rtlCol="0" anchor="ctr"/>
          <a:lstStyle/>
          <a:p>
            <a:r>
              <a:rPr lang="en-US" sz="1100" b="1">
                <a:solidFill>
                  <a:srgbClr val="C0392B"/>
                </a:solidFill>
                <a:latin typeface="Calibri"/>
                <a:ea typeface="Calibri"/>
                <a:cs typeface="Calibri"/>
              </a:rPr>
              <a:t>High-Risk AI system — conformity to improve</a:t>
            </a:r>
            <a:endParaRPr lang="en-US" sz="1100"/>
          </a:p>
        </p:txBody>
      </p:sp>
      <p:sp>
        <p:nvSpPr>
          <p:cNvPr id="59" name="Shape 57"/>
          <p:cNvSpPr/>
          <p:nvPr/>
        </p:nvSpPr>
        <p:spPr>
          <a:xfrm>
            <a:off x="5120640" y="4014216"/>
            <a:ext cx="3822192" cy="164592"/>
          </a:xfrm>
          <a:prstGeom prst="rect">
            <a:avLst/>
          </a:prstGeom>
          <a:solidFill>
            <a:srgbClr val="FEE2E2"/>
          </a:solidFill>
          <a:ln w="12700">
            <a:solidFill>
              <a:srgbClr val="FCA5A5"/>
            </a:solidFill>
            <a:prstDash val="solid"/>
          </a:ln>
        </p:spPr>
        <p:txBody>
          <a:bodyPr/>
          <a:lstStyle/>
          <a:p>
            <a:endParaRPr lang="en-PT"/>
          </a:p>
        </p:txBody>
      </p:sp>
      <p:sp>
        <p:nvSpPr>
          <p:cNvPr id="60" name="Text 58"/>
          <p:cNvSpPr/>
          <p:nvPr/>
        </p:nvSpPr>
        <p:spPr>
          <a:xfrm>
            <a:off x="5148072" y="4023360"/>
            <a:ext cx="3767328" cy="146304"/>
          </a:xfrm>
          <a:prstGeom prst="rect">
            <a:avLst/>
          </a:prstGeom>
          <a:noFill/>
          <a:ln/>
        </p:spPr>
        <p:txBody>
          <a:bodyPr wrap="square" rtlCol="0" anchor="ctr"/>
          <a:lstStyle/>
          <a:p>
            <a:pPr marL="0" indent="0">
              <a:buNone/>
            </a:pPr>
            <a:r>
              <a:rPr lang="en-US" sz="850" b="1">
                <a:solidFill>
                  <a:srgbClr val="C0392B"/>
                </a:solidFill>
                <a:latin typeface="Calibri" pitchFamily="34" charset="0"/>
                <a:ea typeface="Calibri" pitchFamily="34" charset="-122"/>
                <a:cs typeface="Calibri" pitchFamily="34" charset="-120"/>
              </a:rPr>
              <a:t>AI Act Annex III · Art. 6 · Art. 10</a:t>
            </a:r>
            <a:endParaRPr lang="en-US" sz="850"/>
          </a:p>
        </p:txBody>
      </p:sp>
      <p:sp>
        <p:nvSpPr>
          <p:cNvPr id="61" name="Text 59"/>
          <p:cNvSpPr/>
          <p:nvPr/>
        </p:nvSpPr>
        <p:spPr>
          <a:xfrm>
            <a:off x="5120640" y="4206240"/>
            <a:ext cx="3822192" cy="384048"/>
          </a:xfrm>
          <a:prstGeom prst="rect">
            <a:avLst/>
          </a:prstGeom>
          <a:noFill/>
          <a:ln/>
        </p:spPr>
        <p:txBody>
          <a:bodyPr wrap="square" rtlCol="0" anchor="t"/>
          <a:lstStyle/>
          <a:p>
            <a:pPr marL="0" indent="0">
              <a:buNone/>
            </a:pPr>
            <a:r>
              <a:rPr lang="en-US" sz="950">
                <a:solidFill>
                  <a:srgbClr val="3D4A5C"/>
                </a:solidFill>
                <a:latin typeface="Calibri" pitchFamily="34" charset="0"/>
                <a:ea typeface="Calibri" pitchFamily="34" charset="-122"/>
                <a:cs typeface="Calibri" pitchFamily="34" charset="-120"/>
              </a:rPr>
              <a:t>Complete DPIA and EU AI Act conformity assessment. Appoint a Data Protection Officer. Deploy a fairness monitoring dashboard.</a:t>
            </a:r>
            <a:endParaRPr lang="en-US" sz="950"/>
          </a:p>
        </p:txBody>
      </p:sp>
      <p:sp>
        <p:nvSpPr>
          <p:cNvPr id="62" name="Shape 60"/>
          <p:cNvSpPr/>
          <p:nvPr/>
        </p:nvSpPr>
        <p:spPr>
          <a:xfrm>
            <a:off x="0" y="4864608"/>
            <a:ext cx="9144000" cy="278892"/>
          </a:xfrm>
          <a:prstGeom prst="rect">
            <a:avLst/>
          </a:prstGeom>
          <a:solidFill>
            <a:srgbClr val="000000"/>
          </a:solidFill>
          <a:ln w="12700">
            <a:solidFill>
              <a:srgbClr val="000000"/>
            </a:solidFill>
            <a:prstDash val="solid"/>
          </a:ln>
        </p:spPr>
        <p:txBody>
          <a:bodyPr/>
          <a:lstStyle/>
          <a:p>
            <a:endParaRPr lang="en-PT"/>
          </a:p>
        </p:txBody>
      </p:sp>
      <p:sp>
        <p:nvSpPr>
          <p:cNvPr id="63" name="Text 61"/>
          <p:cNvSpPr/>
          <p:nvPr/>
        </p:nvSpPr>
        <p:spPr>
          <a:xfrm>
            <a:off x="274320" y="4873752"/>
            <a:ext cx="8046720" cy="246888"/>
          </a:xfrm>
          <a:prstGeom prst="rect">
            <a:avLst/>
          </a:prstGeom>
          <a:noFill/>
          <a:ln/>
        </p:spPr>
        <p:txBody>
          <a:bodyPr wrap="square" rtlCol="0" anchor="ctr"/>
          <a:lstStyle/>
          <a:p>
            <a:pPr marL="0" indent="0">
              <a:buNone/>
            </a:pPr>
            <a:r>
              <a:rPr lang="en-US" sz="800">
                <a:solidFill>
                  <a:srgbClr val="999999"/>
                </a:solidFill>
                <a:latin typeface="Calibri" pitchFamily="34" charset="0"/>
                <a:ea typeface="Calibri" pitchFamily="34" charset="-122"/>
                <a:cs typeface="Calibri" pitchFamily="34" charset="-120"/>
              </a:rPr>
              <a:t>Team 14 — TXB  |  NovaCred Credit Governance  |  DEGO 2606, Nova SBE</a:t>
            </a:r>
            <a:endParaRPr lang="en-US" sz="800"/>
          </a:p>
        </p:txBody>
      </p:sp>
      <p:sp>
        <p:nvSpPr>
          <p:cNvPr id="64" name="Text 62"/>
          <p:cNvSpPr/>
          <p:nvPr/>
        </p:nvSpPr>
        <p:spPr>
          <a:xfrm>
            <a:off x="8686800" y="4873752"/>
            <a:ext cx="365760" cy="246888"/>
          </a:xfrm>
          <a:prstGeom prst="rect">
            <a:avLst/>
          </a:prstGeom>
          <a:noFill/>
          <a:ln/>
        </p:spPr>
        <p:txBody>
          <a:bodyPr wrap="square" rtlCol="0" anchor="ctr"/>
          <a:lstStyle/>
          <a:p>
            <a:pPr marL="0" indent="0" algn="r">
              <a:buNone/>
            </a:pPr>
            <a:r>
              <a:rPr lang="en-US" sz="950">
                <a:solidFill>
                  <a:srgbClr val="999999"/>
                </a:solidFill>
                <a:latin typeface="Calibri" pitchFamily="34" charset="0"/>
                <a:ea typeface="Calibri" pitchFamily="34" charset="-122"/>
                <a:cs typeface="Calibri" pitchFamily="34" charset="-120"/>
              </a:rPr>
              <a:t>10</a:t>
            </a:r>
            <a:endParaRPr lang="en-US" sz="95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A2744"/>
          </a:solidFill>
          <a:ln w="12700">
            <a:solidFill>
              <a:srgbClr val="1A2744"/>
            </a:solidFill>
            <a:prstDash val="solid"/>
          </a:ln>
        </p:spPr>
        <p:txBody>
          <a:bodyPr/>
          <a:lstStyle/>
          <a:p>
            <a:endParaRPr lang="en-PT"/>
          </a:p>
        </p:txBody>
      </p:sp>
      <p:sp>
        <p:nvSpPr>
          <p:cNvPr id="3" name="Shape 1"/>
          <p:cNvSpPr/>
          <p:nvPr/>
        </p:nvSpPr>
        <p:spPr>
          <a:xfrm>
            <a:off x="0" y="0"/>
            <a:ext cx="274320" cy="713232"/>
          </a:xfrm>
          <a:prstGeom prst="rect">
            <a:avLst/>
          </a:prstGeom>
          <a:solidFill>
            <a:srgbClr val="C0392B"/>
          </a:solidFill>
          <a:ln w="12700">
            <a:solidFill>
              <a:srgbClr val="C0392B"/>
            </a:solidFill>
            <a:prstDash val="solid"/>
          </a:ln>
        </p:spPr>
        <p:txBody>
          <a:bodyPr/>
          <a:lstStyle/>
          <a:p>
            <a:endParaRPr lang="en-PT"/>
          </a:p>
        </p:txBody>
      </p:sp>
      <p:sp>
        <p:nvSpPr>
          <p:cNvPr id="4" name="Text 2"/>
          <p:cNvSpPr/>
          <p:nvPr/>
        </p:nvSpPr>
        <p:spPr>
          <a:xfrm>
            <a:off x="411480" y="73152"/>
            <a:ext cx="8503920" cy="411480"/>
          </a:xfrm>
          <a:prstGeom prst="rect">
            <a:avLst/>
          </a:prstGeom>
          <a:noFill/>
          <a:ln/>
        </p:spPr>
        <p:txBody>
          <a:bodyPr wrap="square" rtlCol="0" anchor="ctr"/>
          <a:lstStyle/>
          <a:p>
            <a:pPr marL="0" indent="0">
              <a:buNone/>
            </a:pPr>
            <a:r>
              <a:rPr lang="en-US" sz="2200" b="1">
                <a:solidFill>
                  <a:srgbClr val="FFFFFF"/>
                </a:solidFill>
                <a:latin typeface="Georgia" pitchFamily="34" charset="0"/>
                <a:ea typeface="Georgia" pitchFamily="34" charset="-122"/>
                <a:cs typeface="Georgia" pitchFamily="34" charset="-120"/>
              </a:rPr>
              <a:t>Key Findings &amp; Conclusion</a:t>
            </a:r>
            <a:endParaRPr lang="en-US" sz="2200"/>
          </a:p>
        </p:txBody>
      </p:sp>
      <p:sp>
        <p:nvSpPr>
          <p:cNvPr id="5" name="Text 3"/>
          <p:cNvSpPr/>
          <p:nvPr/>
        </p:nvSpPr>
        <p:spPr>
          <a:xfrm>
            <a:off x="411480" y="475488"/>
            <a:ext cx="8503920" cy="201168"/>
          </a:xfrm>
          <a:prstGeom prst="rect">
            <a:avLst/>
          </a:prstGeom>
          <a:noFill/>
          <a:ln/>
        </p:spPr>
        <p:txBody>
          <a:bodyPr wrap="square" rtlCol="0" anchor="ctr"/>
          <a:lstStyle/>
          <a:p>
            <a:pPr marL="0" indent="0">
              <a:buNone/>
            </a:pPr>
            <a:r>
              <a:rPr lang="en-US" sz="1100" i="1">
                <a:solidFill>
                  <a:srgbClr val="AABBD0"/>
                </a:solidFill>
                <a:latin typeface="Calibri" pitchFamily="34" charset="0"/>
                <a:ea typeface="Calibri" pitchFamily="34" charset="-122"/>
                <a:cs typeface="Calibri" pitchFamily="34" charset="-120"/>
              </a:rPr>
              <a:t>NovaCred requires fundamental governance redesign before its credit scoring system can be considered fair, compliant, and safe to deploy</a:t>
            </a:r>
            <a:endParaRPr lang="en-US" sz="1100"/>
          </a:p>
        </p:txBody>
      </p:sp>
      <p:sp>
        <p:nvSpPr>
          <p:cNvPr id="6" name="Shape 4"/>
          <p:cNvSpPr/>
          <p:nvPr/>
        </p:nvSpPr>
        <p:spPr>
          <a:xfrm>
            <a:off x="274320" y="822960"/>
            <a:ext cx="2029968" cy="3794760"/>
          </a:xfrm>
          <a:prstGeom prst="rect">
            <a:avLst/>
          </a:prstGeom>
          <a:solidFill>
            <a:srgbClr val="FFFFFF"/>
          </a:solidFill>
          <a:ln w="12700">
            <a:solidFill>
              <a:srgbClr val="D0D7E0"/>
            </a:solidFill>
            <a:prstDash val="solid"/>
          </a:ln>
          <a:effectLst>
            <a:outerShdw blurRad="76200" dist="25400" dir="8100000" algn="bl" rotWithShape="0">
              <a:srgbClr val="000000">
                <a:alpha val="10000"/>
              </a:srgbClr>
            </a:outerShdw>
          </a:effectLst>
        </p:spPr>
        <p:txBody>
          <a:bodyPr/>
          <a:lstStyle/>
          <a:p>
            <a:endParaRPr lang="en-PT"/>
          </a:p>
        </p:txBody>
      </p:sp>
      <p:sp>
        <p:nvSpPr>
          <p:cNvPr id="7" name="Shape 5"/>
          <p:cNvSpPr/>
          <p:nvPr/>
        </p:nvSpPr>
        <p:spPr>
          <a:xfrm>
            <a:off x="274320" y="822960"/>
            <a:ext cx="2029968" cy="347472"/>
          </a:xfrm>
          <a:prstGeom prst="rect">
            <a:avLst/>
          </a:prstGeom>
          <a:solidFill>
            <a:srgbClr val="27AE60"/>
          </a:solidFill>
          <a:ln w="12700">
            <a:solidFill>
              <a:srgbClr val="27AE60"/>
            </a:solidFill>
            <a:prstDash val="solid"/>
          </a:ln>
        </p:spPr>
        <p:txBody>
          <a:bodyPr/>
          <a:lstStyle/>
          <a:p>
            <a:endParaRPr lang="en-PT"/>
          </a:p>
        </p:txBody>
      </p:sp>
      <p:sp>
        <p:nvSpPr>
          <p:cNvPr id="8" name="Text 6"/>
          <p:cNvSpPr/>
          <p:nvPr/>
        </p:nvSpPr>
        <p:spPr>
          <a:xfrm>
            <a:off x="347472" y="841248"/>
            <a:ext cx="1883664" cy="301752"/>
          </a:xfrm>
          <a:prstGeom prst="rect">
            <a:avLst/>
          </a:prstGeom>
          <a:noFill/>
          <a:ln/>
        </p:spPr>
        <p:txBody>
          <a:bodyPr wrap="square" rtlCol="0" anchor="ctr"/>
          <a:lstStyle/>
          <a:p>
            <a:pPr marL="0" indent="0">
              <a:buNone/>
            </a:pPr>
            <a:r>
              <a:rPr lang="en-US" sz="1000" b="1">
                <a:solidFill>
                  <a:srgbClr val="FFFFFF"/>
                </a:solidFill>
                <a:latin typeface="Calibri" pitchFamily="34" charset="0"/>
                <a:ea typeface="Calibri" pitchFamily="34" charset="-122"/>
                <a:cs typeface="Calibri" pitchFamily="34" charset="-120"/>
              </a:rPr>
              <a:t>01  Data Quality</a:t>
            </a:r>
            <a:endParaRPr lang="en-US" sz="1000"/>
          </a:p>
        </p:txBody>
      </p:sp>
      <p:sp>
        <p:nvSpPr>
          <p:cNvPr id="9" name="Shape 7"/>
          <p:cNvSpPr/>
          <p:nvPr/>
        </p:nvSpPr>
        <p:spPr>
          <a:xfrm>
            <a:off x="365760" y="1271016"/>
            <a:ext cx="91440" cy="91440"/>
          </a:xfrm>
          <a:prstGeom prst="rect">
            <a:avLst/>
          </a:prstGeom>
          <a:solidFill>
            <a:srgbClr val="27AE60"/>
          </a:solidFill>
          <a:ln w="12700">
            <a:solidFill>
              <a:srgbClr val="27AE60"/>
            </a:solidFill>
            <a:prstDash val="solid"/>
          </a:ln>
        </p:spPr>
        <p:txBody>
          <a:bodyPr/>
          <a:lstStyle/>
          <a:p>
            <a:endParaRPr lang="en-PT"/>
          </a:p>
        </p:txBody>
      </p:sp>
      <p:sp>
        <p:nvSpPr>
          <p:cNvPr id="10" name="Text 8"/>
          <p:cNvSpPr/>
          <p:nvPr/>
        </p:nvSpPr>
        <p:spPr>
          <a:xfrm>
            <a:off x="512064" y="1225296"/>
            <a:ext cx="1719072" cy="530352"/>
          </a:xfrm>
          <a:prstGeom prst="rect">
            <a:avLst/>
          </a:prstGeom>
          <a:noFill/>
          <a:ln/>
        </p:spPr>
        <p:txBody>
          <a:bodyPr wrap="square" rtlCol="0" anchor="t"/>
          <a:lstStyle/>
          <a:p>
            <a:pPr marL="0" indent="0">
              <a:buNone/>
            </a:pPr>
            <a:r>
              <a:rPr lang="en-US" sz="950">
                <a:solidFill>
                  <a:srgbClr val="3D4A5C"/>
                </a:solidFill>
                <a:latin typeface="Calibri" pitchFamily="34" charset="0"/>
                <a:ea typeface="Calibri" pitchFamily="34" charset="-122"/>
                <a:cs typeface="Calibri" pitchFamily="34" charset="-120"/>
              </a:rPr>
              <a:t>502 → 500 records: app_001 and app_042 removed as conflicting duplicates</a:t>
            </a:r>
            <a:endParaRPr lang="en-US" sz="950"/>
          </a:p>
        </p:txBody>
      </p:sp>
      <p:sp>
        <p:nvSpPr>
          <p:cNvPr id="11" name="Shape 9"/>
          <p:cNvSpPr/>
          <p:nvPr/>
        </p:nvSpPr>
        <p:spPr>
          <a:xfrm>
            <a:off x="365760" y="1837944"/>
            <a:ext cx="91440" cy="91440"/>
          </a:xfrm>
          <a:prstGeom prst="rect">
            <a:avLst/>
          </a:prstGeom>
          <a:solidFill>
            <a:srgbClr val="27AE60"/>
          </a:solidFill>
          <a:ln w="12700">
            <a:solidFill>
              <a:srgbClr val="27AE60"/>
            </a:solidFill>
            <a:prstDash val="solid"/>
          </a:ln>
        </p:spPr>
        <p:txBody>
          <a:bodyPr/>
          <a:lstStyle/>
          <a:p>
            <a:endParaRPr lang="en-PT"/>
          </a:p>
        </p:txBody>
      </p:sp>
      <p:sp>
        <p:nvSpPr>
          <p:cNvPr id="12" name="Text 10"/>
          <p:cNvSpPr/>
          <p:nvPr/>
        </p:nvSpPr>
        <p:spPr>
          <a:xfrm>
            <a:off x="512064" y="1792224"/>
            <a:ext cx="1719072" cy="530352"/>
          </a:xfrm>
          <a:prstGeom prst="rect">
            <a:avLst/>
          </a:prstGeom>
          <a:noFill/>
          <a:ln/>
        </p:spPr>
        <p:txBody>
          <a:bodyPr wrap="square" rtlCol="0" anchor="t"/>
          <a:lstStyle/>
          <a:p>
            <a:pPr marL="0" indent="0">
              <a:buNone/>
            </a:pPr>
            <a:r>
              <a:rPr lang="en-US" sz="950">
                <a:solidFill>
                  <a:srgbClr val="3D4A5C"/>
                </a:solidFill>
                <a:latin typeface="Calibri" pitchFamily="34" charset="0"/>
                <a:ea typeface="Calibri" pitchFamily="34" charset="-122"/>
                <a:cs typeface="Calibri" pitchFamily="34" charset="-120"/>
              </a:rPr>
              <a:t>Gender field had 5 encoding variants across 113 records — normalised</a:t>
            </a:r>
            <a:endParaRPr lang="en-US" sz="950"/>
          </a:p>
        </p:txBody>
      </p:sp>
      <p:sp>
        <p:nvSpPr>
          <p:cNvPr id="13" name="Shape 11"/>
          <p:cNvSpPr/>
          <p:nvPr/>
        </p:nvSpPr>
        <p:spPr>
          <a:xfrm>
            <a:off x="365760" y="2404872"/>
            <a:ext cx="91440" cy="91440"/>
          </a:xfrm>
          <a:prstGeom prst="rect">
            <a:avLst/>
          </a:prstGeom>
          <a:solidFill>
            <a:srgbClr val="27AE60"/>
          </a:solidFill>
          <a:ln w="12700">
            <a:solidFill>
              <a:srgbClr val="27AE60"/>
            </a:solidFill>
            <a:prstDash val="solid"/>
          </a:ln>
        </p:spPr>
        <p:txBody>
          <a:bodyPr/>
          <a:lstStyle/>
          <a:p>
            <a:endParaRPr lang="en-PT"/>
          </a:p>
        </p:txBody>
      </p:sp>
      <p:sp>
        <p:nvSpPr>
          <p:cNvPr id="14" name="Text 12"/>
          <p:cNvSpPr/>
          <p:nvPr/>
        </p:nvSpPr>
        <p:spPr>
          <a:xfrm>
            <a:off x="512064" y="2359152"/>
            <a:ext cx="1719072" cy="530352"/>
          </a:xfrm>
          <a:prstGeom prst="rect">
            <a:avLst/>
          </a:prstGeom>
          <a:noFill/>
          <a:ln/>
        </p:spPr>
        <p:txBody>
          <a:bodyPr wrap="square" rtlCol="0" anchor="t"/>
          <a:lstStyle/>
          <a:p>
            <a:pPr marL="0" indent="0">
              <a:buNone/>
            </a:pPr>
            <a:r>
              <a:rPr lang="en-US" sz="950">
                <a:solidFill>
                  <a:srgbClr val="3D4A5C"/>
                </a:solidFill>
                <a:latin typeface="Calibri" pitchFamily="34" charset="0"/>
                <a:ea typeface="Calibri" pitchFamily="34" charset="-122"/>
                <a:cs typeface="Calibri" pitchFamily="34" charset="-120"/>
              </a:rPr>
              <a:t>Date of birth stored in 4 formats — standardised to ISO 8601</a:t>
            </a:r>
            <a:endParaRPr lang="en-US" sz="950"/>
          </a:p>
        </p:txBody>
      </p:sp>
      <p:sp>
        <p:nvSpPr>
          <p:cNvPr id="15" name="Shape 13"/>
          <p:cNvSpPr/>
          <p:nvPr/>
        </p:nvSpPr>
        <p:spPr>
          <a:xfrm>
            <a:off x="365760" y="2971800"/>
            <a:ext cx="91440" cy="91440"/>
          </a:xfrm>
          <a:prstGeom prst="rect">
            <a:avLst/>
          </a:prstGeom>
          <a:solidFill>
            <a:srgbClr val="27AE60"/>
          </a:solidFill>
          <a:ln w="12700">
            <a:solidFill>
              <a:srgbClr val="27AE60"/>
            </a:solidFill>
            <a:prstDash val="solid"/>
          </a:ln>
        </p:spPr>
        <p:txBody>
          <a:bodyPr/>
          <a:lstStyle/>
          <a:p>
            <a:endParaRPr lang="en-PT"/>
          </a:p>
        </p:txBody>
      </p:sp>
      <p:sp>
        <p:nvSpPr>
          <p:cNvPr id="16" name="Text 14"/>
          <p:cNvSpPr/>
          <p:nvPr/>
        </p:nvSpPr>
        <p:spPr>
          <a:xfrm>
            <a:off x="512064" y="2926080"/>
            <a:ext cx="1719072" cy="530352"/>
          </a:xfrm>
          <a:prstGeom prst="rect">
            <a:avLst/>
          </a:prstGeom>
          <a:noFill/>
          <a:ln/>
        </p:spPr>
        <p:txBody>
          <a:bodyPr wrap="square" rtlCol="0" anchor="t"/>
          <a:lstStyle/>
          <a:p>
            <a:pPr marL="0" indent="0">
              <a:buNone/>
            </a:pPr>
            <a:r>
              <a:rPr lang="en-US" sz="950">
                <a:solidFill>
                  <a:srgbClr val="3D4A5C"/>
                </a:solidFill>
                <a:latin typeface="Calibri" pitchFamily="34" charset="0"/>
                <a:ea typeface="Calibri" pitchFamily="34" charset="-122"/>
                <a:cs typeface="Calibri" pitchFamily="34" charset="-120"/>
              </a:rPr>
              <a:t>annual_salary and annual_income were duplicate fields — silently merged</a:t>
            </a:r>
            <a:endParaRPr lang="en-US" sz="950"/>
          </a:p>
        </p:txBody>
      </p:sp>
      <p:sp>
        <p:nvSpPr>
          <p:cNvPr id="17" name="Shape 15"/>
          <p:cNvSpPr/>
          <p:nvPr/>
        </p:nvSpPr>
        <p:spPr>
          <a:xfrm>
            <a:off x="365760" y="3538728"/>
            <a:ext cx="91440" cy="91440"/>
          </a:xfrm>
          <a:prstGeom prst="rect">
            <a:avLst/>
          </a:prstGeom>
          <a:solidFill>
            <a:srgbClr val="27AE60"/>
          </a:solidFill>
          <a:ln w="12700">
            <a:solidFill>
              <a:srgbClr val="27AE60"/>
            </a:solidFill>
            <a:prstDash val="solid"/>
          </a:ln>
        </p:spPr>
        <p:txBody>
          <a:bodyPr/>
          <a:lstStyle/>
          <a:p>
            <a:endParaRPr lang="en-PT"/>
          </a:p>
        </p:txBody>
      </p:sp>
      <p:sp>
        <p:nvSpPr>
          <p:cNvPr id="18" name="Text 16"/>
          <p:cNvSpPr/>
          <p:nvPr/>
        </p:nvSpPr>
        <p:spPr>
          <a:xfrm>
            <a:off x="512064" y="3493008"/>
            <a:ext cx="1719072" cy="530352"/>
          </a:xfrm>
          <a:prstGeom prst="rect">
            <a:avLst/>
          </a:prstGeom>
          <a:noFill/>
          <a:ln/>
        </p:spPr>
        <p:txBody>
          <a:bodyPr wrap="square" rtlCol="0" anchor="t"/>
          <a:lstStyle/>
          <a:p>
            <a:pPr marL="0" indent="0">
              <a:buNone/>
            </a:pPr>
            <a:r>
              <a:rPr lang="en-US" sz="950">
                <a:solidFill>
                  <a:srgbClr val="3D4A5C"/>
                </a:solidFill>
                <a:latin typeface="Calibri" pitchFamily="34" charset="0"/>
                <a:ea typeface="Calibri" pitchFamily="34" charset="-122"/>
                <a:cs typeface="Calibri" pitchFamily="34" charset="-120"/>
              </a:rPr>
              <a:t>11 invalid emails, 2 negative credit months, 1 negative savings balance — all flagged</a:t>
            </a:r>
            <a:endParaRPr lang="en-US" sz="950"/>
          </a:p>
        </p:txBody>
      </p:sp>
      <p:sp>
        <p:nvSpPr>
          <p:cNvPr id="19" name="Shape 17"/>
          <p:cNvSpPr/>
          <p:nvPr/>
        </p:nvSpPr>
        <p:spPr>
          <a:xfrm>
            <a:off x="2450592" y="822960"/>
            <a:ext cx="2029968" cy="3794760"/>
          </a:xfrm>
          <a:prstGeom prst="rect">
            <a:avLst/>
          </a:prstGeom>
          <a:solidFill>
            <a:srgbClr val="FFFFFF"/>
          </a:solidFill>
          <a:ln w="12700">
            <a:solidFill>
              <a:srgbClr val="D0D7E0"/>
            </a:solidFill>
            <a:prstDash val="solid"/>
          </a:ln>
          <a:effectLst>
            <a:outerShdw blurRad="76200" dist="25400" dir="8100000" algn="bl" rotWithShape="0">
              <a:srgbClr val="000000">
                <a:alpha val="10000"/>
              </a:srgbClr>
            </a:outerShdw>
          </a:effectLst>
        </p:spPr>
        <p:txBody>
          <a:bodyPr/>
          <a:lstStyle/>
          <a:p>
            <a:endParaRPr lang="en-PT"/>
          </a:p>
        </p:txBody>
      </p:sp>
      <p:sp>
        <p:nvSpPr>
          <p:cNvPr id="20" name="Shape 18"/>
          <p:cNvSpPr/>
          <p:nvPr/>
        </p:nvSpPr>
        <p:spPr>
          <a:xfrm>
            <a:off x="2450592" y="822960"/>
            <a:ext cx="2029968" cy="347472"/>
          </a:xfrm>
          <a:prstGeom prst="rect">
            <a:avLst/>
          </a:prstGeom>
          <a:solidFill>
            <a:srgbClr val="E67E22"/>
          </a:solidFill>
          <a:ln w="12700">
            <a:solidFill>
              <a:srgbClr val="E67E22"/>
            </a:solidFill>
            <a:prstDash val="solid"/>
          </a:ln>
        </p:spPr>
        <p:txBody>
          <a:bodyPr/>
          <a:lstStyle/>
          <a:p>
            <a:endParaRPr lang="en-PT"/>
          </a:p>
        </p:txBody>
      </p:sp>
      <p:sp>
        <p:nvSpPr>
          <p:cNvPr id="21" name="Text 19"/>
          <p:cNvSpPr/>
          <p:nvPr/>
        </p:nvSpPr>
        <p:spPr>
          <a:xfrm>
            <a:off x="2523744" y="841248"/>
            <a:ext cx="1883664" cy="301752"/>
          </a:xfrm>
          <a:prstGeom prst="rect">
            <a:avLst/>
          </a:prstGeom>
          <a:noFill/>
          <a:ln/>
        </p:spPr>
        <p:txBody>
          <a:bodyPr wrap="square" rtlCol="0" anchor="ctr"/>
          <a:lstStyle/>
          <a:p>
            <a:pPr marL="0" indent="0">
              <a:buNone/>
            </a:pPr>
            <a:r>
              <a:rPr lang="en-US" sz="1000" b="1">
                <a:solidFill>
                  <a:srgbClr val="FFFFFF"/>
                </a:solidFill>
                <a:latin typeface="Calibri" pitchFamily="34" charset="0"/>
                <a:ea typeface="Calibri" pitchFamily="34" charset="-122"/>
                <a:cs typeface="Calibri" pitchFamily="34" charset="-120"/>
              </a:rPr>
              <a:t>02  Algorithmic Bias</a:t>
            </a:r>
            <a:endParaRPr lang="en-US" sz="1000"/>
          </a:p>
        </p:txBody>
      </p:sp>
      <p:sp>
        <p:nvSpPr>
          <p:cNvPr id="22" name="Shape 20"/>
          <p:cNvSpPr/>
          <p:nvPr/>
        </p:nvSpPr>
        <p:spPr>
          <a:xfrm>
            <a:off x="2542032" y="1271016"/>
            <a:ext cx="91440" cy="91440"/>
          </a:xfrm>
          <a:prstGeom prst="rect">
            <a:avLst/>
          </a:prstGeom>
          <a:solidFill>
            <a:srgbClr val="E67E22"/>
          </a:solidFill>
          <a:ln w="12700">
            <a:solidFill>
              <a:srgbClr val="E67E22"/>
            </a:solidFill>
            <a:prstDash val="solid"/>
          </a:ln>
        </p:spPr>
        <p:txBody>
          <a:bodyPr/>
          <a:lstStyle/>
          <a:p>
            <a:endParaRPr lang="en-PT"/>
          </a:p>
        </p:txBody>
      </p:sp>
      <p:sp>
        <p:nvSpPr>
          <p:cNvPr id="23" name="Text 21"/>
          <p:cNvSpPr/>
          <p:nvPr/>
        </p:nvSpPr>
        <p:spPr>
          <a:xfrm>
            <a:off x="2688336" y="1225296"/>
            <a:ext cx="1719072" cy="530352"/>
          </a:xfrm>
          <a:prstGeom prst="rect">
            <a:avLst/>
          </a:prstGeom>
          <a:noFill/>
          <a:ln/>
        </p:spPr>
        <p:txBody>
          <a:bodyPr wrap="square" rtlCol="0" anchor="t"/>
          <a:lstStyle/>
          <a:p>
            <a:pPr marL="0" indent="0">
              <a:buNone/>
            </a:pPr>
            <a:r>
              <a:rPr lang="en-US" sz="950">
                <a:solidFill>
                  <a:srgbClr val="3D4A5C"/>
                </a:solidFill>
                <a:latin typeface="Calibri" pitchFamily="34" charset="0"/>
                <a:ea typeface="Calibri" pitchFamily="34" charset="-122"/>
                <a:cs typeface="Calibri" pitchFamily="34" charset="-120"/>
              </a:rPr>
              <a:t>Gender DI = 0.77 — breaches 0.80 four-fifths threshold (p = 0.0009)</a:t>
            </a:r>
            <a:endParaRPr lang="en-US" sz="950"/>
          </a:p>
        </p:txBody>
      </p:sp>
      <p:sp>
        <p:nvSpPr>
          <p:cNvPr id="24" name="Shape 22"/>
          <p:cNvSpPr/>
          <p:nvPr/>
        </p:nvSpPr>
        <p:spPr>
          <a:xfrm>
            <a:off x="2542032" y="1837944"/>
            <a:ext cx="91440" cy="91440"/>
          </a:xfrm>
          <a:prstGeom prst="rect">
            <a:avLst/>
          </a:prstGeom>
          <a:solidFill>
            <a:srgbClr val="E67E22"/>
          </a:solidFill>
          <a:ln w="12700">
            <a:solidFill>
              <a:srgbClr val="E67E22"/>
            </a:solidFill>
            <a:prstDash val="solid"/>
          </a:ln>
        </p:spPr>
        <p:txBody>
          <a:bodyPr/>
          <a:lstStyle/>
          <a:p>
            <a:endParaRPr lang="en-PT"/>
          </a:p>
        </p:txBody>
      </p:sp>
      <p:sp>
        <p:nvSpPr>
          <p:cNvPr id="25" name="Text 23"/>
          <p:cNvSpPr/>
          <p:nvPr/>
        </p:nvSpPr>
        <p:spPr>
          <a:xfrm>
            <a:off x="2688336" y="1792224"/>
            <a:ext cx="1719072" cy="530352"/>
          </a:xfrm>
          <a:prstGeom prst="rect">
            <a:avLst/>
          </a:prstGeom>
          <a:noFill/>
          <a:ln/>
        </p:spPr>
        <p:txBody>
          <a:bodyPr wrap="square" rtlCol="0" anchor="t"/>
          <a:lstStyle/>
          <a:p>
            <a:pPr marL="0" indent="0">
              <a:buNone/>
            </a:pPr>
            <a:r>
              <a:rPr lang="en-US" sz="950">
                <a:solidFill>
                  <a:srgbClr val="3D4A5C"/>
                </a:solidFill>
                <a:latin typeface="Calibri" pitchFamily="34" charset="0"/>
                <a:ea typeface="Calibri" pitchFamily="34" charset="-122"/>
                <a:cs typeface="Calibri" pitchFamily="34" charset="-120"/>
              </a:rPr>
              <a:t>ZIP code: strong gender proxy (AUC = 0.864, mean CV AUC = 0.849)</a:t>
            </a:r>
            <a:endParaRPr lang="en-US" sz="950"/>
          </a:p>
        </p:txBody>
      </p:sp>
      <p:sp>
        <p:nvSpPr>
          <p:cNvPr id="26" name="Shape 24"/>
          <p:cNvSpPr/>
          <p:nvPr/>
        </p:nvSpPr>
        <p:spPr>
          <a:xfrm>
            <a:off x="2542032" y="2404872"/>
            <a:ext cx="91440" cy="91440"/>
          </a:xfrm>
          <a:prstGeom prst="rect">
            <a:avLst/>
          </a:prstGeom>
          <a:solidFill>
            <a:srgbClr val="E67E22"/>
          </a:solidFill>
          <a:ln w="12700">
            <a:solidFill>
              <a:srgbClr val="E67E22"/>
            </a:solidFill>
            <a:prstDash val="solid"/>
          </a:ln>
        </p:spPr>
        <p:txBody>
          <a:bodyPr/>
          <a:lstStyle/>
          <a:p>
            <a:endParaRPr lang="en-PT"/>
          </a:p>
        </p:txBody>
      </p:sp>
      <p:sp>
        <p:nvSpPr>
          <p:cNvPr id="27" name="Text 25"/>
          <p:cNvSpPr/>
          <p:nvPr/>
        </p:nvSpPr>
        <p:spPr>
          <a:xfrm>
            <a:off x="2688336" y="2359152"/>
            <a:ext cx="1719072" cy="530352"/>
          </a:xfrm>
          <a:prstGeom prst="rect">
            <a:avLst/>
          </a:prstGeom>
          <a:noFill/>
          <a:ln/>
        </p:spPr>
        <p:txBody>
          <a:bodyPr wrap="square" rtlCol="0" anchor="t"/>
          <a:lstStyle/>
          <a:p>
            <a:pPr marL="0" indent="0">
              <a:buNone/>
            </a:pPr>
            <a:r>
              <a:rPr lang="en-US" sz="950">
                <a:solidFill>
                  <a:srgbClr val="3D4A5C"/>
                </a:solidFill>
                <a:latin typeface="Calibri" pitchFamily="34" charset="0"/>
                <a:ea typeface="Calibri" pitchFamily="34" charset="-122"/>
                <a:cs typeface="Calibri" pitchFamily="34" charset="-120"/>
              </a:rPr>
              <a:t>Young (18–35) vs Middle (36–65): p = 0.0004 — statistically significant</a:t>
            </a:r>
            <a:endParaRPr lang="en-US" sz="950"/>
          </a:p>
        </p:txBody>
      </p:sp>
      <p:sp>
        <p:nvSpPr>
          <p:cNvPr id="28" name="Shape 26"/>
          <p:cNvSpPr/>
          <p:nvPr/>
        </p:nvSpPr>
        <p:spPr>
          <a:xfrm>
            <a:off x="2542032" y="2971800"/>
            <a:ext cx="91440" cy="91440"/>
          </a:xfrm>
          <a:prstGeom prst="rect">
            <a:avLst/>
          </a:prstGeom>
          <a:solidFill>
            <a:srgbClr val="E67E22"/>
          </a:solidFill>
          <a:ln w="12700">
            <a:solidFill>
              <a:srgbClr val="E67E22"/>
            </a:solidFill>
            <a:prstDash val="solid"/>
          </a:ln>
        </p:spPr>
        <p:txBody>
          <a:bodyPr/>
          <a:lstStyle/>
          <a:p>
            <a:endParaRPr lang="en-PT"/>
          </a:p>
        </p:txBody>
      </p:sp>
      <p:sp>
        <p:nvSpPr>
          <p:cNvPr id="29" name="Text 27"/>
          <p:cNvSpPr/>
          <p:nvPr/>
        </p:nvSpPr>
        <p:spPr>
          <a:xfrm>
            <a:off x="2688336" y="2926080"/>
            <a:ext cx="1719072" cy="530352"/>
          </a:xfrm>
          <a:prstGeom prst="rect">
            <a:avLst/>
          </a:prstGeom>
          <a:noFill/>
          <a:ln/>
        </p:spPr>
        <p:txBody>
          <a:bodyPr wrap="square" rtlCol="0" anchor="t"/>
          <a:lstStyle/>
          <a:p>
            <a:pPr marL="0" indent="0">
              <a:buNone/>
            </a:pPr>
            <a:r>
              <a:rPr lang="en-US" sz="950">
                <a:solidFill>
                  <a:srgbClr val="3D4A5C"/>
                </a:solidFill>
                <a:latin typeface="Calibri" pitchFamily="34" charset="0"/>
                <a:ea typeface="Calibri" pitchFamily="34" charset="-122"/>
                <a:cs typeface="Calibri" pitchFamily="34" charset="-120"/>
              </a:rPr>
              <a:t>Female 38.1% vs Male 58.4% in Young cohort — 20.3 pp gap (p = 0.0088)</a:t>
            </a:r>
            <a:endParaRPr lang="en-US" sz="950"/>
          </a:p>
        </p:txBody>
      </p:sp>
      <p:sp>
        <p:nvSpPr>
          <p:cNvPr id="30" name="Shape 28"/>
          <p:cNvSpPr/>
          <p:nvPr/>
        </p:nvSpPr>
        <p:spPr>
          <a:xfrm>
            <a:off x="2542032" y="3538728"/>
            <a:ext cx="91440" cy="91440"/>
          </a:xfrm>
          <a:prstGeom prst="rect">
            <a:avLst/>
          </a:prstGeom>
          <a:solidFill>
            <a:srgbClr val="E67E22"/>
          </a:solidFill>
          <a:ln w="12700">
            <a:solidFill>
              <a:srgbClr val="E67E22"/>
            </a:solidFill>
            <a:prstDash val="solid"/>
          </a:ln>
        </p:spPr>
        <p:txBody>
          <a:bodyPr/>
          <a:lstStyle/>
          <a:p>
            <a:endParaRPr lang="en-PT"/>
          </a:p>
        </p:txBody>
      </p:sp>
      <p:sp>
        <p:nvSpPr>
          <p:cNvPr id="31" name="Text 29"/>
          <p:cNvSpPr/>
          <p:nvPr/>
        </p:nvSpPr>
        <p:spPr>
          <a:xfrm>
            <a:off x="2688336" y="3493008"/>
            <a:ext cx="1719072" cy="530352"/>
          </a:xfrm>
          <a:prstGeom prst="rect">
            <a:avLst/>
          </a:prstGeom>
          <a:noFill/>
          <a:ln/>
        </p:spPr>
        <p:txBody>
          <a:bodyPr wrap="square" rtlCol="0" anchor="t"/>
          <a:lstStyle/>
          <a:p>
            <a:pPr marL="0" indent="0">
              <a:buNone/>
            </a:pPr>
            <a:r>
              <a:rPr lang="en-US" sz="950">
                <a:solidFill>
                  <a:srgbClr val="3D4A5C"/>
                </a:solidFill>
                <a:latin typeface="Calibri" pitchFamily="34" charset="0"/>
                <a:ea typeface="Calibri" pitchFamily="34" charset="-122"/>
                <a:cs typeface="Calibri" pitchFamily="34" charset="-120"/>
              </a:rPr>
              <a:t>Only Young (18–35) gender gap statistically significant — Middle: p = 0.0697</a:t>
            </a:r>
            <a:endParaRPr lang="en-US" sz="950"/>
          </a:p>
        </p:txBody>
      </p:sp>
      <p:sp>
        <p:nvSpPr>
          <p:cNvPr id="32" name="Shape 30"/>
          <p:cNvSpPr/>
          <p:nvPr/>
        </p:nvSpPr>
        <p:spPr>
          <a:xfrm>
            <a:off x="4626864" y="822960"/>
            <a:ext cx="2029968" cy="3794760"/>
          </a:xfrm>
          <a:prstGeom prst="rect">
            <a:avLst/>
          </a:prstGeom>
          <a:solidFill>
            <a:srgbClr val="FFFFFF"/>
          </a:solidFill>
          <a:ln w="12700">
            <a:solidFill>
              <a:srgbClr val="D0D7E0"/>
            </a:solidFill>
            <a:prstDash val="solid"/>
          </a:ln>
          <a:effectLst>
            <a:outerShdw blurRad="76200" dist="25400" dir="8100000" algn="bl" rotWithShape="0">
              <a:srgbClr val="000000">
                <a:alpha val="10000"/>
              </a:srgbClr>
            </a:outerShdw>
          </a:effectLst>
        </p:spPr>
        <p:txBody>
          <a:bodyPr/>
          <a:lstStyle/>
          <a:p>
            <a:endParaRPr lang="en-PT"/>
          </a:p>
        </p:txBody>
      </p:sp>
      <p:sp>
        <p:nvSpPr>
          <p:cNvPr id="33" name="Shape 31"/>
          <p:cNvSpPr/>
          <p:nvPr/>
        </p:nvSpPr>
        <p:spPr>
          <a:xfrm>
            <a:off x="4626864" y="822960"/>
            <a:ext cx="2029968" cy="347472"/>
          </a:xfrm>
          <a:prstGeom prst="rect">
            <a:avLst/>
          </a:prstGeom>
          <a:solidFill>
            <a:srgbClr val="C0392B"/>
          </a:solidFill>
          <a:ln w="12700">
            <a:solidFill>
              <a:srgbClr val="C0392B"/>
            </a:solidFill>
            <a:prstDash val="solid"/>
          </a:ln>
        </p:spPr>
        <p:txBody>
          <a:bodyPr/>
          <a:lstStyle/>
          <a:p>
            <a:endParaRPr lang="en-PT"/>
          </a:p>
        </p:txBody>
      </p:sp>
      <p:sp>
        <p:nvSpPr>
          <p:cNvPr id="34" name="Text 32"/>
          <p:cNvSpPr/>
          <p:nvPr/>
        </p:nvSpPr>
        <p:spPr>
          <a:xfrm>
            <a:off x="4700016" y="841248"/>
            <a:ext cx="1883664" cy="301752"/>
          </a:xfrm>
          <a:prstGeom prst="rect">
            <a:avLst/>
          </a:prstGeom>
          <a:noFill/>
          <a:ln/>
        </p:spPr>
        <p:txBody>
          <a:bodyPr wrap="square" rtlCol="0" anchor="ctr"/>
          <a:lstStyle/>
          <a:p>
            <a:pPr marL="0" indent="0">
              <a:buNone/>
            </a:pPr>
            <a:r>
              <a:rPr lang="en-US" sz="1000" b="1">
                <a:solidFill>
                  <a:srgbClr val="FFFFFF"/>
                </a:solidFill>
                <a:latin typeface="Calibri" pitchFamily="34" charset="0"/>
                <a:ea typeface="Calibri" pitchFamily="34" charset="-122"/>
                <a:cs typeface="Calibri" pitchFamily="34" charset="-120"/>
              </a:rPr>
              <a:t>03  Privacy &amp; Compliance</a:t>
            </a:r>
            <a:endParaRPr lang="en-US" sz="1000"/>
          </a:p>
        </p:txBody>
      </p:sp>
      <p:sp>
        <p:nvSpPr>
          <p:cNvPr id="35" name="Shape 33"/>
          <p:cNvSpPr/>
          <p:nvPr/>
        </p:nvSpPr>
        <p:spPr>
          <a:xfrm>
            <a:off x="4718304" y="1271016"/>
            <a:ext cx="91440" cy="91440"/>
          </a:xfrm>
          <a:prstGeom prst="rect">
            <a:avLst/>
          </a:prstGeom>
          <a:solidFill>
            <a:srgbClr val="C0392B"/>
          </a:solidFill>
          <a:ln w="12700">
            <a:solidFill>
              <a:srgbClr val="C0392B"/>
            </a:solidFill>
            <a:prstDash val="solid"/>
          </a:ln>
        </p:spPr>
        <p:txBody>
          <a:bodyPr/>
          <a:lstStyle/>
          <a:p>
            <a:endParaRPr lang="en-PT"/>
          </a:p>
        </p:txBody>
      </p:sp>
      <p:sp>
        <p:nvSpPr>
          <p:cNvPr id="36" name="Text 34"/>
          <p:cNvSpPr/>
          <p:nvPr/>
        </p:nvSpPr>
        <p:spPr>
          <a:xfrm>
            <a:off x="4864608" y="1225296"/>
            <a:ext cx="1719072" cy="530352"/>
          </a:xfrm>
          <a:prstGeom prst="rect">
            <a:avLst/>
          </a:prstGeom>
          <a:noFill/>
          <a:ln/>
        </p:spPr>
        <p:txBody>
          <a:bodyPr wrap="square" rtlCol="0" anchor="t"/>
          <a:lstStyle/>
          <a:p>
            <a:pPr marL="0" indent="0">
              <a:buNone/>
            </a:pPr>
            <a:r>
              <a:rPr lang="en-US" sz="950">
                <a:solidFill>
                  <a:srgbClr val="3D4A5C"/>
                </a:solidFill>
                <a:latin typeface="Calibri" pitchFamily="34" charset="0"/>
                <a:ea typeface="Calibri" pitchFamily="34" charset="-122"/>
                <a:cs typeface="Calibri" pitchFamily="34" charset="-120"/>
              </a:rPr>
              <a:t>SSN, full name, email, IP all in plaintext — critical re-identification risk</a:t>
            </a:r>
            <a:endParaRPr lang="en-US" sz="950"/>
          </a:p>
        </p:txBody>
      </p:sp>
      <p:sp>
        <p:nvSpPr>
          <p:cNvPr id="37" name="Shape 35"/>
          <p:cNvSpPr/>
          <p:nvPr/>
        </p:nvSpPr>
        <p:spPr>
          <a:xfrm>
            <a:off x="4718304" y="1837944"/>
            <a:ext cx="91440" cy="91440"/>
          </a:xfrm>
          <a:prstGeom prst="rect">
            <a:avLst/>
          </a:prstGeom>
          <a:solidFill>
            <a:srgbClr val="C0392B"/>
          </a:solidFill>
          <a:ln w="12700">
            <a:solidFill>
              <a:srgbClr val="C0392B"/>
            </a:solidFill>
            <a:prstDash val="solid"/>
          </a:ln>
        </p:spPr>
        <p:txBody>
          <a:bodyPr/>
          <a:lstStyle/>
          <a:p>
            <a:endParaRPr lang="en-PT"/>
          </a:p>
        </p:txBody>
      </p:sp>
      <p:sp>
        <p:nvSpPr>
          <p:cNvPr id="38" name="Text 36"/>
          <p:cNvSpPr/>
          <p:nvPr/>
        </p:nvSpPr>
        <p:spPr>
          <a:xfrm>
            <a:off x="4864608" y="1792224"/>
            <a:ext cx="1719072" cy="530352"/>
          </a:xfrm>
          <a:prstGeom prst="rect">
            <a:avLst/>
          </a:prstGeom>
          <a:noFill/>
          <a:ln/>
        </p:spPr>
        <p:txBody>
          <a:bodyPr wrap="square" rtlCol="0" anchor="t"/>
          <a:lstStyle/>
          <a:p>
            <a:pPr marL="0" indent="0">
              <a:buNone/>
            </a:pPr>
            <a:r>
              <a:rPr lang="en-US" sz="950">
                <a:solidFill>
                  <a:srgbClr val="3D4A5C"/>
                </a:solidFill>
                <a:latin typeface="Calibri" pitchFamily="34" charset="0"/>
                <a:ea typeface="Calibri" pitchFamily="34" charset="-122"/>
                <a:cs typeface="Calibri" pitchFamily="34" charset="-120"/>
              </a:rPr>
              <a:t>No lawful basis, consent mechanism, or retention policy in place</a:t>
            </a:r>
            <a:endParaRPr lang="en-US" sz="950"/>
          </a:p>
        </p:txBody>
      </p:sp>
      <p:sp>
        <p:nvSpPr>
          <p:cNvPr id="39" name="Shape 37"/>
          <p:cNvSpPr/>
          <p:nvPr/>
        </p:nvSpPr>
        <p:spPr>
          <a:xfrm>
            <a:off x="4718304" y="2404872"/>
            <a:ext cx="91440" cy="91440"/>
          </a:xfrm>
          <a:prstGeom prst="rect">
            <a:avLst/>
          </a:prstGeom>
          <a:solidFill>
            <a:srgbClr val="C0392B"/>
          </a:solidFill>
          <a:ln w="12700">
            <a:solidFill>
              <a:srgbClr val="C0392B"/>
            </a:solidFill>
            <a:prstDash val="solid"/>
          </a:ln>
        </p:spPr>
        <p:txBody>
          <a:bodyPr/>
          <a:lstStyle/>
          <a:p>
            <a:endParaRPr lang="en-PT"/>
          </a:p>
        </p:txBody>
      </p:sp>
      <p:sp>
        <p:nvSpPr>
          <p:cNvPr id="40" name="Text 38"/>
          <p:cNvSpPr/>
          <p:nvPr/>
        </p:nvSpPr>
        <p:spPr>
          <a:xfrm>
            <a:off x="4864608" y="2359152"/>
            <a:ext cx="1719072" cy="530352"/>
          </a:xfrm>
          <a:prstGeom prst="rect">
            <a:avLst/>
          </a:prstGeom>
          <a:noFill/>
          <a:ln/>
        </p:spPr>
        <p:txBody>
          <a:bodyPr wrap="square" rtlCol="0" anchor="t"/>
          <a:lstStyle/>
          <a:p>
            <a:pPr marL="0" indent="0">
              <a:buNone/>
            </a:pPr>
            <a:r>
              <a:rPr lang="en-US" sz="950">
                <a:solidFill>
                  <a:srgbClr val="3D4A5C"/>
                </a:solidFill>
                <a:latin typeface="Calibri" pitchFamily="34" charset="0"/>
                <a:ea typeface="Calibri" pitchFamily="34" charset="-122"/>
                <a:cs typeface="Calibri" pitchFamily="34" charset="-120"/>
              </a:rPr>
              <a:t>169 algorithmic rejections: no explanation, no review, no appeal pathway</a:t>
            </a:r>
            <a:endParaRPr lang="en-US" sz="950"/>
          </a:p>
        </p:txBody>
      </p:sp>
      <p:sp>
        <p:nvSpPr>
          <p:cNvPr id="41" name="Shape 39"/>
          <p:cNvSpPr/>
          <p:nvPr/>
        </p:nvSpPr>
        <p:spPr>
          <a:xfrm>
            <a:off x="4718304" y="2971800"/>
            <a:ext cx="91440" cy="91440"/>
          </a:xfrm>
          <a:prstGeom prst="rect">
            <a:avLst/>
          </a:prstGeom>
          <a:solidFill>
            <a:srgbClr val="C0392B"/>
          </a:solidFill>
          <a:ln w="12700">
            <a:solidFill>
              <a:srgbClr val="C0392B"/>
            </a:solidFill>
            <a:prstDash val="solid"/>
          </a:ln>
        </p:spPr>
        <p:txBody>
          <a:bodyPr/>
          <a:lstStyle/>
          <a:p>
            <a:endParaRPr lang="en-PT"/>
          </a:p>
        </p:txBody>
      </p:sp>
      <p:sp>
        <p:nvSpPr>
          <p:cNvPr id="42" name="Text 40"/>
          <p:cNvSpPr/>
          <p:nvPr/>
        </p:nvSpPr>
        <p:spPr>
          <a:xfrm>
            <a:off x="4864608" y="2926080"/>
            <a:ext cx="1719072" cy="530352"/>
          </a:xfrm>
          <a:prstGeom prst="rect">
            <a:avLst/>
          </a:prstGeom>
          <a:noFill/>
          <a:ln/>
        </p:spPr>
        <p:txBody>
          <a:bodyPr wrap="square" rtlCol="0" anchor="t"/>
          <a:lstStyle/>
          <a:p>
            <a:pPr marL="0" indent="0">
              <a:buNone/>
            </a:pPr>
            <a:r>
              <a:rPr lang="en-US" sz="950">
                <a:solidFill>
                  <a:srgbClr val="3D4A5C"/>
                </a:solidFill>
                <a:latin typeface="Calibri" pitchFamily="34" charset="0"/>
                <a:ea typeface="Calibri" pitchFamily="34" charset="-122"/>
                <a:cs typeface="Calibri" pitchFamily="34" charset="-120"/>
              </a:rPr>
              <a:t>EU AI Act Annex III: High-Risk classification with zero conformity controls</a:t>
            </a:r>
            <a:endParaRPr lang="en-US" sz="950"/>
          </a:p>
        </p:txBody>
      </p:sp>
      <p:sp>
        <p:nvSpPr>
          <p:cNvPr id="43" name="Shape 41"/>
          <p:cNvSpPr/>
          <p:nvPr/>
        </p:nvSpPr>
        <p:spPr>
          <a:xfrm>
            <a:off x="4718304" y="3538728"/>
            <a:ext cx="91440" cy="91440"/>
          </a:xfrm>
          <a:prstGeom prst="rect">
            <a:avLst/>
          </a:prstGeom>
          <a:solidFill>
            <a:srgbClr val="C0392B"/>
          </a:solidFill>
          <a:ln w="12700">
            <a:solidFill>
              <a:srgbClr val="C0392B"/>
            </a:solidFill>
            <a:prstDash val="solid"/>
          </a:ln>
        </p:spPr>
        <p:txBody>
          <a:bodyPr/>
          <a:lstStyle/>
          <a:p>
            <a:endParaRPr lang="en-PT"/>
          </a:p>
        </p:txBody>
      </p:sp>
      <p:sp>
        <p:nvSpPr>
          <p:cNvPr id="44" name="Text 42"/>
          <p:cNvSpPr/>
          <p:nvPr/>
        </p:nvSpPr>
        <p:spPr>
          <a:xfrm>
            <a:off x="4864608" y="3493008"/>
            <a:ext cx="1719072" cy="530352"/>
          </a:xfrm>
          <a:prstGeom prst="rect">
            <a:avLst/>
          </a:prstGeom>
          <a:noFill/>
          <a:ln/>
        </p:spPr>
        <p:txBody>
          <a:bodyPr wrap="square" rtlCol="0" anchor="t"/>
          <a:lstStyle/>
          <a:p>
            <a:pPr marL="0" indent="0">
              <a:buNone/>
            </a:pPr>
            <a:r>
              <a:rPr lang="en-US" sz="950">
                <a:solidFill>
                  <a:srgbClr val="3D4A5C"/>
                </a:solidFill>
                <a:latin typeface="Calibri" pitchFamily="34" charset="0"/>
                <a:ea typeface="Calibri" pitchFamily="34" charset="-122"/>
                <a:cs typeface="Calibri" pitchFamily="34" charset="-120"/>
              </a:rPr>
              <a:t>8 GDPR / AI Act compliance gaps — each requiring concrete action</a:t>
            </a:r>
            <a:endParaRPr lang="en-US" sz="950"/>
          </a:p>
        </p:txBody>
      </p:sp>
      <p:sp>
        <p:nvSpPr>
          <p:cNvPr id="45" name="Shape 43"/>
          <p:cNvSpPr/>
          <p:nvPr/>
        </p:nvSpPr>
        <p:spPr>
          <a:xfrm>
            <a:off x="6803136" y="822960"/>
            <a:ext cx="2029968" cy="3794760"/>
          </a:xfrm>
          <a:prstGeom prst="rect">
            <a:avLst/>
          </a:prstGeom>
          <a:solidFill>
            <a:srgbClr val="FFFFFF"/>
          </a:solidFill>
          <a:ln w="12700">
            <a:solidFill>
              <a:srgbClr val="D0D7E0"/>
            </a:solidFill>
            <a:prstDash val="solid"/>
          </a:ln>
          <a:effectLst>
            <a:outerShdw blurRad="76200" dist="25400" dir="8100000" algn="bl" rotWithShape="0">
              <a:srgbClr val="000000">
                <a:alpha val="10000"/>
              </a:srgbClr>
            </a:outerShdw>
          </a:effectLst>
        </p:spPr>
        <p:txBody>
          <a:bodyPr/>
          <a:lstStyle/>
          <a:p>
            <a:endParaRPr lang="en-PT"/>
          </a:p>
        </p:txBody>
      </p:sp>
      <p:sp>
        <p:nvSpPr>
          <p:cNvPr id="46" name="Shape 44"/>
          <p:cNvSpPr/>
          <p:nvPr/>
        </p:nvSpPr>
        <p:spPr>
          <a:xfrm>
            <a:off x="6803136" y="822960"/>
            <a:ext cx="2029968" cy="347472"/>
          </a:xfrm>
          <a:prstGeom prst="rect">
            <a:avLst/>
          </a:prstGeom>
          <a:solidFill>
            <a:srgbClr val="1A2744"/>
          </a:solidFill>
          <a:ln w="12700">
            <a:solidFill>
              <a:srgbClr val="1A2744"/>
            </a:solidFill>
            <a:prstDash val="solid"/>
          </a:ln>
        </p:spPr>
        <p:txBody>
          <a:bodyPr/>
          <a:lstStyle/>
          <a:p>
            <a:endParaRPr lang="en-PT"/>
          </a:p>
        </p:txBody>
      </p:sp>
      <p:sp>
        <p:nvSpPr>
          <p:cNvPr id="47" name="Text 45"/>
          <p:cNvSpPr/>
          <p:nvPr/>
        </p:nvSpPr>
        <p:spPr>
          <a:xfrm>
            <a:off x="6876288" y="841248"/>
            <a:ext cx="1883664" cy="301752"/>
          </a:xfrm>
          <a:prstGeom prst="rect">
            <a:avLst/>
          </a:prstGeom>
          <a:noFill/>
          <a:ln/>
        </p:spPr>
        <p:txBody>
          <a:bodyPr wrap="square" rtlCol="0" anchor="ctr"/>
          <a:lstStyle/>
          <a:p>
            <a:pPr marL="0" indent="0">
              <a:buNone/>
            </a:pPr>
            <a:r>
              <a:rPr lang="en-US" sz="1000" b="1">
                <a:solidFill>
                  <a:srgbClr val="FFFFFF"/>
                </a:solidFill>
                <a:latin typeface="Calibri" pitchFamily="34" charset="0"/>
                <a:ea typeface="Calibri" pitchFamily="34" charset="-122"/>
                <a:cs typeface="Calibri" pitchFamily="34" charset="-120"/>
              </a:rPr>
              <a:t>04  Recommended Actions</a:t>
            </a:r>
            <a:endParaRPr lang="en-US" sz="1000"/>
          </a:p>
        </p:txBody>
      </p:sp>
      <p:sp>
        <p:nvSpPr>
          <p:cNvPr id="48" name="Shape 46"/>
          <p:cNvSpPr/>
          <p:nvPr/>
        </p:nvSpPr>
        <p:spPr>
          <a:xfrm>
            <a:off x="6894576" y="1271016"/>
            <a:ext cx="91440" cy="91440"/>
          </a:xfrm>
          <a:prstGeom prst="rect">
            <a:avLst/>
          </a:prstGeom>
          <a:solidFill>
            <a:srgbClr val="1A2744"/>
          </a:solidFill>
          <a:ln w="12700">
            <a:solidFill>
              <a:srgbClr val="1A2744"/>
            </a:solidFill>
            <a:prstDash val="solid"/>
          </a:ln>
        </p:spPr>
        <p:txBody>
          <a:bodyPr/>
          <a:lstStyle/>
          <a:p>
            <a:endParaRPr lang="en-PT"/>
          </a:p>
        </p:txBody>
      </p:sp>
      <p:sp>
        <p:nvSpPr>
          <p:cNvPr id="49" name="Text 47"/>
          <p:cNvSpPr/>
          <p:nvPr/>
        </p:nvSpPr>
        <p:spPr>
          <a:xfrm>
            <a:off x="7040880" y="1225296"/>
            <a:ext cx="1719072" cy="530352"/>
          </a:xfrm>
          <a:prstGeom prst="rect">
            <a:avLst/>
          </a:prstGeom>
          <a:noFill/>
          <a:ln/>
        </p:spPr>
        <p:txBody>
          <a:bodyPr wrap="square" rtlCol="0" anchor="t"/>
          <a:lstStyle/>
          <a:p>
            <a:pPr marL="0" indent="0">
              <a:buNone/>
            </a:pPr>
            <a:r>
              <a:rPr lang="en-US" sz="950">
                <a:solidFill>
                  <a:srgbClr val="3D4A5C"/>
                </a:solidFill>
                <a:latin typeface="Calibri" pitchFamily="34" charset="0"/>
                <a:ea typeface="Calibri" pitchFamily="34" charset="-122"/>
                <a:cs typeface="Calibri" pitchFamily="34" charset="-120"/>
              </a:rPr>
              <a:t>Pseudonymise SSN; remove name, email, IP from analytical layer</a:t>
            </a:r>
            <a:endParaRPr lang="en-US" sz="950"/>
          </a:p>
        </p:txBody>
      </p:sp>
      <p:sp>
        <p:nvSpPr>
          <p:cNvPr id="50" name="Shape 48"/>
          <p:cNvSpPr/>
          <p:nvPr/>
        </p:nvSpPr>
        <p:spPr>
          <a:xfrm>
            <a:off x="6894576" y="1837944"/>
            <a:ext cx="91440" cy="91440"/>
          </a:xfrm>
          <a:prstGeom prst="rect">
            <a:avLst/>
          </a:prstGeom>
          <a:solidFill>
            <a:srgbClr val="1A2744"/>
          </a:solidFill>
          <a:ln w="12700">
            <a:solidFill>
              <a:srgbClr val="1A2744"/>
            </a:solidFill>
            <a:prstDash val="solid"/>
          </a:ln>
        </p:spPr>
        <p:txBody>
          <a:bodyPr/>
          <a:lstStyle/>
          <a:p>
            <a:endParaRPr lang="en-PT"/>
          </a:p>
        </p:txBody>
      </p:sp>
      <p:sp>
        <p:nvSpPr>
          <p:cNvPr id="51" name="Text 49"/>
          <p:cNvSpPr/>
          <p:nvPr/>
        </p:nvSpPr>
        <p:spPr>
          <a:xfrm>
            <a:off x="7040880" y="1792224"/>
            <a:ext cx="1719072" cy="530352"/>
          </a:xfrm>
          <a:prstGeom prst="rect">
            <a:avLst/>
          </a:prstGeom>
          <a:noFill/>
          <a:ln/>
        </p:spPr>
        <p:txBody>
          <a:bodyPr wrap="square" rtlCol="0" anchor="t"/>
          <a:lstStyle/>
          <a:p>
            <a:pPr marL="0" indent="0">
              <a:buNone/>
            </a:pPr>
            <a:r>
              <a:rPr lang="en-US" sz="950">
                <a:solidFill>
                  <a:srgbClr val="3D4A5C"/>
                </a:solidFill>
                <a:latin typeface="Calibri" pitchFamily="34" charset="0"/>
                <a:ea typeface="Calibri" pitchFamily="34" charset="-122"/>
                <a:cs typeface="Calibri" pitchFamily="34" charset="-120"/>
              </a:rPr>
              <a:t>Exclude gender and ZIP from model inputs — both confirmed discriminatory</a:t>
            </a:r>
            <a:endParaRPr lang="en-US" sz="950"/>
          </a:p>
        </p:txBody>
      </p:sp>
      <p:sp>
        <p:nvSpPr>
          <p:cNvPr id="52" name="Shape 50"/>
          <p:cNvSpPr/>
          <p:nvPr/>
        </p:nvSpPr>
        <p:spPr>
          <a:xfrm>
            <a:off x="6894576" y="2404872"/>
            <a:ext cx="91440" cy="91440"/>
          </a:xfrm>
          <a:prstGeom prst="rect">
            <a:avLst/>
          </a:prstGeom>
          <a:solidFill>
            <a:srgbClr val="1A2744"/>
          </a:solidFill>
          <a:ln w="12700">
            <a:solidFill>
              <a:srgbClr val="1A2744"/>
            </a:solidFill>
            <a:prstDash val="solid"/>
          </a:ln>
        </p:spPr>
        <p:txBody>
          <a:bodyPr/>
          <a:lstStyle/>
          <a:p>
            <a:endParaRPr lang="en-PT"/>
          </a:p>
        </p:txBody>
      </p:sp>
      <p:sp>
        <p:nvSpPr>
          <p:cNvPr id="53" name="Text 51"/>
          <p:cNvSpPr/>
          <p:nvPr/>
        </p:nvSpPr>
        <p:spPr>
          <a:xfrm>
            <a:off x="7040880" y="2359152"/>
            <a:ext cx="1719072" cy="530352"/>
          </a:xfrm>
          <a:prstGeom prst="rect">
            <a:avLst/>
          </a:prstGeom>
          <a:noFill/>
          <a:ln/>
        </p:spPr>
        <p:txBody>
          <a:bodyPr wrap="square" rtlCol="0" anchor="t"/>
          <a:lstStyle/>
          <a:p>
            <a:pPr marL="0" indent="0">
              <a:buNone/>
            </a:pPr>
            <a:r>
              <a:rPr lang="en-US" sz="950">
                <a:solidFill>
                  <a:srgbClr val="3D4A5C"/>
                </a:solidFill>
                <a:latin typeface="Calibri" pitchFamily="34" charset="0"/>
                <a:ea typeface="Calibri" pitchFamily="34" charset="-122"/>
                <a:cs typeface="Calibri" pitchFamily="34" charset="-120"/>
              </a:rPr>
              <a:t>Generalise date_of_birth to age_group prior to any further use</a:t>
            </a:r>
            <a:endParaRPr lang="en-US" sz="950"/>
          </a:p>
        </p:txBody>
      </p:sp>
      <p:sp>
        <p:nvSpPr>
          <p:cNvPr id="54" name="Shape 52"/>
          <p:cNvSpPr/>
          <p:nvPr/>
        </p:nvSpPr>
        <p:spPr>
          <a:xfrm>
            <a:off x="6894576" y="2971800"/>
            <a:ext cx="91440" cy="91440"/>
          </a:xfrm>
          <a:prstGeom prst="rect">
            <a:avLst/>
          </a:prstGeom>
          <a:solidFill>
            <a:srgbClr val="1A2744"/>
          </a:solidFill>
          <a:ln w="12700">
            <a:solidFill>
              <a:srgbClr val="1A2744"/>
            </a:solidFill>
            <a:prstDash val="solid"/>
          </a:ln>
        </p:spPr>
        <p:txBody>
          <a:bodyPr/>
          <a:lstStyle/>
          <a:p>
            <a:endParaRPr lang="en-PT"/>
          </a:p>
        </p:txBody>
      </p:sp>
      <p:sp>
        <p:nvSpPr>
          <p:cNvPr id="55" name="Text 53"/>
          <p:cNvSpPr/>
          <p:nvPr/>
        </p:nvSpPr>
        <p:spPr>
          <a:xfrm>
            <a:off x="7040880" y="2926080"/>
            <a:ext cx="1719072" cy="530352"/>
          </a:xfrm>
          <a:prstGeom prst="rect">
            <a:avLst/>
          </a:prstGeom>
          <a:noFill/>
          <a:ln/>
        </p:spPr>
        <p:txBody>
          <a:bodyPr wrap="square" rtlCol="0" anchor="t"/>
          <a:lstStyle/>
          <a:p>
            <a:pPr marL="0" indent="0">
              <a:buNone/>
            </a:pPr>
            <a:r>
              <a:rPr lang="en-US" sz="950">
                <a:solidFill>
                  <a:srgbClr val="3D4A5C"/>
                </a:solidFill>
                <a:latin typeface="Calibri" pitchFamily="34" charset="0"/>
                <a:ea typeface="Calibri" pitchFamily="34" charset="-122"/>
                <a:cs typeface="Calibri" pitchFamily="34" charset="-120"/>
              </a:rPr>
              <a:t>Require human review for all rejections; add contestability mechanism</a:t>
            </a:r>
            <a:endParaRPr lang="en-US" sz="950"/>
          </a:p>
        </p:txBody>
      </p:sp>
      <p:sp>
        <p:nvSpPr>
          <p:cNvPr id="56" name="Shape 54"/>
          <p:cNvSpPr/>
          <p:nvPr/>
        </p:nvSpPr>
        <p:spPr>
          <a:xfrm>
            <a:off x="6894576" y="3538728"/>
            <a:ext cx="91440" cy="91440"/>
          </a:xfrm>
          <a:prstGeom prst="rect">
            <a:avLst/>
          </a:prstGeom>
          <a:solidFill>
            <a:srgbClr val="1A2744"/>
          </a:solidFill>
          <a:ln w="12700">
            <a:solidFill>
              <a:srgbClr val="1A2744"/>
            </a:solidFill>
            <a:prstDash val="solid"/>
          </a:ln>
        </p:spPr>
        <p:txBody>
          <a:bodyPr/>
          <a:lstStyle/>
          <a:p>
            <a:endParaRPr lang="en-PT"/>
          </a:p>
        </p:txBody>
      </p:sp>
      <p:sp>
        <p:nvSpPr>
          <p:cNvPr id="57" name="Text 55"/>
          <p:cNvSpPr/>
          <p:nvPr/>
        </p:nvSpPr>
        <p:spPr>
          <a:xfrm>
            <a:off x="7040880" y="3493008"/>
            <a:ext cx="1719072" cy="530352"/>
          </a:xfrm>
          <a:prstGeom prst="rect">
            <a:avLst/>
          </a:prstGeom>
          <a:noFill/>
          <a:ln/>
        </p:spPr>
        <p:txBody>
          <a:bodyPr wrap="square" rtlCol="0" anchor="t"/>
          <a:lstStyle/>
          <a:p>
            <a:pPr marL="0" indent="0">
              <a:buNone/>
            </a:pPr>
            <a:r>
              <a:rPr lang="en-US" sz="950">
                <a:solidFill>
                  <a:srgbClr val="3D4A5C"/>
                </a:solidFill>
                <a:latin typeface="Calibri" pitchFamily="34" charset="0"/>
                <a:ea typeface="Calibri" pitchFamily="34" charset="-122"/>
                <a:cs typeface="Calibri" pitchFamily="34" charset="-120"/>
              </a:rPr>
              <a:t>Complete DPIA and AI Act conformity assessment; appoint DPO</a:t>
            </a:r>
            <a:endParaRPr lang="en-US" sz="950"/>
          </a:p>
        </p:txBody>
      </p:sp>
      <p:sp>
        <p:nvSpPr>
          <p:cNvPr id="58" name="Shape 56"/>
          <p:cNvSpPr/>
          <p:nvPr/>
        </p:nvSpPr>
        <p:spPr>
          <a:xfrm>
            <a:off x="274320" y="4507992"/>
            <a:ext cx="8577072" cy="320040"/>
          </a:xfrm>
          <a:prstGeom prst="rect">
            <a:avLst/>
          </a:prstGeom>
          <a:solidFill>
            <a:srgbClr val="1A2744"/>
          </a:solidFill>
          <a:ln w="12700">
            <a:solidFill>
              <a:srgbClr val="1A2744"/>
            </a:solidFill>
            <a:prstDash val="solid"/>
          </a:ln>
        </p:spPr>
        <p:txBody>
          <a:bodyPr/>
          <a:lstStyle/>
          <a:p>
            <a:endParaRPr lang="en-PT"/>
          </a:p>
        </p:txBody>
      </p:sp>
      <p:sp>
        <p:nvSpPr>
          <p:cNvPr id="59" name="Text 57"/>
          <p:cNvSpPr/>
          <p:nvPr/>
        </p:nvSpPr>
        <p:spPr>
          <a:xfrm>
            <a:off x="347472" y="4498848"/>
            <a:ext cx="8412480" cy="320040"/>
          </a:xfrm>
          <a:prstGeom prst="rect">
            <a:avLst/>
          </a:prstGeom>
          <a:noFill/>
          <a:ln/>
        </p:spPr>
        <p:txBody>
          <a:bodyPr wrap="square" rtlCol="0" anchor="ctr"/>
          <a:lstStyle/>
          <a:p>
            <a:pPr marL="0" indent="0" algn="ctr">
              <a:buNone/>
            </a:pPr>
            <a:r>
              <a:rPr lang="en-US" sz="1000" b="1" i="1" err="1">
                <a:solidFill>
                  <a:srgbClr val="FFFFFF"/>
                </a:solidFill>
                <a:latin typeface="Calibri" pitchFamily="34" charset="0"/>
                <a:ea typeface="Calibri" pitchFamily="34" charset="-122"/>
                <a:cs typeface="Calibri" pitchFamily="34" charset="-120"/>
              </a:rPr>
              <a:t>NovaCred's</a:t>
            </a:r>
            <a:r>
              <a:rPr lang="en-US" sz="1000" b="1" i="1">
                <a:solidFill>
                  <a:srgbClr val="FFFFFF"/>
                </a:solidFill>
                <a:latin typeface="Calibri" pitchFamily="34" charset="0"/>
                <a:ea typeface="Calibri" pitchFamily="34" charset="-122"/>
                <a:cs typeface="Calibri" pitchFamily="34" charset="-120"/>
              </a:rPr>
              <a:t> credit scoring pipeline exhibits statistically confirmed gender and age disparities, stores PII in plaintext, and operates with zero compliance controls under the EU AI Act.</a:t>
            </a:r>
            <a:endParaRPr lang="en-US" sz="1000"/>
          </a:p>
        </p:txBody>
      </p:sp>
      <p:sp>
        <p:nvSpPr>
          <p:cNvPr id="60" name="Shape 58"/>
          <p:cNvSpPr/>
          <p:nvPr/>
        </p:nvSpPr>
        <p:spPr>
          <a:xfrm>
            <a:off x="0" y="4864608"/>
            <a:ext cx="9144000" cy="278892"/>
          </a:xfrm>
          <a:prstGeom prst="rect">
            <a:avLst/>
          </a:prstGeom>
          <a:solidFill>
            <a:srgbClr val="000000"/>
          </a:solidFill>
          <a:ln w="12700">
            <a:solidFill>
              <a:srgbClr val="000000"/>
            </a:solidFill>
            <a:prstDash val="solid"/>
          </a:ln>
        </p:spPr>
        <p:txBody>
          <a:bodyPr/>
          <a:lstStyle/>
          <a:p>
            <a:endParaRPr lang="en-PT"/>
          </a:p>
        </p:txBody>
      </p:sp>
      <p:sp>
        <p:nvSpPr>
          <p:cNvPr id="61" name="Text 59"/>
          <p:cNvSpPr/>
          <p:nvPr/>
        </p:nvSpPr>
        <p:spPr>
          <a:xfrm>
            <a:off x="274320" y="4873752"/>
            <a:ext cx="8046720" cy="246888"/>
          </a:xfrm>
          <a:prstGeom prst="rect">
            <a:avLst/>
          </a:prstGeom>
          <a:noFill/>
          <a:ln/>
        </p:spPr>
        <p:txBody>
          <a:bodyPr wrap="square" rtlCol="0" anchor="ctr"/>
          <a:lstStyle/>
          <a:p>
            <a:pPr marL="0" indent="0">
              <a:buNone/>
            </a:pPr>
            <a:r>
              <a:rPr lang="en-US" sz="800">
                <a:solidFill>
                  <a:srgbClr val="999999"/>
                </a:solidFill>
                <a:latin typeface="Calibri" pitchFamily="34" charset="0"/>
                <a:ea typeface="Calibri" pitchFamily="34" charset="-122"/>
                <a:cs typeface="Calibri" pitchFamily="34" charset="-120"/>
              </a:rPr>
              <a:t>Team 14 — TXB  |  NovaCred Credit Governance  |  DEGO 2606, Nova SBE</a:t>
            </a:r>
            <a:endParaRPr lang="en-US" sz="800"/>
          </a:p>
        </p:txBody>
      </p:sp>
      <p:sp>
        <p:nvSpPr>
          <p:cNvPr id="62" name="Text 60"/>
          <p:cNvSpPr/>
          <p:nvPr/>
        </p:nvSpPr>
        <p:spPr>
          <a:xfrm>
            <a:off x="8686800" y="4873752"/>
            <a:ext cx="365760" cy="246888"/>
          </a:xfrm>
          <a:prstGeom prst="rect">
            <a:avLst/>
          </a:prstGeom>
          <a:noFill/>
          <a:ln/>
        </p:spPr>
        <p:txBody>
          <a:bodyPr wrap="square" rtlCol="0" anchor="ctr"/>
          <a:lstStyle/>
          <a:p>
            <a:pPr marL="0" indent="0" algn="r">
              <a:buNone/>
            </a:pPr>
            <a:r>
              <a:rPr lang="en-US" sz="950">
                <a:solidFill>
                  <a:srgbClr val="999999"/>
                </a:solidFill>
                <a:latin typeface="Calibri" pitchFamily="34" charset="0"/>
                <a:ea typeface="Calibri" pitchFamily="34" charset="-122"/>
                <a:cs typeface="Calibri" pitchFamily="34" charset="-120"/>
              </a:rPr>
              <a:t>11</a:t>
            </a:r>
            <a:endParaRPr lang="en-US" sz="95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A2744"/>
          </a:solidFill>
          <a:ln w="12700">
            <a:solidFill>
              <a:srgbClr val="1A2744"/>
            </a:solidFill>
            <a:prstDash val="solid"/>
          </a:ln>
        </p:spPr>
        <p:txBody>
          <a:bodyPr/>
          <a:lstStyle/>
          <a:p>
            <a:endParaRPr lang="en-PT"/>
          </a:p>
        </p:txBody>
      </p:sp>
      <p:sp>
        <p:nvSpPr>
          <p:cNvPr id="3" name="Shape 1"/>
          <p:cNvSpPr/>
          <p:nvPr/>
        </p:nvSpPr>
        <p:spPr>
          <a:xfrm>
            <a:off x="0" y="0"/>
            <a:ext cx="274320" cy="713232"/>
          </a:xfrm>
          <a:prstGeom prst="rect">
            <a:avLst/>
          </a:prstGeom>
          <a:solidFill>
            <a:srgbClr val="C0392B"/>
          </a:solidFill>
          <a:ln w="12700">
            <a:solidFill>
              <a:srgbClr val="C0392B"/>
            </a:solidFill>
            <a:prstDash val="solid"/>
          </a:ln>
        </p:spPr>
        <p:txBody>
          <a:bodyPr/>
          <a:lstStyle/>
          <a:p>
            <a:endParaRPr lang="en-PT"/>
          </a:p>
        </p:txBody>
      </p:sp>
      <p:sp>
        <p:nvSpPr>
          <p:cNvPr id="4" name="Text 2"/>
          <p:cNvSpPr/>
          <p:nvPr/>
        </p:nvSpPr>
        <p:spPr>
          <a:xfrm>
            <a:off x="411480" y="73152"/>
            <a:ext cx="8503920" cy="411480"/>
          </a:xfrm>
          <a:prstGeom prst="rect">
            <a:avLst/>
          </a:prstGeom>
          <a:noFill/>
          <a:ln/>
        </p:spPr>
        <p:txBody>
          <a:bodyPr wrap="square" rtlCol="0" anchor="ctr"/>
          <a:lstStyle/>
          <a:p>
            <a:pPr marL="0" indent="0">
              <a:buNone/>
            </a:pPr>
            <a:r>
              <a:rPr lang="en-US" sz="2200" b="1">
                <a:solidFill>
                  <a:srgbClr val="FFFFFF"/>
                </a:solidFill>
                <a:latin typeface="Georgia" pitchFamily="34" charset="0"/>
                <a:ea typeface="Georgia" pitchFamily="34" charset="-122"/>
                <a:cs typeface="Georgia" pitchFamily="34" charset="-120"/>
              </a:rPr>
              <a:t>Recommendations Roadmap</a:t>
            </a:r>
            <a:endParaRPr lang="en-US" sz="2200"/>
          </a:p>
        </p:txBody>
      </p:sp>
      <p:sp>
        <p:nvSpPr>
          <p:cNvPr id="5" name="Text 3"/>
          <p:cNvSpPr/>
          <p:nvPr/>
        </p:nvSpPr>
        <p:spPr>
          <a:xfrm>
            <a:off x="411480" y="475488"/>
            <a:ext cx="8503920" cy="201168"/>
          </a:xfrm>
          <a:prstGeom prst="rect">
            <a:avLst/>
          </a:prstGeom>
          <a:noFill/>
          <a:ln/>
        </p:spPr>
        <p:txBody>
          <a:bodyPr wrap="square" rtlCol="0" anchor="ctr"/>
          <a:lstStyle/>
          <a:p>
            <a:pPr marL="0" indent="0">
              <a:buNone/>
            </a:pPr>
            <a:r>
              <a:rPr lang="en-US" sz="1100" i="1">
                <a:solidFill>
                  <a:srgbClr val="AABBD0"/>
                </a:solidFill>
                <a:latin typeface="Calibri" pitchFamily="34" charset="0"/>
                <a:ea typeface="Calibri" pitchFamily="34" charset="-122"/>
                <a:cs typeface="Calibri" pitchFamily="34" charset="-120"/>
              </a:rPr>
              <a:t>15 remediation actions across three implementation horizons — sequenced by legal urgency</a:t>
            </a:r>
            <a:endParaRPr lang="en-US" sz="1100"/>
          </a:p>
        </p:txBody>
      </p:sp>
      <p:sp>
        <p:nvSpPr>
          <p:cNvPr id="6" name="Shape 4"/>
          <p:cNvSpPr/>
          <p:nvPr/>
        </p:nvSpPr>
        <p:spPr>
          <a:xfrm>
            <a:off x="7406640" y="804672"/>
            <a:ext cx="1417320" cy="621792"/>
          </a:xfrm>
          <a:prstGeom prst="rect">
            <a:avLst/>
          </a:prstGeom>
          <a:solidFill>
            <a:srgbClr val="1A2744"/>
          </a:solidFill>
          <a:ln w="12700">
            <a:solidFill>
              <a:srgbClr val="1A2744"/>
            </a:solidFill>
            <a:prstDash val="solid"/>
          </a:ln>
        </p:spPr>
        <p:txBody>
          <a:bodyPr/>
          <a:lstStyle/>
          <a:p>
            <a:endParaRPr lang="en-PT"/>
          </a:p>
        </p:txBody>
      </p:sp>
      <p:sp>
        <p:nvSpPr>
          <p:cNvPr id="7" name="Text 5"/>
          <p:cNvSpPr/>
          <p:nvPr/>
        </p:nvSpPr>
        <p:spPr>
          <a:xfrm>
            <a:off x="7406640" y="804672"/>
            <a:ext cx="1417320" cy="384048"/>
          </a:xfrm>
          <a:prstGeom prst="rect">
            <a:avLst/>
          </a:prstGeom>
          <a:noFill/>
          <a:ln/>
        </p:spPr>
        <p:txBody>
          <a:bodyPr wrap="square" rtlCol="0" anchor="ctr"/>
          <a:lstStyle/>
          <a:p>
            <a:pPr marL="0" indent="0" algn="ctr">
              <a:buNone/>
            </a:pPr>
            <a:r>
              <a:rPr lang="en-US" sz="2800" b="1">
                <a:solidFill>
                  <a:srgbClr val="FFFFFF"/>
                </a:solidFill>
                <a:latin typeface="Georgia" pitchFamily="34" charset="0"/>
                <a:ea typeface="Georgia" pitchFamily="34" charset="-122"/>
                <a:cs typeface="Georgia" pitchFamily="34" charset="-120"/>
              </a:rPr>
              <a:t>15</a:t>
            </a:r>
            <a:endParaRPr lang="en-US" sz="2800"/>
          </a:p>
        </p:txBody>
      </p:sp>
      <p:sp>
        <p:nvSpPr>
          <p:cNvPr id="8" name="Text 6"/>
          <p:cNvSpPr/>
          <p:nvPr/>
        </p:nvSpPr>
        <p:spPr>
          <a:xfrm>
            <a:off x="7406640" y="1161288"/>
            <a:ext cx="1417320" cy="164592"/>
          </a:xfrm>
          <a:prstGeom prst="rect">
            <a:avLst/>
          </a:prstGeom>
          <a:noFill/>
          <a:ln/>
        </p:spPr>
        <p:txBody>
          <a:bodyPr wrap="square" rtlCol="0" anchor="ctr"/>
          <a:lstStyle/>
          <a:p>
            <a:pPr marL="0" indent="0" algn="ctr">
              <a:buNone/>
            </a:pPr>
            <a:r>
              <a:rPr lang="en-US" sz="700" kern="0" spc="100">
                <a:solidFill>
                  <a:srgbClr val="AABBD0"/>
                </a:solidFill>
                <a:latin typeface="Calibri" pitchFamily="34" charset="0"/>
                <a:ea typeface="Calibri" pitchFamily="34" charset="-122"/>
                <a:cs typeface="Calibri" pitchFamily="34" charset="-120"/>
              </a:rPr>
              <a:t>TOTAL ACTIONS</a:t>
            </a:r>
            <a:endParaRPr lang="en-US" sz="700"/>
          </a:p>
        </p:txBody>
      </p:sp>
      <p:sp>
        <p:nvSpPr>
          <p:cNvPr id="9" name="Text 7"/>
          <p:cNvSpPr/>
          <p:nvPr/>
        </p:nvSpPr>
        <p:spPr>
          <a:xfrm>
            <a:off x="1435608" y="868680"/>
            <a:ext cx="457200" cy="164592"/>
          </a:xfrm>
          <a:prstGeom prst="rect">
            <a:avLst/>
          </a:prstGeom>
          <a:noFill/>
          <a:ln/>
        </p:spPr>
        <p:txBody>
          <a:bodyPr wrap="square" rtlCol="0" anchor="ctr"/>
          <a:lstStyle/>
          <a:p>
            <a:pPr marL="0" indent="0" algn="ctr">
              <a:buNone/>
            </a:pPr>
            <a:r>
              <a:rPr lang="en-US" sz="850">
                <a:solidFill>
                  <a:srgbClr val="8492A6"/>
                </a:solidFill>
                <a:latin typeface="Calibri" pitchFamily="34" charset="0"/>
                <a:ea typeface="Calibri" pitchFamily="34" charset="-122"/>
                <a:cs typeface="Calibri" pitchFamily="34" charset="-120"/>
              </a:rPr>
              <a:t>Day 0</a:t>
            </a:r>
            <a:endParaRPr lang="en-US" sz="850"/>
          </a:p>
        </p:txBody>
      </p:sp>
      <p:sp>
        <p:nvSpPr>
          <p:cNvPr id="10" name="Shape 8"/>
          <p:cNvSpPr/>
          <p:nvPr/>
        </p:nvSpPr>
        <p:spPr>
          <a:xfrm>
            <a:off x="1664208" y="1033272"/>
            <a:ext cx="0" cy="1261872"/>
          </a:xfrm>
          <a:prstGeom prst="line">
            <a:avLst/>
          </a:prstGeom>
          <a:noFill/>
          <a:ln w="12700">
            <a:solidFill>
              <a:srgbClr val="D8DDE6"/>
            </a:solidFill>
            <a:prstDash val="dash"/>
          </a:ln>
        </p:spPr>
        <p:txBody>
          <a:bodyPr/>
          <a:lstStyle/>
          <a:p>
            <a:endParaRPr lang="en-PT"/>
          </a:p>
        </p:txBody>
      </p:sp>
      <p:sp>
        <p:nvSpPr>
          <p:cNvPr id="11" name="Text 9"/>
          <p:cNvSpPr/>
          <p:nvPr/>
        </p:nvSpPr>
        <p:spPr>
          <a:xfrm>
            <a:off x="2350008" y="868680"/>
            <a:ext cx="457200" cy="164592"/>
          </a:xfrm>
          <a:prstGeom prst="rect">
            <a:avLst/>
          </a:prstGeom>
          <a:noFill/>
          <a:ln/>
        </p:spPr>
        <p:txBody>
          <a:bodyPr wrap="square" rtlCol="0" anchor="ctr"/>
          <a:lstStyle/>
          <a:p>
            <a:pPr marL="0" indent="0" algn="ctr">
              <a:buNone/>
            </a:pPr>
            <a:r>
              <a:rPr lang="en-US" sz="850">
                <a:solidFill>
                  <a:srgbClr val="8492A6"/>
                </a:solidFill>
                <a:latin typeface="Calibri" pitchFamily="34" charset="0"/>
                <a:ea typeface="Calibri" pitchFamily="34" charset="-122"/>
                <a:cs typeface="Calibri" pitchFamily="34" charset="-120"/>
              </a:rPr>
              <a:t>Day 30</a:t>
            </a:r>
            <a:endParaRPr lang="en-US" sz="850"/>
          </a:p>
        </p:txBody>
      </p:sp>
      <p:sp>
        <p:nvSpPr>
          <p:cNvPr id="12" name="Shape 10"/>
          <p:cNvSpPr/>
          <p:nvPr/>
        </p:nvSpPr>
        <p:spPr>
          <a:xfrm>
            <a:off x="2578608" y="1033272"/>
            <a:ext cx="0" cy="1261872"/>
          </a:xfrm>
          <a:prstGeom prst="line">
            <a:avLst/>
          </a:prstGeom>
          <a:noFill/>
          <a:ln w="12700">
            <a:solidFill>
              <a:srgbClr val="D8DDE6"/>
            </a:solidFill>
            <a:prstDash val="dash"/>
          </a:ln>
        </p:spPr>
        <p:txBody>
          <a:bodyPr/>
          <a:lstStyle/>
          <a:p>
            <a:endParaRPr lang="en-PT"/>
          </a:p>
        </p:txBody>
      </p:sp>
      <p:sp>
        <p:nvSpPr>
          <p:cNvPr id="13" name="Text 11"/>
          <p:cNvSpPr/>
          <p:nvPr/>
        </p:nvSpPr>
        <p:spPr>
          <a:xfrm>
            <a:off x="4178808" y="868680"/>
            <a:ext cx="457200" cy="164592"/>
          </a:xfrm>
          <a:prstGeom prst="rect">
            <a:avLst/>
          </a:prstGeom>
          <a:noFill/>
          <a:ln/>
        </p:spPr>
        <p:txBody>
          <a:bodyPr wrap="square" rtlCol="0" anchor="ctr"/>
          <a:lstStyle/>
          <a:p>
            <a:pPr marL="0" indent="0" algn="ctr">
              <a:buNone/>
            </a:pPr>
            <a:r>
              <a:rPr lang="en-US" sz="850">
                <a:solidFill>
                  <a:srgbClr val="8492A6"/>
                </a:solidFill>
                <a:latin typeface="Calibri" pitchFamily="34" charset="0"/>
                <a:ea typeface="Calibri" pitchFamily="34" charset="-122"/>
                <a:cs typeface="Calibri" pitchFamily="34" charset="-120"/>
              </a:rPr>
              <a:t>Day 90</a:t>
            </a:r>
            <a:endParaRPr lang="en-US" sz="850"/>
          </a:p>
        </p:txBody>
      </p:sp>
      <p:sp>
        <p:nvSpPr>
          <p:cNvPr id="14" name="Shape 12"/>
          <p:cNvSpPr/>
          <p:nvPr/>
        </p:nvSpPr>
        <p:spPr>
          <a:xfrm>
            <a:off x="4407408" y="1033272"/>
            <a:ext cx="0" cy="1261872"/>
          </a:xfrm>
          <a:prstGeom prst="line">
            <a:avLst/>
          </a:prstGeom>
          <a:noFill/>
          <a:ln w="12700">
            <a:solidFill>
              <a:srgbClr val="D8DDE6"/>
            </a:solidFill>
            <a:prstDash val="dash"/>
          </a:ln>
        </p:spPr>
        <p:txBody>
          <a:bodyPr/>
          <a:lstStyle/>
          <a:p>
            <a:endParaRPr lang="en-PT"/>
          </a:p>
        </p:txBody>
      </p:sp>
      <p:sp>
        <p:nvSpPr>
          <p:cNvPr id="15" name="Text 13"/>
          <p:cNvSpPr/>
          <p:nvPr/>
        </p:nvSpPr>
        <p:spPr>
          <a:xfrm>
            <a:off x="6922008" y="868680"/>
            <a:ext cx="457200" cy="164592"/>
          </a:xfrm>
          <a:prstGeom prst="rect">
            <a:avLst/>
          </a:prstGeom>
          <a:noFill/>
          <a:ln/>
        </p:spPr>
        <p:txBody>
          <a:bodyPr wrap="square" rtlCol="0" anchor="ctr"/>
          <a:lstStyle/>
          <a:p>
            <a:pPr marL="0" indent="0" algn="ctr">
              <a:buNone/>
            </a:pPr>
            <a:r>
              <a:rPr lang="en-US" sz="850">
                <a:solidFill>
                  <a:srgbClr val="8492A6"/>
                </a:solidFill>
                <a:latin typeface="Calibri" pitchFamily="34" charset="0"/>
                <a:ea typeface="Calibri" pitchFamily="34" charset="-122"/>
                <a:cs typeface="Calibri" pitchFamily="34" charset="-120"/>
              </a:rPr>
              <a:t>Day 180</a:t>
            </a:r>
            <a:endParaRPr lang="en-US" sz="850"/>
          </a:p>
        </p:txBody>
      </p:sp>
      <p:sp>
        <p:nvSpPr>
          <p:cNvPr id="16" name="Shape 14"/>
          <p:cNvSpPr/>
          <p:nvPr/>
        </p:nvSpPr>
        <p:spPr>
          <a:xfrm>
            <a:off x="7150608" y="1033272"/>
            <a:ext cx="0" cy="1261872"/>
          </a:xfrm>
          <a:prstGeom prst="line">
            <a:avLst/>
          </a:prstGeom>
          <a:noFill/>
          <a:ln w="12700">
            <a:solidFill>
              <a:srgbClr val="D8DDE6"/>
            </a:solidFill>
            <a:prstDash val="dash"/>
          </a:ln>
        </p:spPr>
        <p:txBody>
          <a:bodyPr/>
          <a:lstStyle/>
          <a:p>
            <a:endParaRPr lang="en-PT"/>
          </a:p>
        </p:txBody>
      </p:sp>
      <p:sp>
        <p:nvSpPr>
          <p:cNvPr id="17" name="Text 15"/>
          <p:cNvSpPr/>
          <p:nvPr/>
        </p:nvSpPr>
        <p:spPr>
          <a:xfrm>
            <a:off x="320040" y="1106424"/>
            <a:ext cx="1207008" cy="347472"/>
          </a:xfrm>
          <a:prstGeom prst="rect">
            <a:avLst/>
          </a:prstGeom>
          <a:noFill/>
          <a:ln/>
        </p:spPr>
        <p:txBody>
          <a:bodyPr wrap="square" rtlCol="0" anchor="ctr"/>
          <a:lstStyle/>
          <a:p>
            <a:pPr marL="0" indent="0">
              <a:buNone/>
            </a:pPr>
            <a:r>
              <a:rPr lang="en-US" sz="1000" b="1">
                <a:solidFill>
                  <a:srgbClr val="1A2744"/>
                </a:solidFill>
                <a:latin typeface="Calibri" pitchFamily="34" charset="0"/>
                <a:ea typeface="Calibri" pitchFamily="34" charset="-122"/>
                <a:cs typeface="Calibri" pitchFamily="34" charset="-120"/>
              </a:rPr>
              <a:t>Immediate</a:t>
            </a:r>
            <a:endParaRPr lang="en-US" sz="1000"/>
          </a:p>
          <a:p>
            <a:pPr marL="0" indent="0">
              <a:buNone/>
            </a:pPr>
            <a:r>
              <a:rPr lang="en-US" sz="1000" b="1">
                <a:solidFill>
                  <a:srgbClr val="1A2744"/>
                </a:solidFill>
                <a:latin typeface="Calibri" pitchFamily="34" charset="0"/>
                <a:ea typeface="Calibri" pitchFamily="34" charset="-122"/>
                <a:cs typeface="Calibri" pitchFamily="34" charset="-120"/>
              </a:rPr>
              <a:t>(0–30d)</a:t>
            </a:r>
            <a:endParaRPr lang="en-US" sz="1000"/>
          </a:p>
        </p:txBody>
      </p:sp>
      <p:sp>
        <p:nvSpPr>
          <p:cNvPr id="18" name="Shape 16"/>
          <p:cNvSpPr/>
          <p:nvPr/>
        </p:nvSpPr>
        <p:spPr>
          <a:xfrm>
            <a:off x="1664208" y="1152144"/>
            <a:ext cx="5486400" cy="274320"/>
          </a:xfrm>
          <a:prstGeom prst="rect">
            <a:avLst/>
          </a:prstGeom>
          <a:solidFill>
            <a:srgbClr val="EBEBEB"/>
          </a:solidFill>
          <a:ln w="12700">
            <a:solidFill>
              <a:srgbClr val="D8DDE6"/>
            </a:solidFill>
            <a:prstDash val="solid"/>
          </a:ln>
        </p:spPr>
        <p:txBody>
          <a:bodyPr/>
          <a:lstStyle/>
          <a:p>
            <a:endParaRPr lang="en-PT"/>
          </a:p>
        </p:txBody>
      </p:sp>
      <p:sp>
        <p:nvSpPr>
          <p:cNvPr id="19" name="Shape 17"/>
          <p:cNvSpPr/>
          <p:nvPr/>
        </p:nvSpPr>
        <p:spPr>
          <a:xfrm>
            <a:off x="1664208" y="1152144"/>
            <a:ext cx="914400" cy="274320"/>
          </a:xfrm>
          <a:prstGeom prst="rect">
            <a:avLst/>
          </a:prstGeom>
          <a:solidFill>
            <a:srgbClr val="C0392B"/>
          </a:solidFill>
          <a:ln w="12700">
            <a:solidFill>
              <a:srgbClr val="C0392B"/>
            </a:solidFill>
            <a:prstDash val="solid"/>
          </a:ln>
        </p:spPr>
        <p:txBody>
          <a:bodyPr/>
          <a:lstStyle/>
          <a:p>
            <a:endParaRPr lang="en-PT"/>
          </a:p>
        </p:txBody>
      </p:sp>
      <p:sp>
        <p:nvSpPr>
          <p:cNvPr id="20" name="Text 18"/>
          <p:cNvSpPr/>
          <p:nvPr/>
        </p:nvSpPr>
        <p:spPr>
          <a:xfrm>
            <a:off x="1755648" y="1170432"/>
            <a:ext cx="777240" cy="237744"/>
          </a:xfrm>
          <a:prstGeom prst="rect">
            <a:avLst/>
          </a:prstGeom>
          <a:noFill/>
          <a:ln/>
        </p:spPr>
        <p:txBody>
          <a:bodyPr wrap="square" rtlCol="0" anchor="ctr"/>
          <a:lstStyle/>
          <a:p>
            <a:pPr marL="0" indent="0">
              <a:buNone/>
            </a:pPr>
            <a:r>
              <a:rPr lang="en-US" sz="1100" b="1">
                <a:solidFill>
                  <a:srgbClr val="FFFFFF"/>
                </a:solidFill>
                <a:latin typeface="Calibri" pitchFamily="34" charset="0"/>
                <a:ea typeface="Calibri" pitchFamily="34" charset="-122"/>
                <a:cs typeface="Calibri" pitchFamily="34" charset="-120"/>
              </a:rPr>
              <a:t>5 actions</a:t>
            </a:r>
            <a:endParaRPr lang="en-US" sz="1100"/>
          </a:p>
        </p:txBody>
      </p:sp>
      <p:sp>
        <p:nvSpPr>
          <p:cNvPr id="21" name="Text 19"/>
          <p:cNvSpPr/>
          <p:nvPr/>
        </p:nvSpPr>
        <p:spPr>
          <a:xfrm>
            <a:off x="320040" y="1536192"/>
            <a:ext cx="1207008" cy="347472"/>
          </a:xfrm>
          <a:prstGeom prst="rect">
            <a:avLst/>
          </a:prstGeom>
          <a:noFill/>
          <a:ln/>
        </p:spPr>
        <p:txBody>
          <a:bodyPr wrap="square" rtlCol="0" anchor="ctr"/>
          <a:lstStyle/>
          <a:p>
            <a:pPr marL="0" indent="0">
              <a:buNone/>
            </a:pPr>
            <a:r>
              <a:rPr lang="en-US" sz="1000" b="1">
                <a:solidFill>
                  <a:srgbClr val="1A2744"/>
                </a:solidFill>
                <a:latin typeface="Calibri" pitchFamily="34" charset="0"/>
                <a:ea typeface="Calibri" pitchFamily="34" charset="-122"/>
                <a:cs typeface="Calibri" pitchFamily="34" charset="-120"/>
              </a:rPr>
              <a:t>Short-term</a:t>
            </a:r>
            <a:endParaRPr lang="en-US" sz="1000"/>
          </a:p>
          <a:p>
            <a:pPr marL="0" indent="0">
              <a:buNone/>
            </a:pPr>
            <a:r>
              <a:rPr lang="en-US" sz="1000" b="1">
                <a:solidFill>
                  <a:srgbClr val="1A2744"/>
                </a:solidFill>
                <a:latin typeface="Calibri" pitchFamily="34" charset="0"/>
                <a:ea typeface="Calibri" pitchFamily="34" charset="-122"/>
                <a:cs typeface="Calibri" pitchFamily="34" charset="-120"/>
              </a:rPr>
              <a:t>(30–90d)</a:t>
            </a:r>
            <a:endParaRPr lang="en-US" sz="1000"/>
          </a:p>
        </p:txBody>
      </p:sp>
      <p:sp>
        <p:nvSpPr>
          <p:cNvPr id="22" name="Shape 20"/>
          <p:cNvSpPr/>
          <p:nvPr/>
        </p:nvSpPr>
        <p:spPr>
          <a:xfrm>
            <a:off x="1664208" y="1581912"/>
            <a:ext cx="5486400" cy="274320"/>
          </a:xfrm>
          <a:prstGeom prst="rect">
            <a:avLst/>
          </a:prstGeom>
          <a:solidFill>
            <a:srgbClr val="EBEBEB"/>
          </a:solidFill>
          <a:ln w="12700">
            <a:solidFill>
              <a:srgbClr val="D8DDE6"/>
            </a:solidFill>
            <a:prstDash val="solid"/>
          </a:ln>
        </p:spPr>
        <p:txBody>
          <a:bodyPr/>
          <a:lstStyle/>
          <a:p>
            <a:endParaRPr lang="en-PT"/>
          </a:p>
        </p:txBody>
      </p:sp>
      <p:sp>
        <p:nvSpPr>
          <p:cNvPr id="23" name="Shape 21"/>
          <p:cNvSpPr/>
          <p:nvPr/>
        </p:nvSpPr>
        <p:spPr>
          <a:xfrm>
            <a:off x="2578608" y="1581912"/>
            <a:ext cx="1828800" cy="274320"/>
          </a:xfrm>
          <a:prstGeom prst="rect">
            <a:avLst/>
          </a:prstGeom>
          <a:solidFill>
            <a:srgbClr val="E67E22"/>
          </a:solidFill>
          <a:ln w="12700">
            <a:solidFill>
              <a:srgbClr val="E67E22"/>
            </a:solidFill>
            <a:prstDash val="solid"/>
          </a:ln>
        </p:spPr>
        <p:txBody>
          <a:bodyPr/>
          <a:lstStyle/>
          <a:p>
            <a:endParaRPr lang="en-PT"/>
          </a:p>
        </p:txBody>
      </p:sp>
      <p:sp>
        <p:nvSpPr>
          <p:cNvPr id="24" name="Text 22"/>
          <p:cNvSpPr/>
          <p:nvPr/>
        </p:nvSpPr>
        <p:spPr>
          <a:xfrm>
            <a:off x="2670048" y="1600200"/>
            <a:ext cx="1691640" cy="237744"/>
          </a:xfrm>
          <a:prstGeom prst="rect">
            <a:avLst/>
          </a:prstGeom>
          <a:noFill/>
          <a:ln/>
        </p:spPr>
        <p:txBody>
          <a:bodyPr wrap="square" rtlCol="0" anchor="ctr"/>
          <a:lstStyle/>
          <a:p>
            <a:pPr marL="0" indent="0">
              <a:buNone/>
            </a:pPr>
            <a:r>
              <a:rPr lang="en-US" sz="1100" b="1">
                <a:solidFill>
                  <a:srgbClr val="FFFFFF"/>
                </a:solidFill>
                <a:latin typeface="Calibri" pitchFamily="34" charset="0"/>
                <a:ea typeface="Calibri" pitchFamily="34" charset="-122"/>
                <a:cs typeface="Calibri" pitchFamily="34" charset="-120"/>
              </a:rPr>
              <a:t>6 actions</a:t>
            </a:r>
            <a:endParaRPr lang="en-US" sz="1100"/>
          </a:p>
        </p:txBody>
      </p:sp>
      <p:sp>
        <p:nvSpPr>
          <p:cNvPr id="25" name="Text 23"/>
          <p:cNvSpPr/>
          <p:nvPr/>
        </p:nvSpPr>
        <p:spPr>
          <a:xfrm>
            <a:off x="320040" y="1965960"/>
            <a:ext cx="1207008" cy="347472"/>
          </a:xfrm>
          <a:prstGeom prst="rect">
            <a:avLst/>
          </a:prstGeom>
          <a:noFill/>
          <a:ln/>
        </p:spPr>
        <p:txBody>
          <a:bodyPr wrap="square" rtlCol="0" anchor="ctr"/>
          <a:lstStyle/>
          <a:p>
            <a:pPr marL="0" indent="0">
              <a:buNone/>
            </a:pPr>
            <a:r>
              <a:rPr lang="en-US" sz="1000" b="1">
                <a:solidFill>
                  <a:srgbClr val="1A2744"/>
                </a:solidFill>
                <a:latin typeface="Calibri" pitchFamily="34" charset="0"/>
                <a:ea typeface="Calibri" pitchFamily="34" charset="-122"/>
                <a:cs typeface="Calibri" pitchFamily="34" charset="-120"/>
              </a:rPr>
              <a:t>Medium-term</a:t>
            </a:r>
            <a:endParaRPr lang="en-US" sz="1000"/>
          </a:p>
          <a:p>
            <a:pPr marL="0" indent="0">
              <a:buNone/>
            </a:pPr>
            <a:r>
              <a:rPr lang="en-US" sz="1000" b="1">
                <a:solidFill>
                  <a:srgbClr val="1A2744"/>
                </a:solidFill>
                <a:latin typeface="Calibri" pitchFamily="34" charset="0"/>
                <a:ea typeface="Calibri" pitchFamily="34" charset="-122"/>
                <a:cs typeface="Calibri" pitchFamily="34" charset="-120"/>
              </a:rPr>
              <a:t>(90–180d)</a:t>
            </a:r>
            <a:endParaRPr lang="en-US" sz="1000"/>
          </a:p>
        </p:txBody>
      </p:sp>
      <p:sp>
        <p:nvSpPr>
          <p:cNvPr id="26" name="Shape 24"/>
          <p:cNvSpPr/>
          <p:nvPr/>
        </p:nvSpPr>
        <p:spPr>
          <a:xfrm>
            <a:off x="1664208" y="2011680"/>
            <a:ext cx="5486400" cy="274320"/>
          </a:xfrm>
          <a:prstGeom prst="rect">
            <a:avLst/>
          </a:prstGeom>
          <a:solidFill>
            <a:srgbClr val="EBEBEB"/>
          </a:solidFill>
          <a:ln w="12700">
            <a:solidFill>
              <a:srgbClr val="D8DDE6"/>
            </a:solidFill>
            <a:prstDash val="solid"/>
          </a:ln>
        </p:spPr>
        <p:txBody>
          <a:bodyPr/>
          <a:lstStyle/>
          <a:p>
            <a:endParaRPr lang="en-PT"/>
          </a:p>
        </p:txBody>
      </p:sp>
      <p:sp>
        <p:nvSpPr>
          <p:cNvPr id="27" name="Shape 25"/>
          <p:cNvSpPr/>
          <p:nvPr/>
        </p:nvSpPr>
        <p:spPr>
          <a:xfrm>
            <a:off x="4407408" y="2011680"/>
            <a:ext cx="2743200" cy="274320"/>
          </a:xfrm>
          <a:prstGeom prst="rect">
            <a:avLst/>
          </a:prstGeom>
          <a:solidFill>
            <a:srgbClr val="5B8EC4"/>
          </a:solidFill>
          <a:ln w="12700">
            <a:solidFill>
              <a:srgbClr val="5B8EC4"/>
            </a:solidFill>
            <a:prstDash val="solid"/>
          </a:ln>
        </p:spPr>
        <p:txBody>
          <a:bodyPr/>
          <a:lstStyle/>
          <a:p>
            <a:endParaRPr lang="en-PT"/>
          </a:p>
        </p:txBody>
      </p:sp>
      <p:sp>
        <p:nvSpPr>
          <p:cNvPr id="28" name="Text 26"/>
          <p:cNvSpPr/>
          <p:nvPr/>
        </p:nvSpPr>
        <p:spPr>
          <a:xfrm>
            <a:off x="4498848" y="2029968"/>
            <a:ext cx="2606040" cy="237744"/>
          </a:xfrm>
          <a:prstGeom prst="rect">
            <a:avLst/>
          </a:prstGeom>
          <a:noFill/>
          <a:ln/>
        </p:spPr>
        <p:txBody>
          <a:bodyPr wrap="square" rtlCol="0" anchor="ctr"/>
          <a:lstStyle/>
          <a:p>
            <a:pPr marL="0" indent="0">
              <a:buNone/>
            </a:pPr>
            <a:r>
              <a:rPr lang="en-US" sz="1100" b="1">
                <a:solidFill>
                  <a:srgbClr val="FFFFFF"/>
                </a:solidFill>
                <a:latin typeface="Calibri" pitchFamily="34" charset="0"/>
                <a:ea typeface="Calibri" pitchFamily="34" charset="-122"/>
                <a:cs typeface="Calibri" pitchFamily="34" charset="-120"/>
              </a:rPr>
              <a:t>4 actions</a:t>
            </a:r>
            <a:endParaRPr lang="en-US" sz="1100"/>
          </a:p>
        </p:txBody>
      </p:sp>
      <p:sp>
        <p:nvSpPr>
          <p:cNvPr id="29" name="Shape 27"/>
          <p:cNvSpPr/>
          <p:nvPr/>
        </p:nvSpPr>
        <p:spPr>
          <a:xfrm>
            <a:off x="274320" y="2331720"/>
            <a:ext cx="2816352" cy="2423160"/>
          </a:xfrm>
          <a:prstGeom prst="rect">
            <a:avLst/>
          </a:prstGeom>
          <a:solidFill>
            <a:srgbClr val="FFFFFF"/>
          </a:solidFill>
          <a:ln w="12700">
            <a:solidFill>
              <a:srgbClr val="D0D7E0"/>
            </a:solidFill>
            <a:prstDash val="solid"/>
          </a:ln>
          <a:effectLst>
            <a:outerShdw blurRad="76200" dist="25400" dir="8100000" algn="bl" rotWithShape="0">
              <a:srgbClr val="000000">
                <a:alpha val="10000"/>
              </a:srgbClr>
            </a:outerShdw>
          </a:effectLst>
        </p:spPr>
        <p:txBody>
          <a:bodyPr/>
          <a:lstStyle/>
          <a:p>
            <a:endParaRPr lang="en-PT"/>
          </a:p>
        </p:txBody>
      </p:sp>
      <p:sp>
        <p:nvSpPr>
          <p:cNvPr id="30" name="Shape 28"/>
          <p:cNvSpPr/>
          <p:nvPr/>
        </p:nvSpPr>
        <p:spPr>
          <a:xfrm>
            <a:off x="274320" y="2331720"/>
            <a:ext cx="2816352" cy="274320"/>
          </a:xfrm>
          <a:prstGeom prst="rect">
            <a:avLst/>
          </a:prstGeom>
          <a:solidFill>
            <a:srgbClr val="C0392B"/>
          </a:solidFill>
          <a:ln w="12700">
            <a:solidFill>
              <a:srgbClr val="C0392B"/>
            </a:solidFill>
            <a:prstDash val="solid"/>
          </a:ln>
        </p:spPr>
        <p:txBody>
          <a:bodyPr/>
          <a:lstStyle/>
          <a:p>
            <a:endParaRPr lang="en-PT"/>
          </a:p>
        </p:txBody>
      </p:sp>
      <p:sp>
        <p:nvSpPr>
          <p:cNvPr id="31" name="Text 29"/>
          <p:cNvSpPr/>
          <p:nvPr/>
        </p:nvSpPr>
        <p:spPr>
          <a:xfrm>
            <a:off x="365760" y="2340864"/>
            <a:ext cx="2679192" cy="246888"/>
          </a:xfrm>
          <a:prstGeom prst="rect">
            <a:avLst/>
          </a:prstGeom>
          <a:noFill/>
          <a:ln/>
        </p:spPr>
        <p:txBody>
          <a:bodyPr wrap="square" rtlCol="0" anchor="ctr"/>
          <a:lstStyle/>
          <a:p>
            <a:pPr marL="0" indent="0">
              <a:buNone/>
            </a:pPr>
            <a:r>
              <a:rPr lang="en-US" sz="900" b="1">
                <a:solidFill>
                  <a:srgbClr val="FFFFFF"/>
                </a:solidFill>
                <a:latin typeface="Calibri" pitchFamily="34" charset="0"/>
                <a:ea typeface="Calibri" pitchFamily="34" charset="-122"/>
                <a:cs typeface="Calibri" pitchFamily="34" charset="-120"/>
              </a:rPr>
              <a:t>Immediate  (0–30 days)</a:t>
            </a:r>
            <a:endParaRPr lang="en-US" sz="900"/>
          </a:p>
        </p:txBody>
      </p:sp>
      <p:sp>
        <p:nvSpPr>
          <p:cNvPr id="32" name="Shape 30"/>
          <p:cNvSpPr/>
          <p:nvPr/>
        </p:nvSpPr>
        <p:spPr>
          <a:xfrm>
            <a:off x="384048" y="2798064"/>
            <a:ext cx="64008" cy="64008"/>
          </a:xfrm>
          <a:prstGeom prst="rect">
            <a:avLst/>
          </a:prstGeom>
          <a:solidFill>
            <a:srgbClr val="C0392B"/>
          </a:solidFill>
          <a:ln w="12700">
            <a:solidFill>
              <a:srgbClr val="C0392B"/>
            </a:solidFill>
            <a:prstDash val="solid"/>
          </a:ln>
        </p:spPr>
        <p:txBody>
          <a:bodyPr/>
          <a:lstStyle/>
          <a:p>
            <a:endParaRPr lang="en-PT"/>
          </a:p>
        </p:txBody>
      </p:sp>
      <p:sp>
        <p:nvSpPr>
          <p:cNvPr id="33" name="Text 31"/>
          <p:cNvSpPr/>
          <p:nvPr/>
        </p:nvSpPr>
        <p:spPr>
          <a:xfrm>
            <a:off x="493776" y="2679192"/>
            <a:ext cx="2523744" cy="338328"/>
          </a:xfrm>
          <a:prstGeom prst="rect">
            <a:avLst/>
          </a:prstGeom>
          <a:noFill/>
          <a:ln/>
        </p:spPr>
        <p:txBody>
          <a:bodyPr wrap="square" rtlCol="0" anchor="ctr"/>
          <a:lstStyle/>
          <a:p>
            <a:pPr marL="0" indent="0">
              <a:buNone/>
            </a:pPr>
            <a:r>
              <a:rPr lang="en-US" sz="1000">
                <a:solidFill>
                  <a:srgbClr val="3D4A5C"/>
                </a:solidFill>
                <a:latin typeface="Calibri" pitchFamily="34" charset="0"/>
                <a:ea typeface="Calibri" pitchFamily="34" charset="-122"/>
                <a:cs typeface="Calibri" pitchFamily="34" charset="-120"/>
              </a:rPr>
              <a:t>Pseudonymise SSN; remove name, email, IP</a:t>
            </a:r>
            <a:endParaRPr lang="en-US" sz="1000"/>
          </a:p>
        </p:txBody>
      </p:sp>
      <p:sp>
        <p:nvSpPr>
          <p:cNvPr id="34" name="Shape 32"/>
          <p:cNvSpPr/>
          <p:nvPr/>
        </p:nvSpPr>
        <p:spPr>
          <a:xfrm>
            <a:off x="384048" y="3163824"/>
            <a:ext cx="64008" cy="64008"/>
          </a:xfrm>
          <a:prstGeom prst="rect">
            <a:avLst/>
          </a:prstGeom>
          <a:solidFill>
            <a:srgbClr val="C0392B"/>
          </a:solidFill>
          <a:ln w="12700">
            <a:solidFill>
              <a:srgbClr val="C0392B"/>
            </a:solidFill>
            <a:prstDash val="solid"/>
          </a:ln>
        </p:spPr>
        <p:txBody>
          <a:bodyPr/>
          <a:lstStyle/>
          <a:p>
            <a:endParaRPr lang="en-PT"/>
          </a:p>
        </p:txBody>
      </p:sp>
      <p:sp>
        <p:nvSpPr>
          <p:cNvPr id="35" name="Text 33"/>
          <p:cNvSpPr/>
          <p:nvPr/>
        </p:nvSpPr>
        <p:spPr>
          <a:xfrm>
            <a:off x="493776" y="3044952"/>
            <a:ext cx="2523744" cy="338328"/>
          </a:xfrm>
          <a:prstGeom prst="rect">
            <a:avLst/>
          </a:prstGeom>
          <a:noFill/>
          <a:ln/>
        </p:spPr>
        <p:txBody>
          <a:bodyPr wrap="square" rtlCol="0" anchor="ctr"/>
          <a:lstStyle/>
          <a:p>
            <a:pPr marL="0" indent="0">
              <a:buNone/>
            </a:pPr>
            <a:r>
              <a:rPr lang="en-US" sz="1000">
                <a:solidFill>
                  <a:srgbClr val="3D4A5C"/>
                </a:solidFill>
                <a:latin typeface="Calibri" pitchFamily="34" charset="0"/>
                <a:ea typeface="Calibri" pitchFamily="34" charset="-122"/>
                <a:cs typeface="Calibri" pitchFamily="34" charset="-120"/>
              </a:rPr>
              <a:t>Exclude gender + ZIP from model</a:t>
            </a:r>
            <a:endParaRPr lang="en-US" sz="1000"/>
          </a:p>
        </p:txBody>
      </p:sp>
      <p:sp>
        <p:nvSpPr>
          <p:cNvPr id="36" name="Shape 34"/>
          <p:cNvSpPr/>
          <p:nvPr/>
        </p:nvSpPr>
        <p:spPr>
          <a:xfrm>
            <a:off x="384048" y="3529584"/>
            <a:ext cx="64008" cy="64008"/>
          </a:xfrm>
          <a:prstGeom prst="rect">
            <a:avLst/>
          </a:prstGeom>
          <a:solidFill>
            <a:srgbClr val="C0392B"/>
          </a:solidFill>
          <a:ln w="12700">
            <a:solidFill>
              <a:srgbClr val="C0392B"/>
            </a:solidFill>
            <a:prstDash val="solid"/>
          </a:ln>
        </p:spPr>
        <p:txBody>
          <a:bodyPr/>
          <a:lstStyle/>
          <a:p>
            <a:endParaRPr lang="en-PT"/>
          </a:p>
        </p:txBody>
      </p:sp>
      <p:sp>
        <p:nvSpPr>
          <p:cNvPr id="37" name="Text 35"/>
          <p:cNvSpPr/>
          <p:nvPr/>
        </p:nvSpPr>
        <p:spPr>
          <a:xfrm>
            <a:off x="493776" y="3410712"/>
            <a:ext cx="2523744" cy="338328"/>
          </a:xfrm>
          <a:prstGeom prst="rect">
            <a:avLst/>
          </a:prstGeom>
          <a:noFill/>
          <a:ln/>
        </p:spPr>
        <p:txBody>
          <a:bodyPr wrap="square" rtlCol="0" anchor="ctr"/>
          <a:lstStyle/>
          <a:p>
            <a:pPr marL="0" indent="0">
              <a:buNone/>
            </a:pPr>
            <a:r>
              <a:rPr lang="en-US" sz="1000">
                <a:solidFill>
                  <a:srgbClr val="3D4A5C"/>
                </a:solidFill>
                <a:latin typeface="Calibri" pitchFamily="34" charset="0"/>
                <a:ea typeface="Calibri" pitchFamily="34" charset="-122"/>
                <a:cs typeface="Calibri" pitchFamily="34" charset="-120"/>
              </a:rPr>
              <a:t>Generalise date_of_birth to age_group</a:t>
            </a:r>
            <a:endParaRPr lang="en-US" sz="1000"/>
          </a:p>
        </p:txBody>
      </p:sp>
      <p:sp>
        <p:nvSpPr>
          <p:cNvPr id="38" name="Shape 36"/>
          <p:cNvSpPr/>
          <p:nvPr/>
        </p:nvSpPr>
        <p:spPr>
          <a:xfrm>
            <a:off x="384048" y="3895344"/>
            <a:ext cx="64008" cy="64008"/>
          </a:xfrm>
          <a:prstGeom prst="rect">
            <a:avLst/>
          </a:prstGeom>
          <a:solidFill>
            <a:srgbClr val="C0392B"/>
          </a:solidFill>
          <a:ln w="12700">
            <a:solidFill>
              <a:srgbClr val="C0392B"/>
            </a:solidFill>
            <a:prstDash val="solid"/>
          </a:ln>
        </p:spPr>
        <p:txBody>
          <a:bodyPr/>
          <a:lstStyle/>
          <a:p>
            <a:endParaRPr lang="en-PT"/>
          </a:p>
        </p:txBody>
      </p:sp>
      <p:sp>
        <p:nvSpPr>
          <p:cNvPr id="39" name="Text 37"/>
          <p:cNvSpPr/>
          <p:nvPr/>
        </p:nvSpPr>
        <p:spPr>
          <a:xfrm>
            <a:off x="493776" y="3776472"/>
            <a:ext cx="2523744" cy="338328"/>
          </a:xfrm>
          <a:prstGeom prst="rect">
            <a:avLst/>
          </a:prstGeom>
          <a:noFill/>
          <a:ln/>
        </p:spPr>
        <p:txBody>
          <a:bodyPr wrap="square" rtlCol="0" anchor="ctr"/>
          <a:lstStyle/>
          <a:p>
            <a:pPr marL="0" indent="0">
              <a:buNone/>
            </a:pPr>
            <a:r>
              <a:rPr lang="en-US" sz="1000">
                <a:solidFill>
                  <a:srgbClr val="3D4A5C"/>
                </a:solidFill>
                <a:latin typeface="Calibri" pitchFamily="34" charset="0"/>
                <a:ea typeface="Calibri" pitchFamily="34" charset="-122"/>
                <a:cs typeface="Calibri" pitchFamily="34" charset="-120"/>
              </a:rPr>
              <a:t>Add consent capture + lawful basis docs</a:t>
            </a:r>
            <a:endParaRPr lang="en-US" sz="1000"/>
          </a:p>
        </p:txBody>
      </p:sp>
      <p:sp>
        <p:nvSpPr>
          <p:cNvPr id="40" name="Shape 38"/>
          <p:cNvSpPr/>
          <p:nvPr/>
        </p:nvSpPr>
        <p:spPr>
          <a:xfrm>
            <a:off x="384048" y="4261104"/>
            <a:ext cx="64008" cy="64008"/>
          </a:xfrm>
          <a:prstGeom prst="rect">
            <a:avLst/>
          </a:prstGeom>
          <a:solidFill>
            <a:srgbClr val="C0392B"/>
          </a:solidFill>
          <a:ln w="12700">
            <a:solidFill>
              <a:srgbClr val="C0392B"/>
            </a:solidFill>
            <a:prstDash val="solid"/>
          </a:ln>
        </p:spPr>
        <p:txBody>
          <a:bodyPr/>
          <a:lstStyle/>
          <a:p>
            <a:endParaRPr lang="en-PT"/>
          </a:p>
        </p:txBody>
      </p:sp>
      <p:sp>
        <p:nvSpPr>
          <p:cNvPr id="41" name="Text 39"/>
          <p:cNvSpPr/>
          <p:nvPr/>
        </p:nvSpPr>
        <p:spPr>
          <a:xfrm>
            <a:off x="493776" y="4142232"/>
            <a:ext cx="2523744" cy="338328"/>
          </a:xfrm>
          <a:prstGeom prst="rect">
            <a:avLst/>
          </a:prstGeom>
          <a:noFill/>
          <a:ln/>
        </p:spPr>
        <p:txBody>
          <a:bodyPr wrap="square" rtlCol="0" anchor="ctr"/>
          <a:lstStyle/>
          <a:p>
            <a:pPr marL="0" indent="0">
              <a:buNone/>
            </a:pPr>
            <a:r>
              <a:rPr lang="en-US" sz="1000">
                <a:solidFill>
                  <a:srgbClr val="3D4A5C"/>
                </a:solidFill>
                <a:latin typeface="Calibri" pitchFamily="34" charset="0"/>
                <a:ea typeface="Calibri" pitchFamily="34" charset="-122"/>
                <a:cs typeface="Calibri" pitchFamily="34" charset="-120"/>
              </a:rPr>
              <a:t>Mask IP; transform ZIP to NUTS-2 region</a:t>
            </a:r>
            <a:endParaRPr lang="en-US" sz="1000"/>
          </a:p>
        </p:txBody>
      </p:sp>
      <p:sp>
        <p:nvSpPr>
          <p:cNvPr id="42" name="Shape 40"/>
          <p:cNvSpPr/>
          <p:nvPr/>
        </p:nvSpPr>
        <p:spPr>
          <a:xfrm>
            <a:off x="3218688" y="2331720"/>
            <a:ext cx="2816352" cy="2423160"/>
          </a:xfrm>
          <a:prstGeom prst="rect">
            <a:avLst/>
          </a:prstGeom>
          <a:solidFill>
            <a:srgbClr val="FFFFFF"/>
          </a:solidFill>
          <a:ln w="12700">
            <a:solidFill>
              <a:srgbClr val="D0D7E0"/>
            </a:solidFill>
            <a:prstDash val="solid"/>
          </a:ln>
          <a:effectLst>
            <a:outerShdw blurRad="76200" dist="25400" dir="8100000" algn="bl" rotWithShape="0">
              <a:srgbClr val="000000">
                <a:alpha val="10000"/>
              </a:srgbClr>
            </a:outerShdw>
          </a:effectLst>
        </p:spPr>
        <p:txBody>
          <a:bodyPr/>
          <a:lstStyle/>
          <a:p>
            <a:endParaRPr lang="en-PT"/>
          </a:p>
        </p:txBody>
      </p:sp>
      <p:sp>
        <p:nvSpPr>
          <p:cNvPr id="43" name="Shape 41"/>
          <p:cNvSpPr/>
          <p:nvPr/>
        </p:nvSpPr>
        <p:spPr>
          <a:xfrm>
            <a:off x="3218688" y="2331720"/>
            <a:ext cx="2816352" cy="274320"/>
          </a:xfrm>
          <a:prstGeom prst="rect">
            <a:avLst/>
          </a:prstGeom>
          <a:solidFill>
            <a:srgbClr val="E67E22"/>
          </a:solidFill>
          <a:ln w="12700">
            <a:solidFill>
              <a:srgbClr val="E67E22"/>
            </a:solidFill>
            <a:prstDash val="solid"/>
          </a:ln>
        </p:spPr>
        <p:txBody>
          <a:bodyPr/>
          <a:lstStyle/>
          <a:p>
            <a:endParaRPr lang="en-PT"/>
          </a:p>
        </p:txBody>
      </p:sp>
      <p:sp>
        <p:nvSpPr>
          <p:cNvPr id="44" name="Text 42"/>
          <p:cNvSpPr/>
          <p:nvPr/>
        </p:nvSpPr>
        <p:spPr>
          <a:xfrm>
            <a:off x="3310128" y="2340864"/>
            <a:ext cx="2679192" cy="246888"/>
          </a:xfrm>
          <a:prstGeom prst="rect">
            <a:avLst/>
          </a:prstGeom>
          <a:noFill/>
          <a:ln/>
        </p:spPr>
        <p:txBody>
          <a:bodyPr wrap="square" rtlCol="0" anchor="ctr"/>
          <a:lstStyle/>
          <a:p>
            <a:pPr marL="0" indent="0">
              <a:buNone/>
            </a:pPr>
            <a:r>
              <a:rPr lang="en-US" sz="900" b="1">
                <a:solidFill>
                  <a:srgbClr val="FFFFFF"/>
                </a:solidFill>
                <a:latin typeface="Calibri" pitchFamily="34" charset="0"/>
                <a:ea typeface="Calibri" pitchFamily="34" charset="-122"/>
                <a:cs typeface="Calibri" pitchFamily="34" charset="-120"/>
              </a:rPr>
              <a:t>Short-term  (30–90 days)</a:t>
            </a:r>
            <a:endParaRPr lang="en-US" sz="900"/>
          </a:p>
        </p:txBody>
      </p:sp>
      <p:sp>
        <p:nvSpPr>
          <p:cNvPr id="45" name="Shape 43"/>
          <p:cNvSpPr/>
          <p:nvPr/>
        </p:nvSpPr>
        <p:spPr>
          <a:xfrm>
            <a:off x="3328416" y="2798064"/>
            <a:ext cx="64008" cy="64008"/>
          </a:xfrm>
          <a:prstGeom prst="rect">
            <a:avLst/>
          </a:prstGeom>
          <a:solidFill>
            <a:srgbClr val="E67E22"/>
          </a:solidFill>
          <a:ln w="12700">
            <a:solidFill>
              <a:srgbClr val="E67E22"/>
            </a:solidFill>
            <a:prstDash val="solid"/>
          </a:ln>
        </p:spPr>
        <p:txBody>
          <a:bodyPr/>
          <a:lstStyle/>
          <a:p>
            <a:endParaRPr lang="en-PT"/>
          </a:p>
        </p:txBody>
      </p:sp>
      <p:sp>
        <p:nvSpPr>
          <p:cNvPr id="46" name="Text 44"/>
          <p:cNvSpPr/>
          <p:nvPr/>
        </p:nvSpPr>
        <p:spPr>
          <a:xfrm>
            <a:off x="3438144" y="2679192"/>
            <a:ext cx="2523744" cy="338328"/>
          </a:xfrm>
          <a:prstGeom prst="rect">
            <a:avLst/>
          </a:prstGeom>
          <a:noFill/>
          <a:ln/>
        </p:spPr>
        <p:txBody>
          <a:bodyPr wrap="square" rtlCol="0" anchor="ctr"/>
          <a:lstStyle/>
          <a:p>
            <a:pPr marL="0" indent="0">
              <a:buNone/>
            </a:pPr>
            <a:r>
              <a:rPr lang="en-US" sz="1000">
                <a:solidFill>
                  <a:srgbClr val="3D4A5C"/>
                </a:solidFill>
                <a:latin typeface="Calibri" pitchFamily="34" charset="0"/>
                <a:ea typeface="Calibri" pitchFamily="34" charset="-122"/>
                <a:cs typeface="Calibri" pitchFamily="34" charset="-120"/>
              </a:rPr>
              <a:t>Implement decision audit log</a:t>
            </a:r>
            <a:endParaRPr lang="en-US" sz="1000"/>
          </a:p>
        </p:txBody>
      </p:sp>
      <p:sp>
        <p:nvSpPr>
          <p:cNvPr id="47" name="Shape 45"/>
          <p:cNvSpPr/>
          <p:nvPr/>
        </p:nvSpPr>
        <p:spPr>
          <a:xfrm>
            <a:off x="3328416" y="3163824"/>
            <a:ext cx="64008" cy="64008"/>
          </a:xfrm>
          <a:prstGeom prst="rect">
            <a:avLst/>
          </a:prstGeom>
          <a:solidFill>
            <a:srgbClr val="E67E22"/>
          </a:solidFill>
          <a:ln w="12700">
            <a:solidFill>
              <a:srgbClr val="E67E22"/>
            </a:solidFill>
            <a:prstDash val="solid"/>
          </a:ln>
        </p:spPr>
        <p:txBody>
          <a:bodyPr/>
          <a:lstStyle/>
          <a:p>
            <a:endParaRPr lang="en-PT"/>
          </a:p>
        </p:txBody>
      </p:sp>
      <p:sp>
        <p:nvSpPr>
          <p:cNvPr id="48" name="Text 46"/>
          <p:cNvSpPr/>
          <p:nvPr/>
        </p:nvSpPr>
        <p:spPr>
          <a:xfrm>
            <a:off x="3438144" y="3044952"/>
            <a:ext cx="2523744" cy="338328"/>
          </a:xfrm>
          <a:prstGeom prst="rect">
            <a:avLst/>
          </a:prstGeom>
          <a:noFill/>
          <a:ln/>
        </p:spPr>
        <p:txBody>
          <a:bodyPr wrap="square" rtlCol="0" anchor="ctr"/>
          <a:lstStyle/>
          <a:p>
            <a:pPr marL="0" indent="0">
              <a:buNone/>
            </a:pPr>
            <a:r>
              <a:rPr lang="en-US" sz="1000">
                <a:solidFill>
                  <a:srgbClr val="3D4A5C"/>
                </a:solidFill>
                <a:latin typeface="Calibri" pitchFamily="34" charset="0"/>
                <a:ea typeface="Calibri" pitchFamily="34" charset="-122"/>
                <a:cs typeface="Calibri" pitchFamily="34" charset="-120"/>
              </a:rPr>
              <a:t>Mandate human review for all rejections</a:t>
            </a:r>
            <a:endParaRPr lang="en-US" sz="1000"/>
          </a:p>
        </p:txBody>
      </p:sp>
      <p:sp>
        <p:nvSpPr>
          <p:cNvPr id="49" name="Shape 47"/>
          <p:cNvSpPr/>
          <p:nvPr/>
        </p:nvSpPr>
        <p:spPr>
          <a:xfrm>
            <a:off x="3328416" y="3529584"/>
            <a:ext cx="64008" cy="64008"/>
          </a:xfrm>
          <a:prstGeom prst="rect">
            <a:avLst/>
          </a:prstGeom>
          <a:solidFill>
            <a:srgbClr val="E67E22"/>
          </a:solidFill>
          <a:ln w="12700">
            <a:solidFill>
              <a:srgbClr val="E67E22"/>
            </a:solidFill>
            <a:prstDash val="solid"/>
          </a:ln>
        </p:spPr>
        <p:txBody>
          <a:bodyPr/>
          <a:lstStyle/>
          <a:p>
            <a:endParaRPr lang="en-PT"/>
          </a:p>
        </p:txBody>
      </p:sp>
      <p:sp>
        <p:nvSpPr>
          <p:cNvPr id="50" name="Text 48"/>
          <p:cNvSpPr/>
          <p:nvPr/>
        </p:nvSpPr>
        <p:spPr>
          <a:xfrm>
            <a:off x="3438144" y="3410712"/>
            <a:ext cx="2523744" cy="338328"/>
          </a:xfrm>
          <a:prstGeom prst="rect">
            <a:avLst/>
          </a:prstGeom>
          <a:noFill/>
          <a:ln/>
        </p:spPr>
        <p:txBody>
          <a:bodyPr wrap="square" rtlCol="0" anchor="ctr"/>
          <a:lstStyle/>
          <a:p>
            <a:pPr marL="0" indent="0">
              <a:buNone/>
            </a:pPr>
            <a:r>
              <a:rPr lang="en-US" sz="1000">
                <a:solidFill>
                  <a:srgbClr val="3D4A5C"/>
                </a:solidFill>
                <a:latin typeface="Calibri" pitchFamily="34" charset="0"/>
                <a:ea typeface="Calibri" pitchFamily="34" charset="-122"/>
                <a:cs typeface="Calibri" pitchFamily="34" charset="-120"/>
              </a:rPr>
              <a:t>Build right-to-erasure API</a:t>
            </a:r>
            <a:endParaRPr lang="en-US" sz="1000"/>
          </a:p>
        </p:txBody>
      </p:sp>
      <p:sp>
        <p:nvSpPr>
          <p:cNvPr id="51" name="Shape 49"/>
          <p:cNvSpPr/>
          <p:nvPr/>
        </p:nvSpPr>
        <p:spPr>
          <a:xfrm>
            <a:off x="3328416" y="3895344"/>
            <a:ext cx="64008" cy="64008"/>
          </a:xfrm>
          <a:prstGeom prst="rect">
            <a:avLst/>
          </a:prstGeom>
          <a:solidFill>
            <a:srgbClr val="E67E22"/>
          </a:solidFill>
          <a:ln w="12700">
            <a:solidFill>
              <a:srgbClr val="E67E22"/>
            </a:solidFill>
            <a:prstDash val="solid"/>
          </a:ln>
        </p:spPr>
        <p:txBody>
          <a:bodyPr/>
          <a:lstStyle/>
          <a:p>
            <a:endParaRPr lang="en-PT"/>
          </a:p>
        </p:txBody>
      </p:sp>
      <p:sp>
        <p:nvSpPr>
          <p:cNvPr id="52" name="Text 50"/>
          <p:cNvSpPr/>
          <p:nvPr/>
        </p:nvSpPr>
        <p:spPr>
          <a:xfrm>
            <a:off x="3438144" y="3776472"/>
            <a:ext cx="2523744" cy="338328"/>
          </a:xfrm>
          <a:prstGeom prst="rect">
            <a:avLst/>
          </a:prstGeom>
          <a:noFill/>
          <a:ln/>
        </p:spPr>
        <p:txBody>
          <a:bodyPr wrap="square" rtlCol="0" anchor="ctr"/>
          <a:lstStyle/>
          <a:p>
            <a:pPr marL="0" indent="0">
              <a:buNone/>
            </a:pPr>
            <a:r>
              <a:rPr lang="en-US" sz="1000">
                <a:solidFill>
                  <a:srgbClr val="3D4A5C"/>
                </a:solidFill>
                <a:latin typeface="Calibri" pitchFamily="34" charset="0"/>
                <a:ea typeface="Calibri" pitchFamily="34" charset="-122"/>
                <a:cs typeface="Calibri" pitchFamily="34" charset="-120"/>
              </a:rPr>
              <a:t>Define and automate retention schedule</a:t>
            </a:r>
            <a:endParaRPr lang="en-US" sz="1000"/>
          </a:p>
        </p:txBody>
      </p:sp>
      <p:sp>
        <p:nvSpPr>
          <p:cNvPr id="53" name="Shape 51"/>
          <p:cNvSpPr/>
          <p:nvPr/>
        </p:nvSpPr>
        <p:spPr>
          <a:xfrm>
            <a:off x="3328416" y="4261104"/>
            <a:ext cx="64008" cy="64008"/>
          </a:xfrm>
          <a:prstGeom prst="rect">
            <a:avLst/>
          </a:prstGeom>
          <a:solidFill>
            <a:srgbClr val="E67E22"/>
          </a:solidFill>
          <a:ln w="12700">
            <a:solidFill>
              <a:srgbClr val="E67E22"/>
            </a:solidFill>
            <a:prstDash val="solid"/>
          </a:ln>
        </p:spPr>
        <p:txBody>
          <a:bodyPr/>
          <a:lstStyle/>
          <a:p>
            <a:endParaRPr lang="en-PT"/>
          </a:p>
        </p:txBody>
      </p:sp>
      <p:sp>
        <p:nvSpPr>
          <p:cNvPr id="54" name="Text 52"/>
          <p:cNvSpPr/>
          <p:nvPr/>
        </p:nvSpPr>
        <p:spPr>
          <a:xfrm>
            <a:off x="3438144" y="4142232"/>
            <a:ext cx="2523744" cy="338328"/>
          </a:xfrm>
          <a:prstGeom prst="rect">
            <a:avLst/>
          </a:prstGeom>
          <a:noFill/>
          <a:ln/>
        </p:spPr>
        <p:txBody>
          <a:bodyPr wrap="square" rtlCol="0" anchor="ctr"/>
          <a:lstStyle/>
          <a:p>
            <a:pPr marL="0" indent="0">
              <a:buNone/>
            </a:pPr>
            <a:r>
              <a:rPr lang="en-US" sz="1000">
                <a:solidFill>
                  <a:srgbClr val="3D4A5C"/>
                </a:solidFill>
                <a:latin typeface="Calibri" pitchFamily="34" charset="0"/>
                <a:ea typeface="Calibri" pitchFamily="34" charset="-122"/>
                <a:cs typeface="Calibri" pitchFamily="34" charset="-120"/>
              </a:rPr>
              <a:t>Implement role-based access control</a:t>
            </a:r>
            <a:endParaRPr lang="en-US" sz="1000"/>
          </a:p>
        </p:txBody>
      </p:sp>
      <p:sp>
        <p:nvSpPr>
          <p:cNvPr id="55" name="Shape 53"/>
          <p:cNvSpPr/>
          <p:nvPr/>
        </p:nvSpPr>
        <p:spPr>
          <a:xfrm>
            <a:off x="3328416" y="4626864"/>
            <a:ext cx="64008" cy="64008"/>
          </a:xfrm>
          <a:prstGeom prst="rect">
            <a:avLst/>
          </a:prstGeom>
          <a:solidFill>
            <a:srgbClr val="E67E22"/>
          </a:solidFill>
          <a:ln w="12700">
            <a:solidFill>
              <a:srgbClr val="E67E22"/>
            </a:solidFill>
            <a:prstDash val="solid"/>
          </a:ln>
        </p:spPr>
        <p:txBody>
          <a:bodyPr/>
          <a:lstStyle/>
          <a:p>
            <a:endParaRPr lang="en-PT"/>
          </a:p>
        </p:txBody>
      </p:sp>
      <p:sp>
        <p:nvSpPr>
          <p:cNvPr id="56" name="Text 54"/>
          <p:cNvSpPr/>
          <p:nvPr/>
        </p:nvSpPr>
        <p:spPr>
          <a:xfrm>
            <a:off x="3438144" y="4507992"/>
            <a:ext cx="2523744" cy="338328"/>
          </a:xfrm>
          <a:prstGeom prst="rect">
            <a:avLst/>
          </a:prstGeom>
          <a:noFill/>
          <a:ln/>
        </p:spPr>
        <p:txBody>
          <a:bodyPr wrap="square" rtlCol="0" anchor="ctr"/>
          <a:lstStyle/>
          <a:p>
            <a:pPr marL="0" indent="0">
              <a:buNone/>
            </a:pPr>
            <a:r>
              <a:rPr lang="en-US" sz="1000">
                <a:solidFill>
                  <a:srgbClr val="3D4A5C"/>
                </a:solidFill>
                <a:latin typeface="Calibri" pitchFamily="34" charset="0"/>
                <a:ea typeface="Calibri" pitchFamily="34" charset="-122"/>
                <a:cs typeface="Calibri" pitchFamily="34" charset="-120"/>
              </a:rPr>
              <a:t>Deploy right-to-explanation mechanism</a:t>
            </a:r>
            <a:endParaRPr lang="en-US" sz="1000"/>
          </a:p>
        </p:txBody>
      </p:sp>
      <p:sp>
        <p:nvSpPr>
          <p:cNvPr id="57" name="Shape 55"/>
          <p:cNvSpPr/>
          <p:nvPr/>
        </p:nvSpPr>
        <p:spPr>
          <a:xfrm>
            <a:off x="6163056" y="2331720"/>
            <a:ext cx="2816352" cy="2359152"/>
          </a:xfrm>
          <a:prstGeom prst="rect">
            <a:avLst/>
          </a:prstGeom>
          <a:solidFill>
            <a:srgbClr val="FFFFFF"/>
          </a:solidFill>
          <a:ln w="12700">
            <a:solidFill>
              <a:srgbClr val="D0D7E0"/>
            </a:solidFill>
            <a:prstDash val="solid"/>
          </a:ln>
          <a:effectLst>
            <a:outerShdw blurRad="76200" dist="25400" dir="8100000" algn="bl" rotWithShape="0">
              <a:srgbClr val="000000">
                <a:alpha val="10000"/>
              </a:srgbClr>
            </a:outerShdw>
          </a:effectLst>
        </p:spPr>
        <p:txBody>
          <a:bodyPr/>
          <a:lstStyle/>
          <a:p>
            <a:endParaRPr lang="en-PT"/>
          </a:p>
        </p:txBody>
      </p:sp>
      <p:sp>
        <p:nvSpPr>
          <p:cNvPr id="58" name="Shape 56"/>
          <p:cNvSpPr/>
          <p:nvPr/>
        </p:nvSpPr>
        <p:spPr>
          <a:xfrm>
            <a:off x="6163056" y="2331720"/>
            <a:ext cx="2816352" cy="274320"/>
          </a:xfrm>
          <a:prstGeom prst="rect">
            <a:avLst/>
          </a:prstGeom>
          <a:solidFill>
            <a:srgbClr val="5B8EC4"/>
          </a:solidFill>
          <a:ln w="12700">
            <a:solidFill>
              <a:srgbClr val="5B8EC4"/>
            </a:solidFill>
            <a:prstDash val="solid"/>
          </a:ln>
        </p:spPr>
        <p:txBody>
          <a:bodyPr/>
          <a:lstStyle/>
          <a:p>
            <a:endParaRPr lang="en-PT"/>
          </a:p>
        </p:txBody>
      </p:sp>
      <p:sp>
        <p:nvSpPr>
          <p:cNvPr id="59" name="Text 57"/>
          <p:cNvSpPr/>
          <p:nvPr/>
        </p:nvSpPr>
        <p:spPr>
          <a:xfrm>
            <a:off x="6254496" y="2340864"/>
            <a:ext cx="2679192" cy="246888"/>
          </a:xfrm>
          <a:prstGeom prst="rect">
            <a:avLst/>
          </a:prstGeom>
          <a:noFill/>
          <a:ln/>
        </p:spPr>
        <p:txBody>
          <a:bodyPr wrap="square" rtlCol="0" anchor="ctr"/>
          <a:lstStyle/>
          <a:p>
            <a:pPr marL="0" indent="0">
              <a:buNone/>
            </a:pPr>
            <a:r>
              <a:rPr lang="en-US" sz="900" b="1">
                <a:solidFill>
                  <a:srgbClr val="FFFFFF"/>
                </a:solidFill>
                <a:latin typeface="Calibri" pitchFamily="34" charset="0"/>
                <a:ea typeface="Calibri" pitchFamily="34" charset="-122"/>
                <a:cs typeface="Calibri" pitchFamily="34" charset="-120"/>
              </a:rPr>
              <a:t>Medium-term  (90–180 days)</a:t>
            </a:r>
            <a:endParaRPr lang="en-US" sz="900"/>
          </a:p>
        </p:txBody>
      </p:sp>
      <p:sp>
        <p:nvSpPr>
          <p:cNvPr id="60" name="Shape 58"/>
          <p:cNvSpPr/>
          <p:nvPr/>
        </p:nvSpPr>
        <p:spPr>
          <a:xfrm>
            <a:off x="6272784" y="2798064"/>
            <a:ext cx="64008" cy="64008"/>
          </a:xfrm>
          <a:prstGeom prst="rect">
            <a:avLst/>
          </a:prstGeom>
          <a:solidFill>
            <a:srgbClr val="5B8EC4"/>
          </a:solidFill>
          <a:ln w="12700">
            <a:solidFill>
              <a:srgbClr val="5B8EC4"/>
            </a:solidFill>
            <a:prstDash val="solid"/>
          </a:ln>
        </p:spPr>
        <p:txBody>
          <a:bodyPr/>
          <a:lstStyle/>
          <a:p>
            <a:endParaRPr lang="en-PT"/>
          </a:p>
        </p:txBody>
      </p:sp>
      <p:sp>
        <p:nvSpPr>
          <p:cNvPr id="61" name="Text 59"/>
          <p:cNvSpPr/>
          <p:nvPr/>
        </p:nvSpPr>
        <p:spPr>
          <a:xfrm>
            <a:off x="6382512" y="2679192"/>
            <a:ext cx="2523744" cy="338328"/>
          </a:xfrm>
          <a:prstGeom prst="rect">
            <a:avLst/>
          </a:prstGeom>
          <a:noFill/>
          <a:ln/>
        </p:spPr>
        <p:txBody>
          <a:bodyPr wrap="square" rtlCol="0" anchor="ctr"/>
          <a:lstStyle/>
          <a:p>
            <a:pPr marL="0" indent="0">
              <a:buNone/>
            </a:pPr>
            <a:r>
              <a:rPr lang="en-US" sz="1000">
                <a:solidFill>
                  <a:srgbClr val="3D4A5C"/>
                </a:solidFill>
                <a:latin typeface="Calibri" pitchFamily="34" charset="0"/>
                <a:ea typeface="Calibri" pitchFamily="34" charset="-122"/>
                <a:cs typeface="Calibri" pitchFamily="34" charset="-120"/>
              </a:rPr>
              <a:t>Conduct DPIA + AI Act conformity assessment</a:t>
            </a:r>
            <a:endParaRPr lang="en-US" sz="1000"/>
          </a:p>
        </p:txBody>
      </p:sp>
      <p:sp>
        <p:nvSpPr>
          <p:cNvPr id="62" name="Shape 60"/>
          <p:cNvSpPr/>
          <p:nvPr/>
        </p:nvSpPr>
        <p:spPr>
          <a:xfrm>
            <a:off x="6272784" y="3163824"/>
            <a:ext cx="64008" cy="64008"/>
          </a:xfrm>
          <a:prstGeom prst="rect">
            <a:avLst/>
          </a:prstGeom>
          <a:solidFill>
            <a:srgbClr val="5B8EC4"/>
          </a:solidFill>
          <a:ln w="12700">
            <a:solidFill>
              <a:srgbClr val="5B8EC4"/>
            </a:solidFill>
            <a:prstDash val="solid"/>
          </a:ln>
        </p:spPr>
        <p:txBody>
          <a:bodyPr/>
          <a:lstStyle/>
          <a:p>
            <a:endParaRPr lang="en-PT"/>
          </a:p>
        </p:txBody>
      </p:sp>
      <p:sp>
        <p:nvSpPr>
          <p:cNvPr id="63" name="Text 61"/>
          <p:cNvSpPr/>
          <p:nvPr/>
        </p:nvSpPr>
        <p:spPr>
          <a:xfrm>
            <a:off x="6382512" y="3044952"/>
            <a:ext cx="2523744" cy="338328"/>
          </a:xfrm>
          <a:prstGeom prst="rect">
            <a:avLst/>
          </a:prstGeom>
          <a:noFill/>
          <a:ln/>
        </p:spPr>
        <p:txBody>
          <a:bodyPr wrap="square" rtlCol="0" anchor="ctr"/>
          <a:lstStyle/>
          <a:p>
            <a:pPr marL="0" indent="0">
              <a:buNone/>
            </a:pPr>
            <a:r>
              <a:rPr lang="en-US" sz="1000">
                <a:solidFill>
                  <a:srgbClr val="3D4A5C"/>
                </a:solidFill>
                <a:latin typeface="Calibri" pitchFamily="34" charset="0"/>
                <a:ea typeface="Calibri" pitchFamily="34" charset="-122"/>
                <a:cs typeface="Calibri" pitchFamily="34" charset="-120"/>
              </a:rPr>
              <a:t>Deploy fairness monitoring dashboard</a:t>
            </a:r>
            <a:endParaRPr lang="en-US" sz="1000"/>
          </a:p>
        </p:txBody>
      </p:sp>
      <p:sp>
        <p:nvSpPr>
          <p:cNvPr id="64" name="Shape 62"/>
          <p:cNvSpPr/>
          <p:nvPr/>
        </p:nvSpPr>
        <p:spPr>
          <a:xfrm>
            <a:off x="6272784" y="3529584"/>
            <a:ext cx="64008" cy="64008"/>
          </a:xfrm>
          <a:prstGeom prst="rect">
            <a:avLst/>
          </a:prstGeom>
          <a:solidFill>
            <a:srgbClr val="5B8EC4"/>
          </a:solidFill>
          <a:ln w="12700">
            <a:solidFill>
              <a:srgbClr val="5B8EC4"/>
            </a:solidFill>
            <a:prstDash val="solid"/>
          </a:ln>
        </p:spPr>
        <p:txBody>
          <a:bodyPr/>
          <a:lstStyle/>
          <a:p>
            <a:endParaRPr lang="en-PT"/>
          </a:p>
        </p:txBody>
      </p:sp>
      <p:sp>
        <p:nvSpPr>
          <p:cNvPr id="65" name="Text 63"/>
          <p:cNvSpPr/>
          <p:nvPr/>
        </p:nvSpPr>
        <p:spPr>
          <a:xfrm>
            <a:off x="6382512" y="3410712"/>
            <a:ext cx="2523744" cy="338328"/>
          </a:xfrm>
          <a:prstGeom prst="rect">
            <a:avLst/>
          </a:prstGeom>
          <a:noFill/>
          <a:ln/>
        </p:spPr>
        <p:txBody>
          <a:bodyPr wrap="square" rtlCol="0" anchor="ctr"/>
          <a:lstStyle/>
          <a:p>
            <a:pPr marL="0" indent="0">
              <a:buNone/>
            </a:pPr>
            <a:r>
              <a:rPr lang="en-US" sz="1000">
                <a:solidFill>
                  <a:srgbClr val="3D4A5C"/>
                </a:solidFill>
                <a:latin typeface="Calibri" pitchFamily="34" charset="0"/>
                <a:ea typeface="Calibri" pitchFamily="34" charset="-122"/>
                <a:cs typeface="Calibri" pitchFamily="34" charset="-120"/>
              </a:rPr>
              <a:t>Implement SHAP/LIME explanation layer</a:t>
            </a:r>
            <a:endParaRPr lang="en-US" sz="1000"/>
          </a:p>
        </p:txBody>
      </p:sp>
      <p:sp>
        <p:nvSpPr>
          <p:cNvPr id="66" name="Shape 64"/>
          <p:cNvSpPr/>
          <p:nvPr/>
        </p:nvSpPr>
        <p:spPr>
          <a:xfrm>
            <a:off x="6272784" y="3895344"/>
            <a:ext cx="64008" cy="64008"/>
          </a:xfrm>
          <a:prstGeom prst="rect">
            <a:avLst/>
          </a:prstGeom>
          <a:solidFill>
            <a:srgbClr val="5B8EC4"/>
          </a:solidFill>
          <a:ln w="12700">
            <a:solidFill>
              <a:srgbClr val="5B8EC4"/>
            </a:solidFill>
            <a:prstDash val="solid"/>
          </a:ln>
        </p:spPr>
        <p:txBody>
          <a:bodyPr/>
          <a:lstStyle/>
          <a:p>
            <a:endParaRPr lang="en-PT"/>
          </a:p>
        </p:txBody>
      </p:sp>
      <p:sp>
        <p:nvSpPr>
          <p:cNvPr id="67" name="Text 65"/>
          <p:cNvSpPr/>
          <p:nvPr/>
        </p:nvSpPr>
        <p:spPr>
          <a:xfrm>
            <a:off x="6382512" y="3776472"/>
            <a:ext cx="2523744" cy="338328"/>
          </a:xfrm>
          <a:prstGeom prst="rect">
            <a:avLst/>
          </a:prstGeom>
          <a:noFill/>
          <a:ln/>
        </p:spPr>
        <p:txBody>
          <a:bodyPr wrap="square" rtlCol="0" anchor="ctr"/>
          <a:lstStyle/>
          <a:p>
            <a:pPr marL="0" indent="0">
              <a:buNone/>
            </a:pPr>
            <a:r>
              <a:rPr lang="en-US" sz="1000">
                <a:solidFill>
                  <a:srgbClr val="3D4A5C"/>
                </a:solidFill>
                <a:latin typeface="Calibri" pitchFamily="34" charset="0"/>
                <a:ea typeface="Calibri" pitchFamily="34" charset="-122"/>
                <a:cs typeface="Calibri" pitchFamily="34" charset="-120"/>
              </a:rPr>
              <a:t>Appoint Data Protection Officer</a:t>
            </a:r>
            <a:endParaRPr lang="en-US" sz="1000"/>
          </a:p>
        </p:txBody>
      </p:sp>
      <p:sp>
        <p:nvSpPr>
          <p:cNvPr id="68" name="Shape 66"/>
          <p:cNvSpPr/>
          <p:nvPr/>
        </p:nvSpPr>
        <p:spPr>
          <a:xfrm>
            <a:off x="0" y="4864608"/>
            <a:ext cx="9144000" cy="278892"/>
          </a:xfrm>
          <a:prstGeom prst="rect">
            <a:avLst/>
          </a:prstGeom>
          <a:solidFill>
            <a:srgbClr val="000000"/>
          </a:solidFill>
          <a:ln w="12700">
            <a:solidFill>
              <a:srgbClr val="000000"/>
            </a:solidFill>
            <a:prstDash val="solid"/>
          </a:ln>
        </p:spPr>
        <p:txBody>
          <a:bodyPr/>
          <a:lstStyle/>
          <a:p>
            <a:endParaRPr lang="en-PT"/>
          </a:p>
        </p:txBody>
      </p:sp>
      <p:sp>
        <p:nvSpPr>
          <p:cNvPr id="69" name="Text 67"/>
          <p:cNvSpPr/>
          <p:nvPr/>
        </p:nvSpPr>
        <p:spPr>
          <a:xfrm>
            <a:off x="274320" y="4873752"/>
            <a:ext cx="8046720" cy="246888"/>
          </a:xfrm>
          <a:prstGeom prst="rect">
            <a:avLst/>
          </a:prstGeom>
          <a:noFill/>
          <a:ln/>
        </p:spPr>
        <p:txBody>
          <a:bodyPr wrap="square" rtlCol="0" anchor="ctr"/>
          <a:lstStyle/>
          <a:p>
            <a:pPr marL="0" indent="0">
              <a:buNone/>
            </a:pPr>
            <a:r>
              <a:rPr lang="en-US" sz="800">
                <a:solidFill>
                  <a:srgbClr val="999999"/>
                </a:solidFill>
                <a:latin typeface="Calibri" pitchFamily="34" charset="0"/>
                <a:ea typeface="Calibri" pitchFamily="34" charset="-122"/>
                <a:cs typeface="Calibri" pitchFamily="34" charset="-120"/>
              </a:rPr>
              <a:t>Team 14 — TXB  |  NovaCred Credit Governance  |  DEGO 2606, Nova SBE</a:t>
            </a:r>
            <a:endParaRPr lang="en-US" sz="800"/>
          </a:p>
        </p:txBody>
      </p:sp>
      <p:sp>
        <p:nvSpPr>
          <p:cNvPr id="70" name="Text 68"/>
          <p:cNvSpPr/>
          <p:nvPr/>
        </p:nvSpPr>
        <p:spPr>
          <a:xfrm>
            <a:off x="8686800" y="4873752"/>
            <a:ext cx="365760" cy="246888"/>
          </a:xfrm>
          <a:prstGeom prst="rect">
            <a:avLst/>
          </a:prstGeom>
          <a:noFill/>
          <a:ln/>
        </p:spPr>
        <p:txBody>
          <a:bodyPr wrap="square" rtlCol="0" anchor="ctr"/>
          <a:lstStyle/>
          <a:p>
            <a:pPr marL="0" indent="0" algn="r">
              <a:buNone/>
            </a:pPr>
            <a:r>
              <a:rPr lang="en-US" sz="950">
                <a:solidFill>
                  <a:srgbClr val="999999"/>
                </a:solidFill>
                <a:latin typeface="Calibri" pitchFamily="34" charset="0"/>
                <a:ea typeface="Calibri" pitchFamily="34" charset="-122"/>
                <a:cs typeface="Calibri" pitchFamily="34" charset="-120"/>
              </a:rPr>
              <a:t>12</a:t>
            </a:r>
            <a:endParaRPr lang="en-US" sz="95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8AA60D57A466749834091307812B788" ma:contentTypeVersion="7" ma:contentTypeDescription="Create a new document." ma:contentTypeScope="" ma:versionID="14e26e879d673c4af505929de37b152e">
  <xsd:schema xmlns:xsd="http://www.w3.org/2001/XMLSchema" xmlns:xs="http://www.w3.org/2001/XMLSchema" xmlns:p="http://schemas.microsoft.com/office/2006/metadata/properties" xmlns:ns2="68b6f3b5-55c3-4ff2-ada0-2b40a94ed757" targetNamespace="http://schemas.microsoft.com/office/2006/metadata/properties" ma:root="true" ma:fieldsID="9f5437743f147a51ccc11387a1cd2f52" ns2:_="">
    <xsd:import namespace="68b6f3b5-55c3-4ff2-ada0-2b40a94ed75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b6f3b5-55c3-4ff2-ada0-2b40a94ed75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AB25573-6920-47A7-A855-3D106CB3A273}">
  <ds:schemaRefs>
    <ds:schemaRef ds:uri="http://schemas.microsoft.com/office/infopath/2007/PartnerControls"/>
    <ds:schemaRef ds:uri="http://schemas.microsoft.com/office/2006/metadata/properties"/>
    <ds:schemaRef ds:uri="http://schemas.microsoft.com/office/2006/documentManagement/types"/>
    <ds:schemaRef ds:uri="http://www.w3.org/XML/1998/namespace"/>
    <ds:schemaRef ds:uri="http://purl.org/dc/elements/1.1/"/>
    <ds:schemaRef ds:uri="http://schemas.openxmlformats.org/package/2006/metadata/core-properties"/>
    <ds:schemaRef ds:uri="68b6f3b5-55c3-4ff2-ada0-2b40a94ed757"/>
    <ds:schemaRef ds:uri="http://purl.org/dc/dcmitype/"/>
    <ds:schemaRef ds:uri="http://purl.org/dc/terms/"/>
  </ds:schemaRefs>
</ds:datastoreItem>
</file>

<file path=customXml/itemProps2.xml><?xml version="1.0" encoding="utf-8"?>
<ds:datastoreItem xmlns:ds="http://schemas.openxmlformats.org/officeDocument/2006/customXml" ds:itemID="{6813B94A-72D3-4FCE-868B-ACD8EECB89E2}">
  <ds:schemaRefs>
    <ds:schemaRef ds:uri="http://schemas.microsoft.com/sharepoint/v3/contenttype/forms"/>
  </ds:schemaRefs>
</ds:datastoreItem>
</file>

<file path=customXml/itemProps3.xml><?xml version="1.0" encoding="utf-8"?>
<ds:datastoreItem xmlns:ds="http://schemas.openxmlformats.org/officeDocument/2006/customXml" ds:itemID="{A3014D00-E28F-473A-AF4C-724D4F9486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8b6f3b5-55c3-4ff2-ada0-2b40a94ed7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3970</Words>
  <Application>Microsoft Macintosh PowerPoint</Application>
  <PresentationFormat>On-screen Show (16:9)</PresentationFormat>
  <Paragraphs>483</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NovaCred Credit Governance — Team 14</dc:title>
  <dc:subject>PptxGenJS Presentation</dc:subject>
  <dc:creator>PptxGenJS</dc:creator>
  <cp:lastModifiedBy>Eda Jülide Pürsün</cp:lastModifiedBy>
  <cp:revision>1</cp:revision>
  <dcterms:created xsi:type="dcterms:W3CDTF">2026-03-09T09:09:08Z</dcterms:created>
  <dcterms:modified xsi:type="dcterms:W3CDTF">2026-03-09T21:28:56Z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0x01010068AA60D57A466749834091307812B788</vt:lpwstr>
  </property>
</Properties>
</file>